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70" r:id="rId11"/>
    <p:sldId id="263" r:id="rId12"/>
    <p:sldId id="264" r:id="rId13"/>
    <p:sldId id="265" r:id="rId14"/>
    <p:sldId id="267" r:id="rId15"/>
    <p:sldId id="268" r:id="rId16"/>
    <p:sldId id="269" r:id="rId17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ChainGuard Model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PR-AUC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0.962</c:v>
                </c:pt>
                <c:pt idx="1">
                  <c:v>0.939</c:v>
                </c:pt>
                <c:pt idx="2">
                  <c:v>0.95</c:v>
                </c:pt>
                <c:pt idx="3">
                  <c:v>0.986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Rules Baseline</c:v>
                </c:pt>
              </c:strCache>
            </c:strRef>
          </c:tx>
          <c:spPr>
            <a:solidFill>
              <a:srgbClr val="3A567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PR-AUC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0.842</c:v>
                </c:pt>
                <c:pt idx="1">
                  <c:v>0.428</c:v>
                </c:pt>
                <c:pt idx="2">
                  <c:v>0.565</c:v>
                </c:pt>
                <c:pt idx="3">
                  <c:v>0.719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FB4C7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9525" cap="flat" cmpd="sng" algn="ctr">
              <a:solidFill>
                <a:srgbClr val="1E3B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9FB4C7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0B1E33"/>
        </a:solidFill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200" b="0" i="0" u="none" strike="noStrike" kern="1200" baseline="0">
              <a:solidFill>
                <a:srgbClr val="FFFFFF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c33c98f-61b6-4a7e-b988-52c53c66e2ba}"/>
      </c:ext>
    </c:extLst>
  </c:chart>
  <c:spPr>
    <a:solidFill>
      <a:srgbClr val="0B1E33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hyperlink" Target="https://www.usenix.org/conference/usenixsecurity19/presentation/zimmerman" TargetMode="External"/><Relationship Id="rId5" Type="http://schemas.openxmlformats.org/officeDocument/2006/relationships/hyperlink" Target="https://doi.org/10.1145/3468264.3468592" TargetMode="External"/><Relationship Id="rId4" Type="http://schemas.openxmlformats.org/officeDocument/2006/relationships/hyperlink" Target="https://github.com/DataDog/guarddog" TargetMode="External"/><Relationship Id="rId3" Type="http://schemas.openxmlformats.org/officeDocument/2006/relationships/hyperlink" Target="https://doi.org/10.1145/3510003.3510104" TargetMode="External"/><Relationship Id="rId2" Type="http://schemas.openxmlformats.org/officeDocument/2006/relationships/hyperlink" Target="https://www.ndss-symposium.org/ndss-paper/towards-measuring-supply-chain-attacks-on-package-managers-for-interpreted-languages/" TargetMode="External"/><Relationship Id="rId1" Type="http://schemas.openxmlformats.org/officeDocument/2006/relationships/hyperlink" Target="https://doi.org/10.1007/978-3-030-52683-2_2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hyperlink" Target="https://www.endorlabs.com" TargetMode="External"/><Relationship Id="rId5" Type="http://schemas.openxmlformats.org/officeDocument/2006/relationships/hyperlink" Target="https://doi.org/10.1109/MSR.2019.00064" TargetMode="External"/><Relationship Id="rId4" Type="http://schemas.openxmlformats.org/officeDocument/2006/relationships/hyperlink" Target="https://github.com/google/osv-scanner" TargetMode="External"/><Relationship Id="rId3" Type="http://schemas.openxmlformats.org/officeDocument/2006/relationships/hyperlink" Target="https://doi.org/10.1109/TSE.2020.3025443" TargetMode="External"/><Relationship Id="rId2" Type="http://schemas.openxmlformats.org/officeDocument/2006/relationships/hyperlink" Target="https://doi.org/10.1145/3239235.3268920" TargetMode="External"/><Relationship Id="rId1" Type="http://schemas.openxmlformats.org/officeDocument/2006/relationships/hyperlink" Target="https://arxiv.org/abs/1806.05893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112B47"/>
          </a:solidFill>
        </p:spPr>
      </p:sp>
      <p:sp>
        <p:nvSpPr>
          <p:cNvPr id="3" name="Shape 1"/>
          <p:cNvSpPr/>
          <p:nvPr/>
        </p:nvSpPr>
        <p:spPr>
          <a:xfrm>
            <a:off x="9692640" y="-548640"/>
            <a:ext cx="3657600" cy="3657600"/>
          </a:xfrm>
          <a:prstGeom prst="ellipse">
            <a:avLst/>
          </a:prstGeom>
          <a:solidFill>
            <a:srgbClr val="0F2A44"/>
          </a:solidFill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CHAINGUARD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03120"/>
            <a:ext cx="113385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AI-Powered Software Supply Chain Security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490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Malicious Package Detection &amp; Vulnerability Reachability Analysis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0749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6235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 Score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50749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92 → 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56235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Advisories → Reachable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50749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1,797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56235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Packages Evaluated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Modern apps are assembled, not written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typical project pulls in 200–1,500 transitive dependencies. Two distinct risks follow.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F87171"/>
          </a:solidFill>
        </p:spPr>
      </p:sp>
      <p:sp>
        <p:nvSpPr>
          <p:cNvPr id="7" name="Text 5"/>
          <p:cNvSpPr txBox="1"/>
          <p:nvPr/>
        </p:nvSpPr>
        <p:spPr>
          <a:xfrm>
            <a:off x="868680" y="21488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48840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Deliberately malicious packages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971800"/>
            <a:ext cx="466344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Typosquats of popular names (reqeusts vs requests)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Install-time payloads (npm postinstall, setup.py)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Credential &amp; SSH-key exfiltration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Signature scanning fails — every sample is new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48840"/>
            <a:ext cx="548640" cy="548640"/>
          </a:xfrm>
          <a:prstGeom prst="ellipse">
            <a:avLst/>
          </a:prstGeom>
          <a:solidFill>
            <a:srgbClr val="FBBF24"/>
          </a:solidFill>
        </p:spPr>
      </p:sp>
      <p:sp>
        <p:nvSpPr>
          <p:cNvPr id="12" name="Text 10"/>
          <p:cNvSpPr txBox="1"/>
          <p:nvPr/>
        </p:nvSpPr>
        <p:spPr>
          <a:xfrm>
            <a:off x="6629400" y="21488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148840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Known-vulnerability alert fatigue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971800"/>
            <a:ext cx="466344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150–300 CVE advisories per real project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teams cannot triage that volume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teams end up triaging nothing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Known-vulnerable dependencies stay unpatched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CORE INSIGHT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Most reported CVEs are noise — reachability finds the signal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vulnerability that can never be invoked by your application cannot be exploited through it. ChainGuard proves reachability with an actual call path.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37744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8717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92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375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reported advisories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2697480"/>
            <a:ext cx="914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394960" y="224028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10382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394960" y="237744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33375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actually reachable — with proof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348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PROOF PATH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112B47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48640" y="5166360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51663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724912" y="5166360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app.main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645152" y="51663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5166360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app.bootstrap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21424" y="51663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7456" y="5166360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config.load_settings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997696" y="51663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53728" y="5166360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yaml.load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 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Detecting malicious packages — what's been tried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ChainGuard is not the first attempt at this problem. Its classifier design and training data build directly on this line of work.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91109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Backstabber's Knife Collection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24028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systematic dataset and taxonomy of real open-source supply-chain attacks — the attack taxonomy ChainGuard's evidence signals draw on.</a:t>
            </a:r>
            <a:r>
              <a:rPr lang="en-GB" alt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</a:t>
            </a:r>
            <a:r>
              <a:rPr lang="en-US" alt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t's where the "shape" of a malicious package came from</a:t>
            </a:r>
            <a:endParaRPr lang="en-US" altLang="en-US" sz="1050" dirty="0">
              <a:solidFill>
                <a:srgbClr val="3A475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288950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1"/>
              </a:rPr>
              <a:t>[1] Ohm, Plate, Sykosch, Meier — “Backstabber's Knife Collection,” DIMVA 2020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80760" y="1783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36792" y="191109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MalOSS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224028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+ dynamic heuristic analysis across npm, PyPI and RubyGems; found hundreds of live malicious packages.</a:t>
            </a:r>
            <a:r>
              <a:rPr lang="en-GB" alt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They Run Packages</a:t>
            </a:r>
            <a:endParaRPr lang="en-GB" altLang="en-US" sz="1050" dirty="0">
              <a:solidFill>
                <a:srgbClr val="3A475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336792" y="288950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2"/>
              </a:rPr>
              <a:t>[2] Duan et al. — “Towards Measuring Supply Chain Attacks on Package Managers for Interpreted Languages,” NDSS 2021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46557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Amalfi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79476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classifier over static + registry-metadata features for npm — the closest prior work to ChainGuard's classifier design.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444398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3"/>
              </a:rPr>
              <a:t>[3] Sejfia &amp; Schäfer — “Practical Automated Detection of Malicious npm Packages,” ICSE 2022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3337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36792" y="346557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GuardDog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379476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Open-source Semgrep-rule scanner for npm/PyPI. Also the origin of ChainGuard's labeled training corpus.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336792" y="444398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4"/>
              </a:rPr>
              <a:t>[4] Datadog — github.com/DataDog/guarddog (open source)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502005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LastPyMile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34924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Diffs published package code against its source repo to catch injected code that metadata-only checks miss.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599846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5"/>
              </a:rPr>
              <a:t>[5] Vu, Massacci, Pashchenko, Plate &amp; Sabetta — “LastPyMile,” ESEC/FSE 2021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8076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36792" y="502005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npm ecosystem threat study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336792" y="534924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Large-scale empirical study establishing how much of the npm dependency graph is exposed to a single compromised maintainer.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36792" y="599846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6"/>
              </a:rPr>
              <a:t>[6] Zimmermann, Staicu, Tenny, Pradel — “Small World with High Risks,” USENIX Sec. 2019</a:t>
            </a:r>
            <a:endParaRPr lang="en-US" sz="900" dirty="0"/>
          </a:p>
        </p:txBody>
      </p:sp>
      <p:sp>
        <p:nvSpPr>
          <p:cNvPr id="30" name="Badge 1"/>
          <p:cNvSpPr/>
          <p:nvPr/>
        </p:nvSpPr>
        <p:spPr>
          <a:xfrm>
            <a:off x="5413248" y="1901952"/>
            <a:ext cx="228600" cy="228600"/>
          </a:xfrm>
          <a:prstGeom prst="ellipse">
            <a:avLst/>
          </a:prstGeom>
          <a:solidFill>
            <a:srgbClr val="1CA89A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Badge 2"/>
          <p:cNvSpPr/>
          <p:nvPr/>
        </p:nvSpPr>
        <p:spPr>
          <a:xfrm>
            <a:off x="10945368" y="1901952"/>
            <a:ext cx="228600" cy="228600"/>
          </a:xfrm>
          <a:prstGeom prst="ellipse">
            <a:avLst/>
          </a:prstGeom>
          <a:solidFill>
            <a:srgbClr val="1CA89A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Badge 3"/>
          <p:cNvSpPr/>
          <p:nvPr/>
        </p:nvSpPr>
        <p:spPr>
          <a:xfrm>
            <a:off x="5413248" y="3456432"/>
            <a:ext cx="228600" cy="228600"/>
          </a:xfrm>
          <a:prstGeom prst="ellipse">
            <a:avLst/>
          </a:prstGeom>
          <a:solidFill>
            <a:srgbClr val="1CA89A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Badge 4"/>
          <p:cNvSpPr/>
          <p:nvPr/>
        </p:nvSpPr>
        <p:spPr>
          <a:xfrm>
            <a:off x="10945368" y="3456432"/>
            <a:ext cx="228600" cy="228600"/>
          </a:xfrm>
          <a:prstGeom prst="ellipse">
            <a:avLst/>
          </a:prstGeom>
          <a:solidFill>
            <a:srgbClr val="1CA89A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Badge 5"/>
          <p:cNvSpPr/>
          <p:nvPr/>
        </p:nvSpPr>
        <p:spPr>
          <a:xfrm>
            <a:off x="5413248" y="5010912"/>
            <a:ext cx="228600" cy="228600"/>
          </a:xfrm>
          <a:prstGeom prst="ellipse">
            <a:avLst/>
          </a:prstGeom>
          <a:solidFill>
            <a:srgbClr val="1CA89A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</a:rPr>
              <a:t>5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Badge 6"/>
          <p:cNvSpPr/>
          <p:nvPr/>
        </p:nvSpPr>
        <p:spPr>
          <a:xfrm>
            <a:off x="10945368" y="5010912"/>
            <a:ext cx="228600" cy="228600"/>
          </a:xfrm>
          <a:prstGeom prst="ellipse">
            <a:avLst/>
          </a:prstGeom>
          <a:solidFill>
            <a:srgbClr val="1CA89A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</a:rPr>
              <a:t>6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 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Proving reachability — what's been tried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insight that most reported CVEs are unreachable predates ChainGuard. It applies a Java-ecosystem idea to Python and JavaScript.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91109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Eclipse Steady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24028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Pioneered call-graph-based reachability for known vulnerabilities in Java/Maven — the technique ChainGuard applies to Python and JavaScript.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8950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1"/>
              </a:rPr>
              <a:t>[1] Ponta, Plate, Sabetta — “Beyond Metadata: Code-Centric and Usage-Based Analysis of Known Vulnerabilities in OSS,” ICSME 2018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80760" y="1783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36792" y="191109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“Counting Those That Matter”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224028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empirical case that most reported CVEs in a dependency tree are not actually reachable from application code.</a:t>
            </a:r>
            <a:r>
              <a:rPr lang="en-US" alt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They measured the phenomenon</a:t>
            </a:r>
            <a:endParaRPr lang="en-US" altLang="en-US" sz="105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336792" y="288950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2"/>
              </a:rPr>
              <a:t>[2] Pashchenko, Plate, Ponta, Sabetta, Massacci — “Counting Those That Matter,” ESEM 2018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346557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Vuln4Real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79476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Follow-on methodology for counting genuinely exploitable dependency vulnerabilities at scale.</a:t>
            </a:r>
            <a:r>
              <a:rPr lang="en-GB" alt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Methodolog</a:t>
            </a:r>
            <a:endParaRPr lang="en-GB" altLang="en-US" sz="105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04672" y="444398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3"/>
              </a:rPr>
              <a:t>[3] Pashchenko et al. — IEEE Trans. Software Engineering, 2020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3337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36792" y="346557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OSV.dev / OSV-Scanner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379476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Unified open vulnerability database and an experimental call-graph reachability mode. ChainGuard queries OSV.dev directly as its advisory source.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336792" y="444398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4"/>
              </a:rPr>
              <a:t>[4] Google — github.com/google/osv-scanner (open source, since 2021)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04672" y="502005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Fixes-to-vulnerabilities corpus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34924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Manually curated dataset mapping CVEs to their fixing commits — the kind of ground truth reachability tooling is validated against.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599846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5"/>
              </a:rPr>
              <a:t>[5] Ponta, Plate, Sabetta, Bezzi &amp; Dangremont — MSR 2019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8076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336792" y="502005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Commercial reachability engines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336792" y="534924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Endor Labs and Socket.dev ship reachability-based prioritization in production, validating the same signal-over-noise thesis at scale.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36792" y="599846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6"/>
              </a:rPr>
              <a:t>[6] Endor Labs &amp; Socket.dev — Industry, 2023–</a:t>
            </a:r>
            <a:endParaRPr lang="en-US" sz="900" dirty="0"/>
          </a:p>
        </p:txBody>
      </p:sp>
      <p:sp>
        <p:nvSpPr>
          <p:cNvPr id="30" name="Badge 1"/>
          <p:cNvSpPr/>
          <p:nvPr/>
        </p:nvSpPr>
        <p:spPr>
          <a:xfrm>
            <a:off x="5413248" y="1901952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anose="020F0502020204030204" pitchFamily="34" charset="0"/>
              </a:rPr>
              <a:t>1</a:t>
            </a:r>
            <a:endParaRPr lang="en-US" sz="1100" b="1" dirty="0">
              <a:solidFill>
                <a:srgbClr val="0B1E33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Badge 2"/>
          <p:cNvSpPr/>
          <p:nvPr/>
        </p:nvSpPr>
        <p:spPr>
          <a:xfrm>
            <a:off x="10945368" y="1901952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anose="020F0502020204030204" pitchFamily="34" charset="0"/>
              </a:rPr>
              <a:t>2</a:t>
            </a:r>
            <a:endParaRPr lang="en-US" sz="1100" b="1" dirty="0">
              <a:solidFill>
                <a:srgbClr val="0B1E33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Badge 3"/>
          <p:cNvSpPr/>
          <p:nvPr/>
        </p:nvSpPr>
        <p:spPr>
          <a:xfrm>
            <a:off x="5413248" y="3456432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anose="020F0502020204030204" pitchFamily="34" charset="0"/>
              </a:rPr>
              <a:t>3</a:t>
            </a:r>
            <a:endParaRPr lang="en-US" sz="1100" b="1" dirty="0">
              <a:solidFill>
                <a:srgbClr val="0B1E33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Badge 4"/>
          <p:cNvSpPr/>
          <p:nvPr/>
        </p:nvSpPr>
        <p:spPr>
          <a:xfrm>
            <a:off x="10945368" y="3456432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anose="020F0502020204030204" pitchFamily="34" charset="0"/>
              </a:rPr>
              <a:t>4</a:t>
            </a:r>
            <a:endParaRPr lang="en-US" sz="1100" b="1" dirty="0">
              <a:solidFill>
                <a:srgbClr val="0B1E33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Badge 5"/>
          <p:cNvSpPr/>
          <p:nvPr/>
        </p:nvSpPr>
        <p:spPr>
          <a:xfrm>
            <a:off x="5413248" y="5010912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anose="020F0502020204030204" pitchFamily="34" charset="0"/>
              </a:rPr>
              <a:t>5</a:t>
            </a:r>
            <a:endParaRPr lang="en-US" sz="1100" b="1" dirty="0">
              <a:solidFill>
                <a:srgbClr val="0B1E33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Badge 6"/>
          <p:cNvSpPr/>
          <p:nvPr/>
        </p:nvSpPr>
        <p:spPr>
          <a:xfrm>
            <a:off x="10945368" y="5010912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anose="020F0502020204030204" pitchFamily="34" charset="0"/>
              </a:rPr>
              <a:t>6</a:t>
            </a:r>
            <a:endParaRPr lang="en-US" sz="1100" b="1" dirty="0">
              <a:solidFill>
                <a:srgbClr val="0B1E33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independent mechanisms</a:t>
            </a:r>
            <a:r>
              <a:rPr lang="en-GB" altLang="en-US" sz="32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,</a:t>
            </a:r>
            <a:r>
              <a:rPr lang="en-US" sz="32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neither is a black box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48640" y="1737360"/>
          <a:ext cx="11064240" cy="4206240"/>
        </p:xfrm>
        <a:graphic>
          <a:graphicData uri="http://schemas.openxmlformats.org/drawingml/2006/table">
            <a:tbl>
              <a:tblPr/>
              <a:tblGrid>
                <a:gridCol w="1645920"/>
                <a:gridCol w="4709160"/>
                <a:gridCol w="4709160"/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ML Classifier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LLM Layer 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E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Technique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Gradient-boosted trees over 58 static features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Language model, natural-language reasoning</a:t>
                      </a:r>
                      <a:r>
                        <a:rPr lang="en-GB" alt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, </a:t>
                      </a:r>
                      <a:r>
                        <a:rPr lang="en-US" alt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structured output (verdict, confidence, reasoning)</a:t>
                      </a:r>
                      <a:endParaRPr lang="en-US" altLang="en-US" sz="1250" dirty="0">
                        <a:solidFill>
                          <a:srgbClr val="3A4756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E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Role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Decides: is this package malicious?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Reviews flagged/suspicious packages </a:t>
                      </a:r>
                      <a:r>
                        <a:rPr lang="en-GB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along with</a:t>
                      </a:r>
                      <a:r>
                        <a:rPr lang="en-US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classifier's verdict</a:t>
                      </a:r>
                      <a:endParaRPr lang="en-US" alt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E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Status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System of record</a:t>
                      </a:r>
                      <a:r>
                        <a:rPr lang="en-GB" alt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,</a:t>
                      </a:r>
                      <a:r>
                        <a:rPr 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 always 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Optional</a:t>
                      </a:r>
                      <a:r>
                        <a:rPr lang="en-GB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falls back to the classifier's verdict if no key/network</a:t>
                      </a:r>
                      <a:endParaRPr lang="en-US" alt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E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Measurable precision/recall, generalises to unseen malware, offline &amp; free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Cannot be evaluated with a confusion matrix; needs network + API key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classifier is the system of record. The LLM is a presentation layer</a:t>
            </a:r>
            <a:r>
              <a:rPr lang="en-GB" altLang="en-US" sz="125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</a:t>
            </a:r>
            <a:r>
              <a:rPr lang="en-US" sz="125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ChainGuard is fully functional without it.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Measured against a rules-based baseline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8580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417320"/>
            <a:ext cx="3977640" cy="3161030"/>
          </a:xfrm>
          <a:prstGeom prst="roundRect">
            <a:avLst>
              <a:gd name="adj" fmla="val 1839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955280" y="16459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METHOD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932420" y="1484630"/>
            <a:ext cx="3383280" cy="3383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Grouped 5-fold cross-validation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1,797 real packages evaluated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898 malicious · 899 benign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figure is out-of-fold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grouped by package name — no version of a package appears on both sides (no leakage)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RESULTS</a:t>
            </a:r>
            <a:endParaRPr lang="en-US" sz="12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48640" y="411480"/>
            <a:ext cx="11064240" cy="5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full picture: confusion matrix and metrics</a:t>
            </a:r>
            <a:endParaRPr lang="en-US" sz="32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evaluation as the previous slide — grouped 5-fold cross-validation, 15,886 packages, no leakage.</a:t>
            </a:r>
            <a:endParaRPr lang="en-US" sz="1300" dirty="0">
              <a:solidFill>
                <a:srgbClr val="9FB4C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548640" y="1370000"/>
            <a:ext cx="5200000" cy="2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CONFUSION MATRIX  ·  CHAINGUARD MODEL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6443360" y="1370000"/>
            <a:ext cx="5200000" cy="2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HEADLINE METRICS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7"/>
          <p:cNvSpPr/>
          <p:nvPr/>
        </p:nvSpPr>
        <p:spPr>
          <a:xfrm>
            <a:off x="548640" y="166000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8"/>
          <p:cNvSpPr txBox="1"/>
          <p:nvPr/>
        </p:nvSpPr>
        <p:spPr>
          <a:xfrm>
            <a:off x="578640" y="168500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TRUE POSITIVE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578640" y="2550170"/>
            <a:ext cx="2448560" cy="11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6,991</a:t>
            </a:r>
            <a:endParaRPr lang="en-US" sz="3600" b="1" dirty="0">
              <a:solidFill>
                <a:srgbClr val="2DD4B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578640" y="345534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malicious, flagged malicious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3240080" y="166000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2"/>
          <p:cNvSpPr txBox="1"/>
          <p:nvPr/>
        </p:nvSpPr>
        <p:spPr>
          <a:xfrm>
            <a:off x="3270080" y="168500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NEGATIVE</a:t>
            </a:r>
            <a:endParaRPr lang="en-US" sz="1100" b="1" dirty="0">
              <a:solidFill>
                <a:srgbClr val="F8717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3270080" y="2550170"/>
            <a:ext cx="2448560" cy="11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8717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453</a:t>
            </a:r>
            <a:endParaRPr lang="en-US" sz="3600" b="1" dirty="0">
              <a:solidFill>
                <a:srgbClr val="F8717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3270080" y="345534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malicious, flagged benign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548640" y="373322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6"/>
          <p:cNvSpPr txBox="1"/>
          <p:nvPr/>
        </p:nvSpPr>
        <p:spPr>
          <a:xfrm>
            <a:off x="578640" y="375822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POSITIVE</a:t>
            </a:r>
            <a:endParaRPr lang="en-US" sz="1100" b="1" dirty="0">
              <a:solidFill>
                <a:srgbClr val="F8717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578640" y="4623390"/>
            <a:ext cx="2448560" cy="11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8717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140</a:t>
            </a:r>
            <a:endParaRPr lang="en-US" sz="3600" b="1" dirty="0">
              <a:solidFill>
                <a:srgbClr val="F8717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578640" y="552856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benign, flagged malicious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3240080" y="373322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20"/>
          <p:cNvSpPr txBox="1"/>
          <p:nvPr/>
        </p:nvSpPr>
        <p:spPr>
          <a:xfrm>
            <a:off x="3270080" y="375822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TRUE NEGATIVE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3270080" y="4623390"/>
            <a:ext cx="2448560" cy="11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8,302</a:t>
            </a:r>
            <a:endParaRPr lang="en-US" sz="3600" b="1" dirty="0">
              <a:solidFill>
                <a:srgbClr val="2DD4B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3270080" y="552856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benign, flagged benign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6443360" y="166000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4"/>
          <p:cNvSpPr txBox="1"/>
          <p:nvPr/>
        </p:nvSpPr>
        <p:spPr>
          <a:xfrm>
            <a:off x="6473360" y="168500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6473360" y="2540170"/>
            <a:ext cx="2448560" cy="1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0.963</a:t>
            </a:r>
            <a:endParaRPr lang="en-US" sz="4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26" name="Text 26"/>
          <p:cNvSpPr txBox="1"/>
          <p:nvPr/>
        </p:nvSpPr>
        <p:spPr>
          <a:xfrm>
            <a:off x="6473360" y="345534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 across both classes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9134800" y="166000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8"/>
          <p:cNvSpPr txBox="1"/>
          <p:nvPr/>
        </p:nvSpPr>
        <p:spPr>
          <a:xfrm>
            <a:off x="9164800" y="168500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9" name="Text 29"/>
          <p:cNvSpPr txBox="1"/>
          <p:nvPr/>
        </p:nvSpPr>
        <p:spPr>
          <a:xfrm>
            <a:off x="9164800" y="2540170"/>
            <a:ext cx="2448560" cy="1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0.980</a:t>
            </a:r>
            <a:endParaRPr lang="en-US" sz="4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0" name="Text 30"/>
          <p:cNvSpPr txBox="1"/>
          <p:nvPr/>
        </p:nvSpPr>
        <p:spPr>
          <a:xfrm>
            <a:off x="9164800" y="345534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flagged packages, truly malicious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" name="Shape 31"/>
          <p:cNvSpPr/>
          <p:nvPr/>
        </p:nvSpPr>
        <p:spPr>
          <a:xfrm>
            <a:off x="6443360" y="373322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Text 32"/>
          <p:cNvSpPr txBox="1"/>
          <p:nvPr/>
        </p:nvSpPr>
        <p:spPr>
          <a:xfrm>
            <a:off x="6473360" y="375822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3"/>
          <p:cNvSpPr txBox="1"/>
          <p:nvPr/>
        </p:nvSpPr>
        <p:spPr>
          <a:xfrm>
            <a:off x="6473360" y="4613390"/>
            <a:ext cx="2448560" cy="1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0.939</a:t>
            </a:r>
            <a:endParaRPr lang="en-US" sz="4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4" name="Text 34"/>
          <p:cNvSpPr txBox="1"/>
          <p:nvPr/>
        </p:nvSpPr>
        <p:spPr>
          <a:xfrm>
            <a:off x="6473360" y="552856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malicious packages, actually caught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" name="Shape 35"/>
          <p:cNvSpPr/>
          <p:nvPr/>
        </p:nvSpPr>
        <p:spPr>
          <a:xfrm>
            <a:off x="9134800" y="373322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Text 36"/>
          <p:cNvSpPr txBox="1"/>
          <p:nvPr/>
        </p:nvSpPr>
        <p:spPr>
          <a:xfrm>
            <a:off x="9164800" y="375822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 SCORE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" name="Text 37"/>
          <p:cNvSpPr txBox="1"/>
          <p:nvPr/>
        </p:nvSpPr>
        <p:spPr>
          <a:xfrm>
            <a:off x="9164800" y="4613390"/>
            <a:ext cx="2448560" cy="1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0.959</a:t>
            </a:r>
            <a:endParaRPr lang="en-US" sz="4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8" name="Text 38"/>
          <p:cNvSpPr txBox="1"/>
          <p:nvPr/>
        </p:nvSpPr>
        <p:spPr>
          <a:xfrm>
            <a:off x="9164800" y="552856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 and recall, balanced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9" name="Text 39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>
              <a:solidFill>
                <a:srgbClr val="9FB4C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566160" y="1234440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0B1E33"/>
          </a:solidFill>
          <a:ln w="12700">
            <a:solidFill>
              <a:srgbClr val="2446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566160" y="1234440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+ Tailwind Dashboard  ·  Vite  ·  port 5173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828800"/>
            <a:ext cx="0" cy="320040"/>
          </a:xfrm>
          <a:prstGeom prst="line">
            <a:avLst/>
          </a:prstGeom>
          <a:noFill/>
          <a:ln w="19050">
            <a:solidFill>
              <a:srgbClr val="9FB4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0" y="2148840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1CA89A"/>
          </a:solidFill>
          <a:ln w="12700">
            <a:solidFill>
              <a:srgbClr val="2446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2148840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Backend  ·  uvicorn  ·  port 8000  ·  scan orchestration + jobs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2743200"/>
            <a:ext cx="0" cy="320040"/>
          </a:xfrm>
          <a:prstGeom prst="line">
            <a:avLst/>
          </a:prstGeom>
          <a:noFill/>
          <a:ln w="19050">
            <a:solidFill>
              <a:srgbClr val="9FB4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2743200"/>
            <a:ext cx="0" cy="320040"/>
          </a:xfrm>
          <a:prstGeom prst="line">
            <a:avLst/>
          </a:prstGeom>
          <a:noFill/>
          <a:ln w="19050">
            <a:solidFill>
              <a:srgbClr val="9FB4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1960" y="306324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51960" y="3063240"/>
            <a:ext cx="3566160" cy="73152"/>
          </a:xfrm>
          <a:prstGeom prst="rect">
            <a:avLst/>
          </a:prstGeom>
          <a:solidFill>
            <a:srgbClr val="F87171"/>
          </a:solidFill>
        </p:spPr>
      </p:sp>
      <p:sp>
        <p:nvSpPr>
          <p:cNvPr id="17" name="Text 15"/>
          <p:cNvSpPr txBox="1"/>
          <p:nvPr/>
        </p:nvSpPr>
        <p:spPr>
          <a:xfrm>
            <a:off x="4480560" y="3246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1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65760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analyzers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extraction (58-dim)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classifier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738360" y="2743200"/>
            <a:ext cx="0" cy="320040"/>
          </a:xfrm>
          <a:prstGeom prst="line">
            <a:avLst/>
          </a:prstGeom>
          <a:noFill/>
          <a:ln w="19050">
            <a:solidFill>
              <a:srgbClr val="9FB4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306324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55280" y="3063240"/>
            <a:ext cx="3566160" cy="73152"/>
          </a:xfrm>
          <a:prstGeom prst="rect">
            <a:avLst/>
          </a:prstGeom>
          <a:solidFill>
            <a:srgbClr val="1CA89A"/>
          </a:solidFill>
        </p:spPr>
      </p:sp>
      <p:sp>
        <p:nvSpPr>
          <p:cNvPr id="22" name="Text 20"/>
          <p:cNvSpPr txBox="1"/>
          <p:nvPr/>
        </p:nvSpPr>
        <p:spPr>
          <a:xfrm>
            <a:off x="8183880" y="3246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1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REACHABILITY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365760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OSV.dev advisories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 call graph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 resolution + path proof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0760" y="5394960"/>
            <a:ext cx="0" cy="320040"/>
          </a:xfrm>
          <a:prstGeom prst="line">
            <a:avLst/>
          </a:prstGeom>
          <a:noFill/>
          <a:ln w="19050">
            <a:solidFill>
              <a:srgbClr val="9FB4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51760" y="5715000"/>
            <a:ext cx="6858000" cy="777240"/>
          </a:xfrm>
          <a:prstGeom prst="roundRect">
            <a:avLst>
              <a:gd name="adj" fmla="val 9412"/>
            </a:avLst>
          </a:prstGeom>
          <a:solidFill>
            <a:srgbClr val="0B1E33"/>
          </a:solidFill>
          <a:ln w="12700">
            <a:solidFill>
              <a:srgbClr val="2446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51760" y="571500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Aggregation + Report  ·  SQLite persistence  ·  JSON / HTML / PDF export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320" y="0"/>
            <a:ext cx="10901045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30861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 SCAN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pipelines run independently, then merge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Manifest → resolve dependency tree → download packages (in-memory)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03120" y="1920240"/>
            <a:ext cx="0" cy="36576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4231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423160"/>
            <a:ext cx="73152" cy="1554480"/>
          </a:xfrm>
          <a:prstGeom prst="rect">
            <a:avLst/>
          </a:prstGeom>
          <a:solidFill>
            <a:srgbClr val="F87171"/>
          </a:solidFill>
        </p:spPr>
      </p:sp>
      <p:sp>
        <p:nvSpPr>
          <p:cNvPr id="9" name="Text 7"/>
          <p:cNvSpPr txBox="1"/>
          <p:nvPr/>
        </p:nvSpPr>
        <p:spPr>
          <a:xfrm>
            <a:off x="868680" y="253288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871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ANALYSIS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25496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/ JS AST · install hooks · typosquat detection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58-feature vector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classifier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Malice score + evidence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4160520"/>
            <a:ext cx="73152" cy="1554480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13" name="Text 11"/>
          <p:cNvSpPr txBox="1"/>
          <p:nvPr/>
        </p:nvSpPr>
        <p:spPr>
          <a:xfrm>
            <a:off x="868680" y="427024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OSV.DEV ADVISORIES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562856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CVSS · fixed versions · vulnerable symbols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Reachability analysis via call graph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Reachable + proof, or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Not reachable + reason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3200400"/>
            <a:ext cx="914400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4937760"/>
            <a:ext cx="914400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3200400"/>
            <a:ext cx="0" cy="173736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4069080"/>
            <a:ext cx="822960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333756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10382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001000" y="35204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MERGED RISK REPORT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3794760"/>
            <a:ext cx="3429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risk model + remediation plan.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and reachability are independent — a failure in one does not take out the other.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BY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scanner treats itself as an attack surface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ChainGuard analyses hostile input by design, and its training data contains real malicious packages.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0B1E33"/>
          </a:solidFill>
        </p:spPr>
      </p:sp>
      <p:sp>
        <p:nvSpPr>
          <p:cNvPr id="7" name="Text 5"/>
          <p:cNvSpPr txBox="1"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03120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Nothing analysed is ever executed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pip install, no npm install, no setup.py invocation, no eval of package content. All analysis is static parsing of source text.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148840"/>
            <a:ext cx="457200" cy="457200"/>
          </a:xfrm>
          <a:prstGeom prst="ellipse">
            <a:avLst/>
          </a:prstGeom>
          <a:solidFill>
            <a:srgbClr val="0B1E33"/>
          </a:solidFill>
        </p:spPr>
      </p:sp>
      <p:sp>
        <p:nvSpPr>
          <p:cNvPr id="12" name="Text 10"/>
          <p:cNvSpPr txBox="1"/>
          <p:nvPr/>
        </p:nvSpPr>
        <p:spPr>
          <a:xfrm>
            <a:off x="6583680" y="2148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103120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Malicious samples encoded at rest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78892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samples are never written to disk in runnable form — decoded into memory only. No antivirus exclusion required.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0B1E33"/>
          </a:solidFill>
        </p:spPr>
      </p:sp>
      <p:sp>
        <p:nvSpPr>
          <p:cNvPr id="17" name="Text 15"/>
          <p:cNvSpPr txBox="1"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251960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Ingestion is bounded at every step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93776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Archive size, compression ratio, member count, per-file size, AST parse size, and per-package analysis time are all capped.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40233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4297680"/>
            <a:ext cx="457200" cy="457200"/>
          </a:xfrm>
          <a:prstGeom prst="ellipse">
            <a:avLst/>
          </a:prstGeom>
          <a:solidFill>
            <a:srgbClr val="0B1E33"/>
          </a:solidFill>
        </p:spPr>
      </p:sp>
      <p:sp>
        <p:nvSpPr>
          <p:cNvPr id="22" name="Text 20"/>
          <p:cNvSpPr txBox="1"/>
          <p:nvPr/>
        </p:nvSpPr>
        <p:spPr>
          <a:xfrm>
            <a:off x="6583680" y="4297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251960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Extraction is hardened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493776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 traversal, symlinks, and absolute paths are rejected during archive extraction.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Deployable and runnable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0B1E33"/>
          </a:solidFill>
          <a:ln w="12700">
            <a:solidFill>
              <a:srgbClr val="112B4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3.10+   ·   Node 18+ (dashboard only — backend has no Node dependency)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START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51760"/>
            <a:ext cx="4754880" cy="329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2DD4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-m venv .venv &amp;&amp; pip install -r requirements.txt</a:t>
            </a:r>
            <a:endParaRPr lang="en-US" sz="115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2DD4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-m pytest backend/tests -q        # offline, &lt;1s</a:t>
            </a:r>
            <a:endParaRPr lang="en-US" sz="115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2DD4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-m chainguard scan-project demo/vulnerable-app</a:t>
            </a:r>
            <a:endParaRPr lang="en-US" sz="115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2DD4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uvicorn chainguard.api.app:app --port 8000</a:t>
            </a:r>
            <a:endParaRPr lang="en-US" sz="115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2DD4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frontend &amp;&amp; npm install &amp;&amp; npm run dev   # :5173</a:t>
            </a:r>
            <a:endParaRPr lang="en-US" sz="115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2DD4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scripts/start.ps1   # one-shot: starts both services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155448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WITHOUT EXTRA SETUP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96596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trained ML model? Falls back to a rules baseline — clearly labeled as such in every result.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API key? The optional LLM/Claude explanation layer is simply disabled; the core system is unaffected and fully functional.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API docs are served automatically at /docs once the backend is running.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test suite runs fully offline in under a second — no network required to validate the build.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REPOSITORY LAYOUT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everything lives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B1E33"/>
          </a:solidFill>
        </p:spPr>
      </p:sp>
      <p:sp>
        <p:nvSpPr>
          <p:cNvPr id="6" name="Text 4"/>
          <p:cNvSpPr txBox="1"/>
          <p:nvPr/>
        </p:nvSpPr>
        <p:spPr>
          <a:xfrm>
            <a:off x="1508760" y="173736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backend/chainguard/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1737360"/>
            <a:ext cx="7269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 · registry · vulns · dataset · ml · api · scanner.py · cli.py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8346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CA89A"/>
          </a:solidFill>
        </p:spPr>
      </p:sp>
      <p:sp>
        <p:nvSpPr>
          <p:cNvPr id="10" name="Text 8"/>
          <p:cNvSpPr txBox="1"/>
          <p:nvPr/>
        </p:nvSpPr>
        <p:spPr>
          <a:xfrm>
            <a:off x="1508760" y="265176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frontend/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2651760"/>
            <a:ext cx="7269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+ Vite + Tailwind dashboard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7490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6B4E9A"/>
          </a:solidFill>
        </p:spPr>
      </p:sp>
      <p:sp>
        <p:nvSpPr>
          <p:cNvPr id="14" name="Text 12"/>
          <p:cNvSpPr txBox="1"/>
          <p:nvPr/>
        </p:nvSpPr>
        <p:spPr>
          <a:xfrm>
            <a:off x="1508760" y="356616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demo/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3566160"/>
            <a:ext cx="7269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vulnerable project for the reachability demonstration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6634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9A6B2E"/>
          </a:solidFill>
        </p:spPr>
      </p:sp>
      <p:sp>
        <p:nvSpPr>
          <p:cNvPr id="18" name="Text 16"/>
          <p:cNvSpPr txBox="1"/>
          <p:nvPr/>
        </p:nvSpPr>
        <p:spPr>
          <a:xfrm>
            <a:off x="1508760" y="448056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scripts/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4480560"/>
            <a:ext cx="7269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build, model training, popular-package list generation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5778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7D9A"/>
          </a:solidFill>
        </p:spPr>
      </p:sp>
      <p:sp>
        <p:nvSpPr>
          <p:cNvPr id="22" name="Text 20"/>
          <p:cNvSpPr txBox="1"/>
          <p:nvPr/>
        </p:nvSpPr>
        <p:spPr>
          <a:xfrm>
            <a:off x="1508760" y="539496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docs/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5394960"/>
            <a:ext cx="7269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card, dataset notes, ten-minute demo walkthrough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12B47"/>
          </a:solidFill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TWO-PART VALUE, ONE SCAN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515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Fewer false alarms. Real proof. Ready to run.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26060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0.95 F1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474720"/>
            <a:ext cx="283464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Catches malicious packages the classifier has never seen before — measured, not assumed.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2860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17720" y="26060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92 → 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474720"/>
            <a:ext cx="283464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Cuts CVE noise from hundreds of advisories to the handful that are genuinely reachable, with proof.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22860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0" y="26060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3474720"/>
            <a:ext cx="283464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Offline-capable core, open architecture, security-first by design — deployable today.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ChainGuard — AI-Powered Software Supply Chain Security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9068</Words>
  <Application>WPS Presentation</Application>
  <PresentationFormat>On-screen Show (16:9)</PresentationFormat>
  <Paragraphs>455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Consolas</vt:lpstr>
      <vt:lpstr>Consolas</vt:lpstr>
      <vt:lpstr>Consolas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nvn</cp:lastModifiedBy>
  <cp:revision>5</cp:revision>
  <dcterms:created xsi:type="dcterms:W3CDTF">2026-09-15T16:59:00Z</dcterms:created>
  <dcterms:modified xsi:type="dcterms:W3CDTF">2026-09-25T03:02:00Z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FB236056A0E34AB6A0798C7F2F2AB398_12</vt:lpwstr>
  </property>
</Properties>
</file>