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Papers</c:v>
                </c:pt>
              </c:strCache>
            </c:strRef>
          </c:tx>
          <c:spPr>
            <a:solidFill>
              <a:srgbClr val="0B7A5A"/>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GB" sz="1100" b="0" i="0" u="none" strike="noStrike" kern="1200" baseline="0">
                    <a:solidFill>
                      <a:srgbClr val="1B2A33"/>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Threats and datasets</c:v>
                </c:pt>
                <c:pt idx="1">
                  <c:v>ML detection</c:v>
                </c:pt>
                <c:pt idx="2">
                  <c:v>LLM approaches</c:v>
                </c:pt>
                <c:pt idx="3">
                  <c:v>Reachability and SCA</c:v>
                </c:pt>
                <c:pt idx="4">
                  <c:v>SBOM and provenance</c:v>
                </c:pt>
              </c:strCache>
            </c:strRef>
          </c:cat>
          <c:val>
            <c:numRef>
              <c:f>Sheet1!$B$2:$B$6</c:f>
              <c:numCache>
                <c:formatCode>General</c:formatCode>
                <c:ptCount val="5"/>
                <c:pt idx="0">
                  <c:v>8</c:v>
                </c:pt>
                <c:pt idx="1">
                  <c:v>7</c:v>
                </c:pt>
                <c:pt idx="2">
                  <c:v>5</c:v>
                </c:pt>
                <c:pt idx="3">
                  <c:v>4</c:v>
                </c:pt>
                <c:pt idx="4">
                  <c:v>3</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100" b="0" i="0" u="none" strike="noStrike" kern="1200" baseline="0">
                <a:solidFill>
                  <a:srgbClr val="1B2A33"/>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10"/>
        </c:scaling>
        <c:delete val="0"/>
        <c:axPos val="b"/>
        <c:majorGridlines>
          <c:spPr>
            <a:ln w="12700" cap="flat" cmpd="sng" algn="ctr">
              <a:solidFill>
                <a:srgbClr val="E2EAEE"/>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000" b="0" i="0" u="none" strike="noStrike" kern="1200" baseline="0">
                <a:solidFill>
                  <a:srgbClr val="5A6B78"/>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16ad837-e48f-4b19-8561-5f6accedb2c0}"/>
      </c:ext>
    </c:extLst>
  </c:chart>
  <c:spPr>
    <a:noFill/>
    <a:ln>
      <a:noFill/>
    </a:ln>
    <a:effectLst/>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the first line. This review is about the design. We have a prototype of the core engine to show that the design works, and the rest is planned for Reviews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code you ship, you did not write. And it runs with your privileges at install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event-stream is the easiest story to tell. A maintainer got tired, handed the project over, and the new owner added a wallet stealer.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different kinds of problem. A is detection, B is prioritisation. Most tools do one or the other, not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 safe rule in the box is worth saying out loud. If we cannot tell, we report it. A false alarm costs ten minutes, a miss ships a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2026 papers: they are real, verified through the arXiv API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which paper is closest: Samaana 2024. We differ by covering npm too, by using co-occurrence signals, and by adding the reachability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G2 is the strongest one. Reachability was recommended in 2019 and a 2025 review still lists false positives as a top barrier. Six years, same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Then say plainly which stages are solid and which are still being worked on. Stages 3 and 5 are the research heavy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 idea is the one to emphasise. Individually these behaviours are everywhere. Together in one file they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call path and say it out loud. Four hops, three files. Then be clear that this works for Python today and npm is the next piece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wins marks. Volunteering the leakage problem before anyone asks shows you understand what a good result actually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each depends only on the one below. The right hand column matters: we process malicious files, so the scanner has to defend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of these out. Point at the four groups, say that the acquisition side is solid, and that the learning and reachability side is where the remaining work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roadmap, not on the numbers. The message is that the design is settled, the hard parts are identified, and there is a clear plan for Reviews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5.xml"/><Relationship Id="rId12" Type="http://schemas.openxmlformats.org/officeDocument/2006/relationships/slideLayout" Target="../slideLayouts/slideLayout1.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4" Type="http://schemas.openxmlformats.org/officeDocument/2006/relationships/notesSlide" Target="../notesSlides/notesSlide13.xml"/><Relationship Id="rId23" Type="http://schemas.openxmlformats.org/officeDocument/2006/relationships/slideLayout" Target="../slideLayouts/slideLayout1.xml"/><Relationship Id="rId22" Type="http://schemas.openxmlformats.org/officeDocument/2006/relationships/tags" Target="../tags/tag33.xml"/><Relationship Id="rId21" Type="http://schemas.openxmlformats.org/officeDocument/2006/relationships/tags" Target="../tags/tag32.xml"/><Relationship Id="rId20" Type="http://schemas.openxmlformats.org/officeDocument/2006/relationships/tags" Target="../tags/tag31.xml"/><Relationship Id="rId2" Type="http://schemas.openxmlformats.org/officeDocument/2006/relationships/tags" Target="../tags/tag13.xml"/><Relationship Id="rId19" Type="http://schemas.openxmlformats.org/officeDocument/2006/relationships/tags" Target="../tags/tag30.xml"/><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A38"/>
        </a:solidFill>
        <a:effectLst/>
      </p:bgPr>
    </p:bg>
    <p:spTree>
      <p:nvGrpSpPr>
        <p:cNvPr id="1" name=""/>
        <p:cNvGrpSpPr/>
        <p:nvPr/>
      </p:nvGrpSpPr>
      <p:grpSpPr>
        <a:xfrm>
          <a:off x="0" y="0"/>
          <a:ext cx="0" cy="0"/>
          <a:chOff x="0" y="0"/>
          <a:chExt cx="0" cy="0"/>
        </a:xfrm>
      </p:grpSpPr>
      <p:sp>
        <p:nvSpPr>
          <p:cNvPr id="2" name="Text 0"/>
          <p:cNvSpPr/>
          <p:nvPr/>
        </p:nvSpPr>
        <p:spPr>
          <a:xfrm>
            <a:off x="594360" y="1298448"/>
            <a:ext cx="9144000" cy="274320"/>
          </a:xfrm>
          <a:prstGeom prst="rect">
            <a:avLst/>
          </a:prstGeom>
          <a:noFill/>
        </p:spPr>
        <p:txBody>
          <a:bodyPr wrap="square" lIns="0" tIns="0" rIns="0" bIns="0" rtlCol="0" anchor="ctr"/>
          <a:lstStyle/>
          <a:p>
            <a:pPr marL="0" indent="0">
              <a:buNone/>
            </a:pPr>
            <a:r>
              <a:rPr lang="en-US" sz="1100" b="1" kern="0" spc="220" dirty="0">
                <a:solidFill>
                  <a:srgbClr val="12B886"/>
                </a:solidFill>
                <a:latin typeface="Calibri" panose="020F0502020204030204" pitchFamily="34" charset="0"/>
                <a:ea typeface="Calibri" panose="020F0502020204030204" pitchFamily="34" charset="-122"/>
                <a:cs typeface="Calibri" panose="020F0502020204030204" pitchFamily="34" charset="-120"/>
              </a:rPr>
              <a:t>FINAL YEAR PROJECT   |   REVIEW 1</a:t>
            </a:r>
            <a:endParaRPr lang="en-US" sz="1100" dirty="0"/>
          </a:p>
        </p:txBody>
      </p:sp>
      <p:sp>
        <p:nvSpPr>
          <p:cNvPr id="3" name="Text 1"/>
          <p:cNvSpPr/>
          <p:nvPr/>
        </p:nvSpPr>
        <p:spPr>
          <a:xfrm>
            <a:off x="594360" y="1700784"/>
            <a:ext cx="10058400" cy="1005840"/>
          </a:xfrm>
          <a:prstGeom prst="rect">
            <a:avLst/>
          </a:prstGeom>
          <a:noFill/>
        </p:spPr>
        <p:txBody>
          <a:bodyPr wrap="square" lIns="0" tIns="0" rIns="0" bIns="0" rtlCol="0" anchor="ctr"/>
          <a:lstStyle/>
          <a:p>
            <a:pPr marL="0" indent="0">
              <a:buNone/>
            </a:pPr>
            <a:r>
              <a:rPr lang="en-US" sz="5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ChainGuard</a:t>
            </a:r>
            <a:endParaRPr lang="en-US" sz="5200" dirty="0"/>
          </a:p>
        </p:txBody>
      </p:sp>
      <p:sp>
        <p:nvSpPr>
          <p:cNvPr id="4" name="Text 2"/>
          <p:cNvSpPr/>
          <p:nvPr/>
        </p:nvSpPr>
        <p:spPr>
          <a:xfrm>
            <a:off x="594360" y="2670048"/>
            <a:ext cx="10058400" cy="384048"/>
          </a:xfrm>
          <a:prstGeom prst="rect">
            <a:avLst/>
          </a:prstGeom>
          <a:noFill/>
        </p:spPr>
        <p:txBody>
          <a:bodyPr wrap="square" lIns="0" tIns="0" rIns="0" bIns="0" rtlCol="0" anchor="ctr"/>
          <a:lstStyle/>
          <a:p>
            <a:pPr marL="0" indent="0">
              <a:buNone/>
            </a:pPr>
            <a:r>
              <a:rPr lang="en-US" sz="2000" dirty="0">
                <a:solidFill>
                  <a:srgbClr val="DCE7EC"/>
                </a:solidFill>
                <a:latin typeface="Cambria" panose="02040503050406030204" pitchFamily="34" charset="0"/>
                <a:ea typeface="Cambria" panose="02040503050406030204" pitchFamily="34" charset="-122"/>
                <a:cs typeface="Cambria" panose="02040503050406030204" pitchFamily="34" charset="-120"/>
              </a:rPr>
              <a:t>AI-Powered Software Supply Chain Security</a:t>
            </a:r>
            <a:endParaRPr lang="en-US" sz="2000" dirty="0"/>
          </a:p>
        </p:txBody>
      </p:sp>
      <p:sp>
        <p:nvSpPr>
          <p:cNvPr id="5" name="Text 3"/>
          <p:cNvSpPr/>
          <p:nvPr/>
        </p:nvSpPr>
        <p:spPr>
          <a:xfrm>
            <a:off x="594360" y="3054096"/>
            <a:ext cx="10058400" cy="347472"/>
          </a:xfrm>
          <a:prstGeom prst="rect">
            <a:avLst/>
          </a:prstGeom>
          <a:noFill/>
        </p:spPr>
        <p:txBody>
          <a:bodyPr wrap="square" lIns="0" tIns="0" rIns="0" bIns="0" rtlCol="0" anchor="ctr"/>
          <a:lstStyle/>
          <a:p>
            <a:pPr marL="0" indent="0">
              <a:buNone/>
            </a:pPr>
            <a:r>
              <a:rPr lang="en-US" sz="1350" dirty="0">
                <a:solidFill>
                  <a:srgbClr val="8FA6B2"/>
                </a:solidFill>
                <a:latin typeface="Calibri" panose="020F0502020204030204" pitchFamily="34" charset="0"/>
                <a:ea typeface="Calibri" panose="020F0502020204030204" pitchFamily="34" charset="-122"/>
                <a:cs typeface="Calibri" panose="020F0502020204030204" pitchFamily="34" charset="-120"/>
              </a:rPr>
              <a:t>Malicious Package Detection and Vulnerability Reachability Analysis</a:t>
            </a:r>
            <a:endParaRPr lang="en-US" sz="1350" dirty="0"/>
          </a:p>
        </p:txBody>
      </p:sp>
      <p:sp>
        <p:nvSpPr>
          <p:cNvPr id="6" name="Shape 4"/>
          <p:cNvSpPr/>
          <p:nvPr/>
        </p:nvSpPr>
        <p:spPr>
          <a:xfrm>
            <a:off x="594360" y="3657600"/>
            <a:ext cx="5852160" cy="868680"/>
          </a:xfrm>
          <a:prstGeom prst="roundRect">
            <a:avLst>
              <a:gd name="adj" fmla="val 6316"/>
            </a:avLst>
          </a:prstGeom>
          <a:solidFill>
            <a:srgbClr val="0A1E29"/>
          </a:solidFill>
          <a:ln w="12700">
            <a:solidFill>
              <a:srgbClr val="1E3D4D"/>
            </a:solidFill>
            <a:prstDash val="solid"/>
          </a:ln>
        </p:spPr>
      </p:sp>
      <p:sp>
        <p:nvSpPr>
          <p:cNvPr id="7" name="Text 5"/>
          <p:cNvSpPr/>
          <p:nvPr/>
        </p:nvSpPr>
        <p:spPr>
          <a:xfrm>
            <a:off x="868680" y="3657600"/>
            <a:ext cx="5349240" cy="868680"/>
          </a:xfrm>
          <a:prstGeom prst="rect">
            <a:avLst/>
          </a:prstGeom>
          <a:noFill/>
        </p:spPr>
        <p:txBody>
          <a:bodyPr wrap="square" lIns="0" tIns="0" rIns="0" bIns="0" rtlCol="0" anchor="ctr"/>
          <a:lstStyle/>
          <a:p>
            <a:pPr marL="0" indent="0">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This review covers the design. A working prototype of the core engine is running.</a:t>
            </a:r>
            <a:endParaRPr lang="en-US" sz="1200" dirty="0"/>
          </a:p>
        </p:txBody>
      </p:sp>
      <p:sp>
        <p:nvSpPr>
          <p:cNvPr id="8" name="Text 6"/>
          <p:cNvSpPr/>
          <p:nvPr/>
        </p:nvSpPr>
        <p:spPr>
          <a:xfrm>
            <a:off x="594360" y="4892040"/>
            <a:ext cx="2560320" cy="310896"/>
          </a:xfrm>
          <a:prstGeom prst="rect">
            <a:avLst/>
          </a:prstGeom>
          <a:noFill/>
        </p:spPr>
        <p:txBody>
          <a:bodyPr wrap="square" lIns="0" tIns="0" rIns="0" bIns="0" rtlCol="0" anchor="ctr"/>
          <a:lstStyle/>
          <a:p>
            <a:pPr marL="0" indent="0">
              <a:buNone/>
            </a:pPr>
            <a:r>
              <a:rPr lang="en-US" sz="1500" b="1" dirty="0">
                <a:solidFill>
                  <a:srgbClr val="12B886"/>
                </a:solidFill>
                <a:latin typeface="Calibri" panose="020F0502020204030204" pitchFamily="34" charset="0"/>
                <a:ea typeface="Calibri" panose="020F0502020204030204" pitchFamily="34" charset="-122"/>
                <a:cs typeface="Calibri" panose="020F0502020204030204" pitchFamily="34" charset="-120"/>
              </a:rPr>
              <a:t>01</a:t>
            </a:r>
            <a:endParaRPr lang="en-US" sz="1500" dirty="0"/>
          </a:p>
        </p:txBody>
      </p:sp>
      <p:sp>
        <p:nvSpPr>
          <p:cNvPr id="9" name="Text 7"/>
          <p:cNvSpPr/>
          <p:nvPr/>
        </p:nvSpPr>
        <p:spPr>
          <a:xfrm>
            <a:off x="594360" y="5193792"/>
            <a:ext cx="2560320" cy="310896"/>
          </a:xfrm>
          <a:prstGeom prst="rect">
            <a:avLst/>
          </a:prstGeom>
          <a:noFill/>
        </p:spPr>
        <p:txBody>
          <a:bodyPr wrap="square" lIns="0" tIns="0" rIns="0" bIns="0" rtlCol="0" anchor="ctr"/>
          <a:lstStyle/>
          <a:p>
            <a:pPr marL="0" indent="0">
              <a:buNone/>
            </a:pPr>
            <a:r>
              <a:rPr lang="en-US" sz="1250" dirty="0">
                <a:solidFill>
                  <a:srgbClr val="DCE7EC"/>
                </a:solidFill>
                <a:latin typeface="Calibri" panose="020F0502020204030204" pitchFamily="34" charset="0"/>
                <a:ea typeface="Calibri" panose="020F0502020204030204" pitchFamily="34" charset="-122"/>
                <a:cs typeface="Calibri" panose="020F0502020204030204" pitchFamily="34" charset="-120"/>
              </a:rPr>
              <a:t>Domain and Problem</a:t>
            </a:r>
            <a:endParaRPr lang="en-US" sz="1250" dirty="0"/>
          </a:p>
        </p:txBody>
      </p:sp>
      <p:sp>
        <p:nvSpPr>
          <p:cNvPr id="10" name="Text 8"/>
          <p:cNvSpPr/>
          <p:nvPr/>
        </p:nvSpPr>
        <p:spPr>
          <a:xfrm>
            <a:off x="3383280" y="4892040"/>
            <a:ext cx="2560320" cy="310896"/>
          </a:xfrm>
          <a:prstGeom prst="rect">
            <a:avLst/>
          </a:prstGeom>
          <a:noFill/>
        </p:spPr>
        <p:txBody>
          <a:bodyPr wrap="square" lIns="0" tIns="0" rIns="0" bIns="0" rtlCol="0" anchor="ctr"/>
          <a:lstStyle/>
          <a:p>
            <a:pPr marL="0" indent="0">
              <a:buNone/>
            </a:pPr>
            <a:r>
              <a:rPr lang="en-US" sz="1500" b="1" dirty="0">
                <a:solidFill>
                  <a:srgbClr val="12B886"/>
                </a:solidFill>
                <a:latin typeface="Calibri" panose="020F0502020204030204" pitchFamily="34" charset="0"/>
                <a:ea typeface="Calibri" panose="020F0502020204030204" pitchFamily="34" charset="-122"/>
                <a:cs typeface="Calibri" panose="020F0502020204030204" pitchFamily="34" charset="-120"/>
              </a:rPr>
              <a:t>02</a:t>
            </a:r>
            <a:endParaRPr lang="en-US" sz="1500" dirty="0"/>
          </a:p>
        </p:txBody>
      </p:sp>
      <p:sp>
        <p:nvSpPr>
          <p:cNvPr id="11" name="Text 9"/>
          <p:cNvSpPr/>
          <p:nvPr/>
        </p:nvSpPr>
        <p:spPr>
          <a:xfrm>
            <a:off x="3383280" y="5193792"/>
            <a:ext cx="2560320" cy="310896"/>
          </a:xfrm>
          <a:prstGeom prst="rect">
            <a:avLst/>
          </a:prstGeom>
          <a:noFill/>
        </p:spPr>
        <p:txBody>
          <a:bodyPr wrap="square" lIns="0" tIns="0" rIns="0" bIns="0" rtlCol="0" anchor="ctr"/>
          <a:lstStyle/>
          <a:p>
            <a:pPr marL="0" indent="0">
              <a:buNone/>
            </a:pPr>
            <a:r>
              <a:rPr lang="en-US" sz="1250" dirty="0">
                <a:solidFill>
                  <a:srgbClr val="DCE7EC"/>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250" dirty="0"/>
          </a:p>
        </p:txBody>
      </p:sp>
      <p:sp>
        <p:nvSpPr>
          <p:cNvPr id="12" name="Text 10"/>
          <p:cNvSpPr/>
          <p:nvPr/>
        </p:nvSpPr>
        <p:spPr>
          <a:xfrm>
            <a:off x="6172200" y="4892040"/>
            <a:ext cx="2560320" cy="310896"/>
          </a:xfrm>
          <a:prstGeom prst="rect">
            <a:avLst/>
          </a:prstGeom>
          <a:noFill/>
        </p:spPr>
        <p:txBody>
          <a:bodyPr wrap="square" lIns="0" tIns="0" rIns="0" bIns="0" rtlCol="0" anchor="ctr"/>
          <a:lstStyle/>
          <a:p>
            <a:pPr marL="0" indent="0">
              <a:buNone/>
            </a:pPr>
            <a:r>
              <a:rPr lang="en-US" sz="1500" b="1" dirty="0">
                <a:solidFill>
                  <a:srgbClr val="12B886"/>
                </a:solidFill>
                <a:latin typeface="Calibri" panose="020F0502020204030204" pitchFamily="34" charset="0"/>
                <a:ea typeface="Calibri" panose="020F0502020204030204" pitchFamily="34" charset="-122"/>
                <a:cs typeface="Calibri" panose="020F0502020204030204" pitchFamily="34" charset="-120"/>
              </a:rPr>
              <a:t>03</a:t>
            </a:r>
            <a:endParaRPr lang="en-US" sz="1500" dirty="0"/>
          </a:p>
        </p:txBody>
      </p:sp>
      <p:sp>
        <p:nvSpPr>
          <p:cNvPr id="13" name="Text 11"/>
          <p:cNvSpPr/>
          <p:nvPr/>
        </p:nvSpPr>
        <p:spPr>
          <a:xfrm>
            <a:off x="6172200" y="5193792"/>
            <a:ext cx="2560320" cy="310896"/>
          </a:xfrm>
          <a:prstGeom prst="rect">
            <a:avLst/>
          </a:prstGeom>
          <a:noFill/>
        </p:spPr>
        <p:txBody>
          <a:bodyPr wrap="square" lIns="0" tIns="0" rIns="0" bIns="0" rtlCol="0" anchor="ctr"/>
          <a:lstStyle/>
          <a:p>
            <a:pPr marL="0" indent="0">
              <a:buNone/>
            </a:pPr>
            <a:r>
              <a:rPr lang="en-US" sz="1250" dirty="0">
                <a:solidFill>
                  <a:srgbClr val="DCE7EC"/>
                </a:solidFill>
                <a:latin typeface="Calibri" panose="020F0502020204030204" pitchFamily="34" charset="0"/>
                <a:ea typeface="Calibri" panose="020F0502020204030204" pitchFamily="34" charset="-122"/>
                <a:cs typeface="Calibri" panose="020F0502020204030204" pitchFamily="34" charset="-120"/>
              </a:rPr>
              <a:t>Proposed Methodology</a:t>
            </a:r>
            <a:endParaRPr lang="en-US" sz="1250" dirty="0"/>
          </a:p>
        </p:txBody>
      </p:sp>
      <p:sp>
        <p:nvSpPr>
          <p:cNvPr id="14" name="Text 12"/>
          <p:cNvSpPr/>
          <p:nvPr/>
        </p:nvSpPr>
        <p:spPr>
          <a:xfrm>
            <a:off x="8961120" y="4892040"/>
            <a:ext cx="2560320" cy="310896"/>
          </a:xfrm>
          <a:prstGeom prst="rect">
            <a:avLst/>
          </a:prstGeom>
          <a:noFill/>
        </p:spPr>
        <p:txBody>
          <a:bodyPr wrap="square" lIns="0" tIns="0" rIns="0" bIns="0" rtlCol="0" anchor="ctr"/>
          <a:lstStyle/>
          <a:p>
            <a:pPr marL="0" indent="0">
              <a:buNone/>
            </a:pPr>
            <a:r>
              <a:rPr lang="en-US" sz="1500" b="1" dirty="0">
                <a:solidFill>
                  <a:srgbClr val="12B886"/>
                </a:solidFill>
                <a:latin typeface="Calibri" panose="020F0502020204030204" pitchFamily="34" charset="0"/>
                <a:ea typeface="Calibri" panose="020F0502020204030204" pitchFamily="34" charset="-122"/>
                <a:cs typeface="Calibri" panose="020F0502020204030204" pitchFamily="34" charset="-120"/>
              </a:rPr>
              <a:t>04</a:t>
            </a:r>
            <a:endParaRPr lang="en-US" sz="1500" dirty="0"/>
          </a:p>
        </p:txBody>
      </p:sp>
      <p:sp>
        <p:nvSpPr>
          <p:cNvPr id="15" name="Text 13"/>
          <p:cNvSpPr/>
          <p:nvPr/>
        </p:nvSpPr>
        <p:spPr>
          <a:xfrm>
            <a:off x="8961120" y="5193792"/>
            <a:ext cx="2560320" cy="310896"/>
          </a:xfrm>
          <a:prstGeom prst="rect">
            <a:avLst/>
          </a:prstGeom>
          <a:noFill/>
        </p:spPr>
        <p:txBody>
          <a:bodyPr wrap="square" lIns="0" tIns="0" rIns="0" bIns="0" rtlCol="0" anchor="ctr"/>
          <a:lstStyle/>
          <a:p>
            <a:pPr marL="0" indent="0">
              <a:buNone/>
            </a:pPr>
            <a:r>
              <a:rPr lang="en-US" sz="1250" dirty="0">
                <a:solidFill>
                  <a:srgbClr val="DCE7EC"/>
                </a:solidFill>
                <a:latin typeface="Calibri" panose="020F0502020204030204" pitchFamily="34" charset="0"/>
                <a:ea typeface="Calibri" panose="020F0502020204030204" pitchFamily="34" charset="-122"/>
                <a:cs typeface="Calibri" panose="020F0502020204030204" pitchFamily="34" charset="-120"/>
              </a:rPr>
              <a:t>Module and System Design</a:t>
            </a:r>
            <a:endParaRPr lang="en-US" sz="1250" dirty="0"/>
          </a:p>
        </p:txBody>
      </p:sp>
      <p:sp>
        <p:nvSpPr>
          <p:cNvPr id="16" name="Text Box 15"/>
          <p:cNvSpPr txBox="1"/>
          <p:nvPr/>
        </p:nvSpPr>
        <p:spPr>
          <a:xfrm>
            <a:off x="5425440" y="5783580"/>
            <a:ext cx="6096000" cy="706755"/>
          </a:xfrm>
          <a:prstGeom prst="rect">
            <a:avLst/>
          </a:prstGeom>
          <a:noFill/>
        </p:spPr>
        <p:txBody>
          <a:bodyPr wrap="square" rtlCol="0" anchor="t">
            <a:spAutoFit/>
          </a:bodyPr>
          <a:p>
            <a:pPr marL="0" indent="0" algn="r">
              <a:buNone/>
            </a:pPr>
            <a:r>
              <a:rPr lang="en-US" sz="2000" dirty="0">
                <a:solidFill>
                  <a:srgbClr val="DCE7EC"/>
                </a:solidFill>
                <a:latin typeface="Cambria" panose="02040503050406030204" pitchFamily="34" charset="0"/>
                <a:ea typeface="Cambria" panose="02040503050406030204" pitchFamily="34" charset="-122"/>
                <a:cs typeface="Cambria" panose="02040503050406030204" pitchFamily="34" charset="-120"/>
                <a:sym typeface="+mn-ea"/>
              </a:rPr>
              <a:t>Vikrant Jagdish </a:t>
            </a:r>
            <a:r>
              <a:rPr lang="en-US" altLang="en-GB" sz="2000" dirty="0">
                <a:solidFill>
                  <a:srgbClr val="DCE7EC"/>
                </a:solidFill>
                <a:latin typeface="Cambria" panose="02040503050406030204" pitchFamily="34" charset="0"/>
                <a:ea typeface="Cambria" panose="02040503050406030204" pitchFamily="34" charset="-122"/>
                <a:cs typeface="Cambria" panose="02040503050406030204" pitchFamily="34" charset="-120"/>
                <a:sym typeface="+mn-ea"/>
              </a:rPr>
              <a:t>23BCE1851</a:t>
            </a:r>
            <a:endParaRPr lang="en-US" altLang="en-GB" sz="2000" dirty="0">
              <a:solidFill>
                <a:srgbClr val="DCE7EC"/>
              </a:solidFill>
              <a:latin typeface="Cambria" panose="02040503050406030204" pitchFamily="34" charset="0"/>
              <a:ea typeface="Cambria" panose="02040503050406030204" pitchFamily="34" charset="-122"/>
              <a:cs typeface="Cambria" panose="02040503050406030204" pitchFamily="34" charset="-120"/>
              <a:sym typeface="+mn-ea"/>
            </a:endParaRPr>
          </a:p>
          <a:p>
            <a:pPr marL="0" indent="0" algn="r">
              <a:buNone/>
            </a:pPr>
            <a:r>
              <a:rPr lang="en-US" altLang="en-GB" sz="2000" dirty="0">
                <a:solidFill>
                  <a:srgbClr val="DCE7EC"/>
                </a:solidFill>
                <a:latin typeface="Cambria" panose="02040503050406030204" pitchFamily="34" charset="0"/>
                <a:ea typeface="Cambria" panose="02040503050406030204" pitchFamily="34" charset="-122"/>
                <a:cs typeface="Cambria" panose="02040503050406030204" pitchFamily="34" charset="-120"/>
                <a:sym typeface="+mn-ea"/>
              </a:rPr>
              <a:t>Naveen K.M 23BPS1117</a:t>
            </a:r>
            <a:endParaRPr lang="en-US" altLang="en-GB" sz="2000" dirty="0">
              <a:solidFill>
                <a:srgbClr val="DCE7EC"/>
              </a:solidFill>
              <a:latin typeface="Cambria" panose="02040503050406030204" pitchFamily="34" charset="0"/>
              <a:ea typeface="Cambria" panose="02040503050406030204" pitchFamily="34" charset="-122"/>
              <a:cs typeface="Cambria" panose="02040503050406030204" pitchFamily="34" charset="-12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Nobody writes their whole application any more</a:t>
            </a:r>
            <a:endParaRPr lang="en-US" sz="3000" dirty="0"/>
          </a:p>
        </p:txBody>
      </p:sp>
      <p:sp>
        <p:nvSpPr>
          <p:cNvPr id="6" name="Shape 4"/>
          <p:cNvSpPr/>
          <p:nvPr/>
        </p:nvSpPr>
        <p:spPr>
          <a:xfrm>
            <a:off x="594360" y="1691640"/>
            <a:ext cx="4663440" cy="1115568"/>
          </a:xfrm>
          <a:prstGeom prst="roundRect">
            <a:avLst>
              <a:gd name="adj" fmla="val 4918"/>
            </a:avLst>
          </a:prstGeom>
          <a:solidFill>
            <a:srgbClr val="EEF3F5"/>
          </a:solidFill>
          <a:ln w="12700">
            <a:solidFill>
              <a:srgbClr val="E2EAEE"/>
            </a:solidFill>
            <a:prstDash val="solid"/>
          </a:ln>
        </p:spPr>
      </p:sp>
      <p:sp>
        <p:nvSpPr>
          <p:cNvPr id="7" name="Text 5"/>
          <p:cNvSpPr/>
          <p:nvPr/>
        </p:nvSpPr>
        <p:spPr>
          <a:xfrm>
            <a:off x="850392" y="1819656"/>
            <a:ext cx="1828800" cy="548640"/>
          </a:xfrm>
          <a:prstGeom prst="rect">
            <a:avLst/>
          </a:prstGeom>
          <a:noFill/>
        </p:spPr>
        <p:txBody>
          <a:bodyPr wrap="square" lIns="0" tIns="0" rIns="0" bIns="0" rtlCol="0" anchor="ctr"/>
          <a:lstStyle/>
          <a:p>
            <a:pPr marL="0" indent="0">
              <a:buNone/>
            </a:pPr>
            <a:r>
              <a:rPr lang="en-US" sz="3000" b="1" dirty="0">
                <a:solidFill>
                  <a:srgbClr val="0B7A5A"/>
                </a:solidFill>
                <a:latin typeface="Cambria" panose="02040503050406030204" pitchFamily="34" charset="0"/>
                <a:ea typeface="Cambria" panose="02040503050406030204" pitchFamily="34" charset="-122"/>
                <a:cs typeface="Cambria" panose="02040503050406030204" pitchFamily="34" charset="-120"/>
              </a:rPr>
              <a:t>1,000+</a:t>
            </a:r>
            <a:endParaRPr lang="en-US" sz="3000" dirty="0"/>
          </a:p>
        </p:txBody>
      </p:sp>
      <p:sp>
        <p:nvSpPr>
          <p:cNvPr id="8" name="Text 6"/>
          <p:cNvSpPr/>
          <p:nvPr/>
        </p:nvSpPr>
        <p:spPr>
          <a:xfrm>
            <a:off x="2697480" y="1819656"/>
            <a:ext cx="2377440" cy="868680"/>
          </a:xfrm>
          <a:prstGeom prst="rect">
            <a:avLst/>
          </a:prstGeom>
          <a:noFill/>
        </p:spPr>
        <p:txBody>
          <a:bodyPr wrap="square" lIns="0" tIns="0" rIns="0" bIns="0" rtlCol="0" anchor="ctr"/>
          <a:lstStyle/>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packages installed by</a:t>
            </a:r>
            <a:endParaRPr lang="en-US" sz="1200" dirty="0"/>
          </a:p>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a typical Node project</a:t>
            </a:r>
            <a:endParaRPr lang="en-US" sz="1200" dirty="0"/>
          </a:p>
        </p:txBody>
      </p:sp>
      <p:sp>
        <p:nvSpPr>
          <p:cNvPr id="9" name="Shape 7"/>
          <p:cNvSpPr/>
          <p:nvPr/>
        </p:nvSpPr>
        <p:spPr>
          <a:xfrm>
            <a:off x="594360" y="2990088"/>
            <a:ext cx="4663440" cy="1115568"/>
          </a:xfrm>
          <a:prstGeom prst="roundRect">
            <a:avLst>
              <a:gd name="adj" fmla="val 4918"/>
            </a:avLst>
          </a:prstGeom>
          <a:solidFill>
            <a:srgbClr val="EEF3F5"/>
          </a:solidFill>
          <a:ln w="12700">
            <a:solidFill>
              <a:srgbClr val="E2EAEE"/>
            </a:solidFill>
            <a:prstDash val="solid"/>
          </a:ln>
        </p:spPr>
      </p:sp>
      <p:sp>
        <p:nvSpPr>
          <p:cNvPr id="10" name="Text 8"/>
          <p:cNvSpPr/>
          <p:nvPr/>
        </p:nvSpPr>
        <p:spPr>
          <a:xfrm>
            <a:off x="850392" y="3118104"/>
            <a:ext cx="1828800" cy="548640"/>
          </a:xfrm>
          <a:prstGeom prst="rect">
            <a:avLst/>
          </a:prstGeom>
          <a:noFill/>
        </p:spPr>
        <p:txBody>
          <a:bodyPr wrap="square" lIns="0" tIns="0" rIns="0" bIns="0" rtlCol="0" anchor="ctr"/>
          <a:lstStyle/>
          <a:p>
            <a:pPr marL="0" indent="0">
              <a:buNone/>
            </a:pPr>
            <a:r>
              <a:rPr lang="en-US" sz="3000" b="1" dirty="0">
                <a:solidFill>
                  <a:srgbClr val="0B7A5A"/>
                </a:solidFill>
                <a:latin typeface="Cambria" panose="02040503050406030204" pitchFamily="34" charset="0"/>
                <a:ea typeface="Cambria" panose="02040503050406030204" pitchFamily="34" charset="-122"/>
                <a:cs typeface="Cambria" panose="02040503050406030204" pitchFamily="34" charset="-120"/>
              </a:rPr>
              <a:t>200-400</a:t>
            </a:r>
            <a:endParaRPr lang="en-US" sz="3000" dirty="0"/>
          </a:p>
        </p:txBody>
      </p:sp>
      <p:sp>
        <p:nvSpPr>
          <p:cNvPr id="11" name="Text 9"/>
          <p:cNvSpPr/>
          <p:nvPr/>
        </p:nvSpPr>
        <p:spPr>
          <a:xfrm>
            <a:off x="2697480" y="3118104"/>
            <a:ext cx="2377440" cy="868680"/>
          </a:xfrm>
          <a:prstGeom prst="rect">
            <a:avLst/>
          </a:prstGeom>
          <a:noFill/>
        </p:spPr>
        <p:txBody>
          <a:bodyPr wrap="square" lIns="0" tIns="0" rIns="0" bIns="0" rtlCol="0" anchor="ctr"/>
          <a:lstStyle/>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packages installed by</a:t>
            </a:r>
            <a:endParaRPr lang="en-US" sz="1200" dirty="0"/>
          </a:p>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a typical Python project</a:t>
            </a:r>
            <a:endParaRPr lang="en-US" sz="1200" dirty="0"/>
          </a:p>
        </p:txBody>
      </p:sp>
      <p:sp>
        <p:nvSpPr>
          <p:cNvPr id="12" name="Shape 10"/>
          <p:cNvSpPr/>
          <p:nvPr/>
        </p:nvSpPr>
        <p:spPr>
          <a:xfrm>
            <a:off x="594360" y="4288536"/>
            <a:ext cx="4663440" cy="1115568"/>
          </a:xfrm>
          <a:prstGeom prst="roundRect">
            <a:avLst>
              <a:gd name="adj" fmla="val 4918"/>
            </a:avLst>
          </a:prstGeom>
          <a:solidFill>
            <a:srgbClr val="EEF3F5"/>
          </a:solidFill>
          <a:ln w="12700">
            <a:solidFill>
              <a:srgbClr val="E2EAEE"/>
            </a:solidFill>
            <a:prstDash val="solid"/>
          </a:ln>
        </p:spPr>
      </p:sp>
      <p:sp>
        <p:nvSpPr>
          <p:cNvPr id="13" name="Text 11"/>
          <p:cNvSpPr/>
          <p:nvPr/>
        </p:nvSpPr>
        <p:spPr>
          <a:xfrm>
            <a:off x="850392" y="4416552"/>
            <a:ext cx="1828800" cy="548640"/>
          </a:xfrm>
          <a:prstGeom prst="rect">
            <a:avLst/>
          </a:prstGeom>
          <a:noFill/>
        </p:spPr>
        <p:txBody>
          <a:bodyPr wrap="square" lIns="0" tIns="0" rIns="0" bIns="0" rtlCol="0" anchor="ctr"/>
          <a:lstStyle/>
          <a:p>
            <a:pPr marL="0" indent="0">
              <a:buNone/>
            </a:pPr>
            <a:r>
              <a:rPr lang="en-US" sz="3000" b="1" dirty="0">
                <a:solidFill>
                  <a:srgbClr val="0B7A5A"/>
                </a:solidFill>
                <a:latin typeface="Cambria" panose="02040503050406030204" pitchFamily="34" charset="0"/>
                <a:ea typeface="Cambria" panose="02040503050406030204" pitchFamily="34" charset="-122"/>
                <a:cs typeface="Cambria" panose="02040503050406030204" pitchFamily="34" charset="-120"/>
              </a:rPr>
              <a:t>Full</a:t>
            </a:r>
            <a:endParaRPr lang="en-US" sz="3000" dirty="0"/>
          </a:p>
        </p:txBody>
      </p:sp>
      <p:sp>
        <p:nvSpPr>
          <p:cNvPr id="14" name="Text 12"/>
          <p:cNvSpPr/>
          <p:nvPr/>
        </p:nvSpPr>
        <p:spPr>
          <a:xfrm>
            <a:off x="2697480" y="4416552"/>
            <a:ext cx="2377440" cy="868680"/>
          </a:xfrm>
          <a:prstGeom prst="rect">
            <a:avLst/>
          </a:prstGeom>
          <a:noFill/>
        </p:spPr>
        <p:txBody>
          <a:bodyPr wrap="square" lIns="0" tIns="0" rIns="0" bIns="0" rtlCol="0" anchor="ctr"/>
          <a:lstStyle/>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privileges each one gets</a:t>
            </a:r>
            <a:endParaRPr lang="en-US" sz="1200" dirty="0"/>
          </a:p>
          <a:p>
            <a:pPr marL="0" indent="0">
              <a:buNone/>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on your machine</a:t>
            </a:r>
            <a:endParaRPr lang="en-US" sz="1200" dirty="0"/>
          </a:p>
        </p:txBody>
      </p:sp>
      <p:sp>
        <p:nvSpPr>
          <p:cNvPr id="15" name="Text 13"/>
          <p:cNvSpPr/>
          <p:nvPr/>
        </p:nvSpPr>
        <p:spPr>
          <a:xfrm>
            <a:off x="5806440" y="1691640"/>
            <a:ext cx="5760720" cy="329184"/>
          </a:xfrm>
          <a:prstGeom prst="rect">
            <a:avLst/>
          </a:prstGeom>
          <a:noFill/>
        </p:spPr>
        <p:txBody>
          <a:bodyPr wrap="square" lIns="0" tIns="0" rIns="0" bIns="0" rtlCol="0" anchor="ctr"/>
          <a:lstStyle/>
          <a:p>
            <a:pPr marL="0" indent="0">
              <a:buNone/>
            </a:pPr>
            <a:r>
              <a:rPr lang="en-US" sz="1300" b="1" kern="0" spc="80" dirty="0">
                <a:solidFill>
                  <a:srgbClr val="1B2A33"/>
                </a:solidFill>
                <a:latin typeface="Calibri" panose="020F0502020204030204" pitchFamily="34" charset="0"/>
                <a:ea typeface="Calibri" panose="020F0502020204030204" pitchFamily="34" charset="-122"/>
                <a:cs typeface="Calibri" panose="020F0502020204030204" pitchFamily="34" charset="-120"/>
              </a:rPr>
              <a:t>Why it is easy to attack</a:t>
            </a:r>
            <a:endParaRPr lang="en-US" sz="1300" dirty="0"/>
          </a:p>
        </p:txBody>
      </p:sp>
      <p:sp>
        <p:nvSpPr>
          <p:cNvPr id="16" name="Shape 14"/>
          <p:cNvSpPr/>
          <p:nvPr/>
        </p:nvSpPr>
        <p:spPr>
          <a:xfrm>
            <a:off x="5806440" y="2139696"/>
            <a:ext cx="237744" cy="237744"/>
          </a:xfrm>
          <a:prstGeom prst="ellipse">
            <a:avLst/>
          </a:prstGeom>
          <a:solidFill>
            <a:srgbClr val="12B886"/>
          </a:solidFill>
        </p:spPr>
      </p:sp>
      <p:sp>
        <p:nvSpPr>
          <p:cNvPr id="17" name="Text 15"/>
          <p:cNvSpPr/>
          <p:nvPr/>
        </p:nvSpPr>
        <p:spPr>
          <a:xfrm>
            <a:off x="6172200" y="2103120"/>
            <a:ext cx="5394960" cy="292608"/>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Code runs when you install</a:t>
            </a:r>
            <a:endParaRPr lang="en-US" sz="1250" dirty="0"/>
          </a:p>
        </p:txBody>
      </p:sp>
      <p:sp>
        <p:nvSpPr>
          <p:cNvPr id="18" name="Text 16"/>
          <p:cNvSpPr/>
          <p:nvPr/>
        </p:nvSpPr>
        <p:spPr>
          <a:xfrm>
            <a:off x="6172200" y="2386584"/>
            <a:ext cx="5394960" cy="566928"/>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npm postinstall hooks and Python setup.py execute before you have run anything yourself.</a:t>
            </a:r>
            <a:endParaRPr lang="en-US" sz="1100" dirty="0"/>
          </a:p>
        </p:txBody>
      </p:sp>
      <p:sp>
        <p:nvSpPr>
          <p:cNvPr id="19" name="Shape 17"/>
          <p:cNvSpPr/>
          <p:nvPr/>
        </p:nvSpPr>
        <p:spPr>
          <a:xfrm>
            <a:off x="5806440" y="3136392"/>
            <a:ext cx="237744" cy="237744"/>
          </a:xfrm>
          <a:prstGeom prst="ellipse">
            <a:avLst/>
          </a:prstGeom>
          <a:solidFill>
            <a:srgbClr val="12B886"/>
          </a:solidFill>
        </p:spPr>
      </p:sp>
      <p:sp>
        <p:nvSpPr>
          <p:cNvPr id="20" name="Text 18"/>
          <p:cNvSpPr/>
          <p:nvPr/>
        </p:nvSpPr>
        <p:spPr>
          <a:xfrm>
            <a:off x="6172200" y="3099816"/>
            <a:ext cx="5394960" cy="292608"/>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You inherit every dependency</a:t>
            </a:r>
            <a:endParaRPr lang="en-US" sz="1250" dirty="0"/>
          </a:p>
        </p:txBody>
      </p:sp>
      <p:sp>
        <p:nvSpPr>
          <p:cNvPr id="21" name="Text 19"/>
          <p:cNvSpPr/>
          <p:nvPr/>
        </p:nvSpPr>
        <p:spPr>
          <a:xfrm>
            <a:off x="6172200" y="3383280"/>
            <a:ext cx="5394960" cy="566928"/>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Trusting one package means trusting its whole tree, and every maintainer in it.</a:t>
            </a:r>
            <a:endParaRPr lang="en-US" sz="1100" dirty="0"/>
          </a:p>
        </p:txBody>
      </p:sp>
      <p:sp>
        <p:nvSpPr>
          <p:cNvPr id="22" name="Shape 20"/>
          <p:cNvSpPr/>
          <p:nvPr/>
        </p:nvSpPr>
        <p:spPr>
          <a:xfrm>
            <a:off x="5806440" y="4133088"/>
            <a:ext cx="237744" cy="237744"/>
          </a:xfrm>
          <a:prstGeom prst="ellipse">
            <a:avLst/>
          </a:prstGeom>
          <a:solidFill>
            <a:srgbClr val="12B886"/>
          </a:solidFill>
        </p:spPr>
      </p:sp>
      <p:sp>
        <p:nvSpPr>
          <p:cNvPr id="23" name="Text 21"/>
          <p:cNvSpPr/>
          <p:nvPr/>
        </p:nvSpPr>
        <p:spPr>
          <a:xfrm>
            <a:off x="6172200" y="4096512"/>
            <a:ext cx="5394960" cy="292608"/>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Anyone can publish</a:t>
            </a:r>
            <a:endParaRPr lang="en-US" sz="1250" dirty="0"/>
          </a:p>
        </p:txBody>
      </p:sp>
      <p:sp>
        <p:nvSpPr>
          <p:cNvPr id="24" name="Text 22"/>
          <p:cNvSpPr/>
          <p:nvPr/>
        </p:nvSpPr>
        <p:spPr>
          <a:xfrm>
            <a:off x="6172200" y="4379976"/>
            <a:ext cx="5394960" cy="566928"/>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No review. Names are handed out first come, first served.</a:t>
            </a:r>
            <a:endParaRPr lang="en-US" sz="1100" dirty="0"/>
          </a:p>
        </p:txBody>
      </p:sp>
      <p:sp>
        <p:nvSpPr>
          <p:cNvPr id="25" name="Shape 23"/>
          <p:cNvSpPr/>
          <p:nvPr/>
        </p:nvSpPr>
        <p:spPr>
          <a:xfrm>
            <a:off x="5806440" y="5129784"/>
            <a:ext cx="237744" cy="237744"/>
          </a:xfrm>
          <a:prstGeom prst="ellipse">
            <a:avLst/>
          </a:prstGeom>
          <a:solidFill>
            <a:srgbClr val="12B886"/>
          </a:solidFill>
        </p:spPr>
      </p:sp>
      <p:sp>
        <p:nvSpPr>
          <p:cNvPr id="26" name="Text 24"/>
          <p:cNvSpPr/>
          <p:nvPr/>
        </p:nvSpPr>
        <p:spPr>
          <a:xfrm>
            <a:off x="6172200" y="5093208"/>
            <a:ext cx="5394960" cy="292608"/>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Names are easy to confuse</a:t>
            </a:r>
            <a:endParaRPr lang="en-US" sz="1250" dirty="0"/>
          </a:p>
        </p:txBody>
      </p:sp>
      <p:sp>
        <p:nvSpPr>
          <p:cNvPr id="27" name="Text 25"/>
          <p:cNvSpPr/>
          <p:nvPr/>
        </p:nvSpPr>
        <p:spPr>
          <a:xfrm>
            <a:off x="6172200" y="5376672"/>
            <a:ext cx="5394960" cy="566928"/>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Very few people spot the difference between python-dateutil and python-dateutils.</a:t>
            </a:r>
            <a:endParaRPr lang="en-US" sz="1100" dirty="0"/>
          </a:p>
        </p:txBody>
      </p:sp>
      <p:sp>
        <p:nvSpPr>
          <p:cNvPr id="28" name="Text 26"/>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This keeps happening to real projects</a:t>
            </a:r>
            <a:endParaRPr lang="en-US" sz="3000" dirty="0"/>
          </a:p>
        </p:txBody>
      </p:sp>
      <p:graphicFrame>
        <p:nvGraphicFramePr>
          <p:cNvPr id="6" name="Table 0"/>
          <p:cNvGraphicFramePr>
            <a:graphicFrameLocks noGrp="1"/>
          </p:cNvGraphicFramePr>
          <p:nvPr/>
        </p:nvGraphicFramePr>
        <p:xfrm>
          <a:off x="594360" y="1691640"/>
          <a:ext cx="10972800" cy="2743200"/>
        </p:xfrm>
        <a:graphic>
          <a:graphicData uri="http://schemas.openxmlformats.org/drawingml/2006/table">
            <a:tbl>
              <a:tblPr/>
              <a:tblGrid>
                <a:gridCol w="1920240"/>
                <a:gridCol w="777240"/>
                <a:gridCol w="4114800"/>
                <a:gridCol w="4160520"/>
              </a:tblGrid>
              <a:tr h="457200">
                <a:tc>
                  <a:txBody>
                    <a:bodyP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Package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Year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How it got in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What it did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57200">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event-stream</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2018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Maintainer handed it to a stranger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Stole Bitcoin wallets. 2M a week.</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57200">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ua-parser-js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2021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Maintainer account was compromised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Cryptominer and password stealer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57200">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ctx</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2022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Abandoned package name was taken over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Sent AWS keys to the attacker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57200">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torchtriton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2022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Dependency confusion against PyTorch</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Uploaded SSH keys and /etc/passwd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57200">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XZ Utils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2024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Two years of social engineering</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Almost backdoored SSH everywhere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bl>
          </a:graphicData>
        </a:graphic>
      </p:graphicFrame>
      <p:sp>
        <p:nvSpPr>
          <p:cNvPr id="7" name="Shape 4"/>
          <p:cNvSpPr/>
          <p:nvPr/>
        </p:nvSpPr>
        <p:spPr>
          <a:xfrm>
            <a:off x="594360" y="5029200"/>
            <a:ext cx="10972800" cy="822960"/>
          </a:xfrm>
          <a:prstGeom prst="roundRect">
            <a:avLst>
              <a:gd name="adj" fmla="val 6667"/>
            </a:avLst>
          </a:prstGeom>
          <a:solidFill>
            <a:srgbClr val="EEF3F5"/>
          </a:solidFill>
          <a:ln w="12700">
            <a:solidFill>
              <a:srgbClr val="E2EAEE"/>
            </a:solidFill>
            <a:prstDash val="solid"/>
          </a:ln>
        </p:spPr>
      </p:sp>
      <p:sp>
        <p:nvSpPr>
          <p:cNvPr id="8" name="Text 5"/>
          <p:cNvSpPr/>
          <p:nvPr/>
        </p:nvSpPr>
        <p:spPr>
          <a:xfrm>
            <a:off x="868680" y="5029200"/>
            <a:ext cx="10424160" cy="822960"/>
          </a:xfrm>
          <a:prstGeom prst="rect">
            <a:avLst/>
          </a:prstGeom>
          <a:noFill/>
        </p:spPr>
        <p:txBody>
          <a:bodyPr wrap="square" lIns="0" tIns="0" rIns="0" bIns="0" rtlCol="0" anchor="ctr"/>
          <a:lstStyle/>
          <a:p>
            <a:pPr marL="0" indent="0">
              <a:buNone/>
            </a:pPr>
            <a:r>
              <a:rPr lang="en-US" sz="1300" dirty="0">
                <a:solidFill>
                  <a:srgbClr val="1B2A33"/>
                </a:solidFill>
                <a:latin typeface="Calibri" panose="020F0502020204030204" pitchFamily="34" charset="0"/>
                <a:ea typeface="Calibri" panose="020F0502020204030204" pitchFamily="34" charset="-122"/>
                <a:cs typeface="Calibri" panose="020F0502020204030204" pitchFamily="34" charset="-120"/>
              </a:rPr>
              <a:t>None of these were clever zero days. They were the normal way the ecosystem works, turned against the people using it.</a:t>
            </a:r>
            <a:endParaRPr lang="en-US" sz="1300" dirty="0"/>
          </a:p>
        </p:txBody>
      </p:sp>
      <p:sp>
        <p:nvSpPr>
          <p:cNvPr id="9" name="Text 6"/>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Two different problems, and both are unsolved</a:t>
            </a:r>
            <a:endParaRPr lang="en-US" sz="3000" dirty="0"/>
          </a:p>
        </p:txBody>
      </p:sp>
      <p:sp>
        <p:nvSpPr>
          <p:cNvPr id="6" name="Shape 4"/>
          <p:cNvSpPr/>
          <p:nvPr/>
        </p:nvSpPr>
        <p:spPr>
          <a:xfrm>
            <a:off x="594360" y="1645920"/>
            <a:ext cx="5166360" cy="4160520"/>
          </a:xfrm>
          <a:prstGeom prst="roundRect">
            <a:avLst>
              <a:gd name="adj" fmla="val 1319"/>
            </a:avLst>
          </a:prstGeom>
          <a:solidFill>
            <a:srgbClr val="FFFFFF"/>
          </a:solidFill>
          <a:ln w="12700">
            <a:solidFill>
              <a:srgbClr val="E2EAEE"/>
            </a:solidFill>
            <a:prstDash val="solid"/>
          </a:ln>
        </p:spPr>
      </p:sp>
      <p:sp>
        <p:nvSpPr>
          <p:cNvPr id="7" name="Text 5"/>
          <p:cNvSpPr/>
          <p:nvPr/>
        </p:nvSpPr>
        <p:spPr>
          <a:xfrm>
            <a:off x="914400" y="1828800"/>
            <a:ext cx="2743200" cy="256032"/>
          </a:xfrm>
          <a:prstGeom prst="rect">
            <a:avLst/>
          </a:prstGeom>
          <a:noFill/>
        </p:spPr>
        <p:txBody>
          <a:bodyPr wrap="square" lIns="0" tIns="0" rIns="0" bIns="0" rtlCol="0" anchor="ctr"/>
          <a:lstStyle/>
          <a:p>
            <a:pPr marL="0" indent="0">
              <a:buNone/>
            </a:pPr>
            <a:r>
              <a:rPr lang="en-US" sz="1050" b="1" kern="0" spc="180" dirty="0">
                <a:solidFill>
                  <a:srgbClr val="D64545"/>
                </a:solidFill>
                <a:latin typeface="Calibri" panose="020F0502020204030204" pitchFamily="34" charset="0"/>
                <a:ea typeface="Calibri" panose="020F0502020204030204" pitchFamily="34" charset="-122"/>
                <a:cs typeface="Calibri" panose="020F0502020204030204" pitchFamily="34" charset="-120"/>
              </a:rPr>
              <a:t>PROBLEM A</a:t>
            </a:r>
            <a:endParaRPr lang="en-US" sz="1050" dirty="0"/>
          </a:p>
        </p:txBody>
      </p:sp>
      <p:sp>
        <p:nvSpPr>
          <p:cNvPr id="8" name="Text 6"/>
          <p:cNvSpPr/>
          <p:nvPr/>
        </p:nvSpPr>
        <p:spPr>
          <a:xfrm>
            <a:off x="914400" y="2121408"/>
            <a:ext cx="4526280" cy="685800"/>
          </a:xfrm>
          <a:prstGeom prst="rect">
            <a:avLst/>
          </a:prstGeom>
          <a:noFill/>
        </p:spPr>
        <p:txBody>
          <a:bodyPr wrap="square" lIns="0" tIns="0" rIns="0" bIns="0" rtlCol="0" anchor="ctr"/>
          <a:lstStyle/>
          <a:p>
            <a:pPr marL="0" indent="0">
              <a:buNone/>
            </a:pPr>
            <a:r>
              <a:rPr lang="en-US" sz="1700" b="1" dirty="0">
                <a:solidFill>
                  <a:srgbClr val="1B2A33"/>
                </a:solidFill>
                <a:latin typeface="Cambria" panose="02040503050406030204" pitchFamily="34" charset="0"/>
                <a:ea typeface="Cambria" panose="02040503050406030204" pitchFamily="34" charset="-122"/>
                <a:cs typeface="Cambria" panose="02040503050406030204" pitchFamily="34" charset="-120"/>
              </a:rPr>
              <a:t>Some packages are malicious on purpose</a:t>
            </a:r>
            <a:endParaRPr lang="en-US" sz="1700" dirty="0"/>
          </a:p>
        </p:txBody>
      </p:sp>
      <p:sp>
        <p:nvSpPr>
          <p:cNvPr id="9" name="Text 7"/>
          <p:cNvSpPr/>
          <p:nvPr/>
        </p:nvSpPr>
        <p:spPr>
          <a:xfrm>
            <a:off x="914400" y="2880360"/>
            <a:ext cx="4526280" cy="1828800"/>
          </a:xfrm>
          <a:prstGeom prst="rect">
            <a:avLst/>
          </a:prstGeom>
          <a:noFill/>
        </p:spPr>
        <p:txBody>
          <a:bodyPr wrap="square" lIns="0" tIns="0" rIns="0" bIns="0" rtlCol="0" anchor="ctr"/>
          <a:lstStyle/>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The payload usually runs at install time and steals credentials, wallets or SSH keys.</a:t>
            </a:r>
            <a:endParaRPr lang="en-US" sz="1200" dirty="0"/>
          </a:p>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Antivirus does not help. Every malicious package is brand new, and most are taken down within days.</a:t>
            </a:r>
            <a:endParaRPr lang="en-US" sz="1200" dirty="0"/>
          </a:p>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By the time a signature exists, the damage is done.</a:t>
            </a:r>
            <a:endParaRPr lang="en-US" sz="1200" dirty="0"/>
          </a:p>
        </p:txBody>
      </p:sp>
      <p:sp>
        <p:nvSpPr>
          <p:cNvPr id="10" name="Text 8"/>
          <p:cNvSpPr/>
          <p:nvPr/>
        </p:nvSpPr>
        <p:spPr>
          <a:xfrm>
            <a:off x="914400" y="4956048"/>
            <a:ext cx="4526280" cy="640080"/>
          </a:xfrm>
          <a:prstGeom prst="rect">
            <a:avLst/>
          </a:prstGeom>
          <a:noFill/>
        </p:spPr>
        <p:txBody>
          <a:bodyPr wrap="square" lIns="0" tIns="0" rIns="0" bIns="0" rtlCol="0" anchor="ctr"/>
          <a:lstStyle/>
          <a:p>
            <a:pPr marL="0" indent="0">
              <a:buNone/>
            </a:pPr>
            <a:r>
              <a:rPr lang="en-US" sz="1150" i="1" dirty="0">
                <a:solidFill>
                  <a:srgbClr val="0B7A5A"/>
                </a:solidFill>
                <a:latin typeface="Calibri" panose="020F0502020204030204" pitchFamily="34" charset="0"/>
                <a:ea typeface="Calibri" panose="020F0502020204030204" pitchFamily="34" charset="-122"/>
                <a:cs typeface="Calibri" panose="020F0502020204030204" pitchFamily="34" charset="-120"/>
              </a:rPr>
              <a:t>Detection has to work from behaviour, not from a list of known bad files.</a:t>
            </a:r>
            <a:endParaRPr lang="en-US" sz="1150" dirty="0"/>
          </a:p>
        </p:txBody>
      </p:sp>
      <p:sp>
        <p:nvSpPr>
          <p:cNvPr id="11" name="Shape 9"/>
          <p:cNvSpPr/>
          <p:nvPr/>
        </p:nvSpPr>
        <p:spPr>
          <a:xfrm>
            <a:off x="6400800" y="1645920"/>
            <a:ext cx="5166360" cy="4160520"/>
          </a:xfrm>
          <a:prstGeom prst="roundRect">
            <a:avLst>
              <a:gd name="adj" fmla="val 1319"/>
            </a:avLst>
          </a:prstGeom>
          <a:solidFill>
            <a:srgbClr val="FFFFFF"/>
          </a:solidFill>
          <a:ln w="12700">
            <a:solidFill>
              <a:srgbClr val="E2EAEE"/>
            </a:solidFill>
            <a:prstDash val="solid"/>
          </a:ln>
        </p:spPr>
      </p:sp>
      <p:sp>
        <p:nvSpPr>
          <p:cNvPr id="12" name="Text 10"/>
          <p:cNvSpPr/>
          <p:nvPr/>
        </p:nvSpPr>
        <p:spPr>
          <a:xfrm>
            <a:off x="6720840" y="1828800"/>
            <a:ext cx="2743200" cy="256032"/>
          </a:xfrm>
          <a:prstGeom prst="rect">
            <a:avLst/>
          </a:prstGeom>
          <a:noFill/>
        </p:spPr>
        <p:txBody>
          <a:bodyPr wrap="square" lIns="0" tIns="0" rIns="0" bIns="0" rtlCol="0" anchor="ctr"/>
          <a:lstStyle/>
          <a:p>
            <a:pPr marL="0" indent="0">
              <a:buNone/>
            </a:pPr>
            <a:r>
              <a:rPr lang="en-US" sz="1050" b="1" kern="0" spc="180" dirty="0">
                <a:solidFill>
                  <a:srgbClr val="C88A1E"/>
                </a:solidFill>
                <a:latin typeface="Calibri" panose="020F0502020204030204" pitchFamily="34" charset="0"/>
                <a:ea typeface="Calibri" panose="020F0502020204030204" pitchFamily="34" charset="-122"/>
                <a:cs typeface="Calibri" panose="020F0502020204030204" pitchFamily="34" charset="-120"/>
              </a:rPr>
              <a:t>PROBLEM B</a:t>
            </a:r>
            <a:endParaRPr lang="en-US" sz="1050" dirty="0"/>
          </a:p>
        </p:txBody>
      </p:sp>
      <p:sp>
        <p:nvSpPr>
          <p:cNvPr id="13" name="Text 11"/>
          <p:cNvSpPr/>
          <p:nvPr/>
        </p:nvSpPr>
        <p:spPr>
          <a:xfrm>
            <a:off x="6720840" y="2121408"/>
            <a:ext cx="4526280" cy="685800"/>
          </a:xfrm>
          <a:prstGeom prst="rect">
            <a:avLst/>
          </a:prstGeom>
          <a:noFill/>
        </p:spPr>
        <p:txBody>
          <a:bodyPr wrap="square" lIns="0" tIns="0" rIns="0" bIns="0" rtlCol="0" anchor="ctr"/>
          <a:lstStyle/>
          <a:p>
            <a:pPr marL="0" indent="0">
              <a:buNone/>
            </a:pPr>
            <a:r>
              <a:rPr lang="en-US" sz="1700" b="1" dirty="0">
                <a:solidFill>
                  <a:srgbClr val="1B2A33"/>
                </a:solidFill>
                <a:latin typeface="Cambria" panose="02040503050406030204" pitchFamily="34" charset="0"/>
                <a:ea typeface="Cambria" panose="02040503050406030204" pitchFamily="34" charset="-122"/>
                <a:cs typeface="Cambria" panose="02040503050406030204" pitchFamily="34" charset="-120"/>
              </a:rPr>
              <a:t>Vulnerability reports are too noisy to use</a:t>
            </a:r>
            <a:endParaRPr lang="en-US" sz="1700" dirty="0"/>
          </a:p>
        </p:txBody>
      </p:sp>
      <p:sp>
        <p:nvSpPr>
          <p:cNvPr id="14" name="Text 12"/>
          <p:cNvSpPr/>
          <p:nvPr/>
        </p:nvSpPr>
        <p:spPr>
          <a:xfrm>
            <a:off x="6720840" y="2880360"/>
            <a:ext cx="4526280" cy="1828800"/>
          </a:xfrm>
          <a:prstGeom prst="rect">
            <a:avLst/>
          </a:prstGeom>
          <a:noFill/>
        </p:spPr>
        <p:txBody>
          <a:bodyPr wrap="square" lIns="0" tIns="0" rIns="0" bIns="0" rtlCol="0" anchor="ctr"/>
          <a:lstStyle/>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Scanners match versions against a CVE database and report every hit. A real project gets 150 to 300 findings.</a:t>
            </a:r>
            <a:endParaRPr lang="en-US" sz="1200" dirty="0"/>
          </a:p>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Nobody can triage 300 items, so most teams triage none of them.</a:t>
            </a:r>
            <a:endParaRPr lang="en-US" sz="1200" dirty="0"/>
          </a:p>
          <a:p>
            <a:pPr marL="342900" indent="-342900">
              <a:spcAft>
                <a:spcPts val="800"/>
              </a:spcAft>
              <a:buSzPct val="100000"/>
              <a:buChar char="•"/>
            </a:pPr>
            <a:r>
              <a:rPr lang="en-US" sz="1200" dirty="0">
                <a:solidFill>
                  <a:srgbClr val="1B2A33"/>
                </a:solidFill>
                <a:latin typeface="Calibri" panose="020F0502020204030204" pitchFamily="34" charset="0"/>
                <a:ea typeface="Calibri" panose="020F0502020204030204" pitchFamily="34" charset="-122"/>
                <a:cs typeface="Calibri" panose="020F0502020204030204" pitchFamily="34" charset="-120"/>
              </a:rPr>
              <a:t>Under 5% of those CVEs are in code the application actually calls.</a:t>
            </a:r>
            <a:endParaRPr lang="en-US" sz="1200" dirty="0"/>
          </a:p>
        </p:txBody>
      </p:sp>
      <p:sp>
        <p:nvSpPr>
          <p:cNvPr id="15" name="Text 13"/>
          <p:cNvSpPr/>
          <p:nvPr/>
        </p:nvSpPr>
        <p:spPr>
          <a:xfrm>
            <a:off x="6720840" y="4956048"/>
            <a:ext cx="4526280" cy="640080"/>
          </a:xfrm>
          <a:prstGeom prst="rect">
            <a:avLst/>
          </a:prstGeom>
          <a:noFill/>
        </p:spPr>
        <p:txBody>
          <a:bodyPr wrap="square" lIns="0" tIns="0" rIns="0" bIns="0" rtlCol="0" anchor="ctr"/>
          <a:lstStyle/>
          <a:p>
            <a:pPr marL="0" indent="0">
              <a:buNone/>
            </a:pPr>
            <a:r>
              <a:rPr lang="en-US" sz="1150" i="1" dirty="0">
                <a:solidFill>
                  <a:srgbClr val="0B7A5A"/>
                </a:solidFill>
                <a:latin typeface="Calibri" panose="020F0502020204030204" pitchFamily="34" charset="0"/>
                <a:ea typeface="Calibri" panose="020F0502020204030204" pitchFamily="34" charset="-122"/>
                <a:cs typeface="Calibri" panose="020F0502020204030204" pitchFamily="34" charset="-120"/>
              </a:rPr>
              <a:t>The job is not finding more issues. It is working out which ones matter.</a:t>
            </a:r>
            <a:endParaRPr lang="en-US" sz="1150" dirty="0"/>
          </a:p>
        </p:txBody>
      </p:sp>
      <p:sp>
        <p:nvSpPr>
          <p:cNvPr id="16" name="Text 14"/>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A38"/>
        </a:solidFill>
        <a:effectLst/>
      </p:bgPr>
    </p:bg>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8FA6B2"/>
                </a:solidFill>
                <a:latin typeface="Calibri" panose="020F0502020204030204" pitchFamily="34" charset="0"/>
                <a:ea typeface="Calibri" panose="020F0502020204030204" pitchFamily="34" charset="-122"/>
                <a:cs typeface="Calibri" panose="020F0502020204030204"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we set out to build</a:t>
            </a:r>
            <a:endParaRPr lang="en-US" sz="3000" dirty="0"/>
          </a:p>
        </p:txBody>
      </p:sp>
      <p:sp>
        <p:nvSpPr>
          <p:cNvPr id="6" name="Shape 4"/>
          <p:cNvSpPr/>
          <p:nvPr/>
        </p:nvSpPr>
        <p:spPr>
          <a:xfrm>
            <a:off x="594360" y="1645920"/>
            <a:ext cx="6035040" cy="3611880"/>
          </a:xfrm>
          <a:prstGeom prst="roundRect">
            <a:avLst>
              <a:gd name="adj" fmla="val 1519"/>
            </a:avLst>
          </a:prstGeom>
          <a:solidFill>
            <a:srgbClr val="0A1E29"/>
          </a:solidFill>
          <a:ln w="12700">
            <a:solidFill>
              <a:srgbClr val="1E3D4D"/>
            </a:solidFill>
            <a:prstDash val="solid"/>
          </a:ln>
        </p:spPr>
      </p:sp>
      <p:sp>
        <p:nvSpPr>
          <p:cNvPr id="7" name="Text 5"/>
          <p:cNvSpPr/>
          <p:nvPr/>
        </p:nvSpPr>
        <p:spPr>
          <a:xfrm>
            <a:off x="914400" y="1828800"/>
            <a:ext cx="4572000" cy="256032"/>
          </a:xfrm>
          <a:prstGeom prst="rect">
            <a:avLst/>
          </a:prstGeom>
          <a:noFill/>
        </p:spPr>
        <p:txBody>
          <a:bodyPr wrap="square" lIns="0" tIns="0" rIns="0" bIns="0" rtlCol="0" anchor="ctr"/>
          <a:lstStyle/>
          <a:p>
            <a:pPr marL="0" indent="0">
              <a:buNone/>
            </a:pPr>
            <a:r>
              <a:rPr lang="en-US" sz="1050" b="1" kern="0" spc="180" dirty="0">
                <a:solidFill>
                  <a:srgbClr val="12B886"/>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050" dirty="0"/>
          </a:p>
        </p:txBody>
      </p:sp>
      <p:sp>
        <p:nvSpPr>
          <p:cNvPr id="8" name="Text 6"/>
          <p:cNvSpPr/>
          <p:nvPr/>
        </p:nvSpPr>
        <p:spPr>
          <a:xfrm>
            <a:off x="914400" y="2176272"/>
            <a:ext cx="5394960" cy="2926080"/>
          </a:xfrm>
          <a:prstGeom prst="rect">
            <a:avLst/>
          </a:prstGeom>
          <a:noFill/>
        </p:spPr>
        <p:txBody>
          <a:bodyPr wrap="square" lIns="0" tIns="0" rIns="0" bIns="0" rtlCol="0" anchor="ctr"/>
          <a:lstStyle/>
          <a:p>
            <a:pPr marL="0" indent="0">
              <a:lnSpc>
                <a:spcPts val="1700"/>
              </a:lnSpc>
              <a:buNone/>
            </a:pPr>
            <a:r>
              <a:rPr lang="en-US" sz="1200" b="1" dirty="0">
                <a:solidFill>
                  <a:srgbClr val="DCE7EC"/>
                </a:solidFill>
                <a:latin typeface="Calibri" panose="020F0502020204030204" pitchFamily="34" charset="0"/>
                <a:ea typeface="Calibri" panose="020F0502020204030204" pitchFamily="34" charset="-122"/>
                <a:cs typeface="Calibri" panose="020F0502020204030204" pitchFamily="34" charset="-120"/>
              </a:rPr>
              <a:t>Given a project and every package it installs:</a:t>
            </a:r>
            <a:endParaRPr lang="en-US" sz="1200" dirty="0"/>
          </a:p>
          <a:p>
            <a:pPr marL="0" indent="0">
              <a:lnSpc>
                <a:spcPts val="1700"/>
              </a:lnSpc>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0" indent="0">
              <a:lnSpc>
                <a:spcPts val="1700"/>
              </a:lnSpc>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A.  Decide whether each package is malicious, without ever running it, and show the evidence.</a:t>
            </a:r>
            <a:endParaRPr lang="en-US" sz="1200" dirty="0"/>
          </a:p>
          <a:p>
            <a:pPr marL="0" indent="0">
              <a:lnSpc>
                <a:spcPts val="1700"/>
              </a:lnSpc>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0" indent="0">
              <a:lnSpc>
                <a:spcPts val="1700"/>
              </a:lnSpc>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B.  For each known vulnerability, decide whether the code can really reach it, and show the call path.</a:t>
            </a:r>
            <a:endParaRPr lang="en-US" sz="1200" dirty="0"/>
          </a:p>
          <a:p>
            <a:pPr marL="0" indent="0">
              <a:lnSpc>
                <a:spcPts val="1700"/>
              </a:lnSpc>
              <a:buNone/>
            </a:pPr>
            <a:r>
              <a:rPr lang="en-US" sz="1200" dirty="0">
                <a:solidFill>
                  <a:srgbClr val="DCE7EC"/>
                </a:solidFill>
                <a:latin typeface="Calibri" panose="020F0502020204030204" pitchFamily="34" charset="0"/>
                <a:ea typeface="Calibri" panose="020F0502020204030204" pitchFamily="34" charset="-122"/>
                <a:cs typeface="Calibri" panose="020F0502020204030204" pitchFamily="34" charset="-120"/>
              </a:rPr>
              <a:t>
</a:t>
            </a:r>
            <a:endParaRPr lang="en-US" sz="1200" dirty="0"/>
          </a:p>
          <a:p>
            <a:pPr marL="0" indent="0">
              <a:lnSpc>
                <a:spcPts val="1700"/>
              </a:lnSpc>
              <a:buNone/>
            </a:pPr>
            <a:r>
              <a:rPr lang="en-US" sz="1200" i="1" dirty="0">
                <a:solidFill>
                  <a:srgbClr val="DCE7EC"/>
                </a:solidFill>
                <a:latin typeface="Calibri" panose="020F0502020204030204" pitchFamily="34" charset="0"/>
                <a:ea typeface="Calibri" panose="020F0502020204030204" pitchFamily="34" charset="-122"/>
                <a:cs typeface="Calibri" panose="020F0502020204030204" pitchFamily="34" charset="-120"/>
              </a:rPr>
              <a:t>When B is unclear we report it as reachable. Missing a real vulnerability is far worse than one extra alert.</a:t>
            </a:r>
            <a:endParaRPr lang="en-US" sz="1200" dirty="0"/>
          </a:p>
        </p:txBody>
      </p:sp>
      <p:sp>
        <p:nvSpPr>
          <p:cNvPr id="9" name="Text 7"/>
          <p:cNvSpPr/>
          <p:nvPr/>
        </p:nvSpPr>
        <p:spPr>
          <a:xfrm>
            <a:off x="7086600" y="1691640"/>
            <a:ext cx="4572000" cy="32004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Objectives, and where each one stands</a:t>
            </a:r>
            <a:endParaRPr lang="en-US" sz="1250" dirty="0"/>
          </a:p>
        </p:txBody>
      </p:sp>
      <p:sp>
        <p:nvSpPr>
          <p:cNvPr id="10" name="Text 8"/>
          <p:cNvSpPr/>
          <p:nvPr>
            <p:custDataLst>
              <p:tags r:id="rId1"/>
            </p:custDataLst>
          </p:nvPr>
        </p:nvSpPr>
        <p:spPr>
          <a:xfrm>
            <a:off x="7086600" y="2157984"/>
            <a:ext cx="2743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1" name="Text 9"/>
          <p:cNvSpPr/>
          <p:nvPr>
            <p:custDataLst>
              <p:tags r:id="rId2"/>
            </p:custDataLst>
          </p:nvPr>
        </p:nvSpPr>
        <p:spPr>
          <a:xfrm>
            <a:off x="7406640" y="2139696"/>
            <a:ext cx="3063240" cy="365760"/>
          </a:xfrm>
          <a:prstGeom prst="rect">
            <a:avLst/>
          </a:prstGeom>
          <a:noFill/>
        </p:spPr>
        <p:txBody>
          <a:bodyPr wrap="square" lIns="0" tIns="0" rIns="0" bIns="0" rtlCol="0" anchor="ctr"/>
          <a:lstStyle/>
          <a:p>
            <a:pPr marL="0" indent="0">
              <a:buNone/>
            </a:pPr>
            <a:r>
              <a:rPr lang="en-US" sz="1150" dirty="0">
                <a:solidFill>
                  <a:srgbClr val="DCE7EC"/>
                </a:solidFill>
                <a:latin typeface="Calibri" panose="020F0502020204030204" pitchFamily="34" charset="0"/>
                <a:ea typeface="Calibri" panose="020F0502020204030204" pitchFamily="34" charset="-122"/>
                <a:cs typeface="Calibri" panose="020F0502020204030204" pitchFamily="34" charset="-120"/>
              </a:rPr>
              <a:t>Read packages without running them</a:t>
            </a:r>
            <a:endParaRPr lang="en-US" sz="1150" dirty="0"/>
          </a:p>
        </p:txBody>
      </p:sp>
      <p:sp>
        <p:nvSpPr>
          <p:cNvPr id="14" name="Text 12"/>
          <p:cNvSpPr/>
          <p:nvPr>
            <p:custDataLst>
              <p:tags r:id="rId3"/>
            </p:custDataLst>
          </p:nvPr>
        </p:nvSpPr>
        <p:spPr>
          <a:xfrm>
            <a:off x="7086600" y="2816352"/>
            <a:ext cx="2743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5" name="Text 13"/>
          <p:cNvSpPr/>
          <p:nvPr>
            <p:custDataLst>
              <p:tags r:id="rId4"/>
            </p:custDataLst>
          </p:nvPr>
        </p:nvSpPr>
        <p:spPr>
          <a:xfrm>
            <a:off x="7406640" y="2798064"/>
            <a:ext cx="3063240" cy="365760"/>
          </a:xfrm>
          <a:prstGeom prst="rect">
            <a:avLst/>
          </a:prstGeom>
          <a:noFill/>
        </p:spPr>
        <p:txBody>
          <a:bodyPr wrap="square" lIns="0" tIns="0" rIns="0" bIns="0" rtlCol="0" anchor="ctr"/>
          <a:lstStyle/>
          <a:p>
            <a:pPr marL="0" indent="0">
              <a:buNone/>
            </a:pPr>
            <a:r>
              <a:rPr lang="en-US" sz="1150" dirty="0">
                <a:solidFill>
                  <a:srgbClr val="DCE7EC"/>
                </a:solidFill>
                <a:latin typeface="Calibri" panose="020F0502020204030204" pitchFamily="34" charset="0"/>
                <a:ea typeface="Calibri" panose="020F0502020204030204" pitchFamily="34" charset="-122"/>
                <a:cs typeface="Calibri" panose="020F0502020204030204" pitchFamily="34" charset="-120"/>
              </a:rPr>
              <a:t>Train a classifier and test it properly</a:t>
            </a:r>
            <a:endParaRPr lang="en-US" sz="1150" dirty="0"/>
          </a:p>
        </p:txBody>
      </p:sp>
      <p:sp>
        <p:nvSpPr>
          <p:cNvPr id="18" name="Text 16"/>
          <p:cNvSpPr/>
          <p:nvPr>
            <p:custDataLst>
              <p:tags r:id="rId5"/>
            </p:custDataLst>
          </p:nvPr>
        </p:nvSpPr>
        <p:spPr>
          <a:xfrm>
            <a:off x="7086600" y="3474720"/>
            <a:ext cx="2743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9" name="Text 17"/>
          <p:cNvSpPr/>
          <p:nvPr>
            <p:custDataLst>
              <p:tags r:id="rId6"/>
            </p:custDataLst>
          </p:nvPr>
        </p:nvSpPr>
        <p:spPr>
          <a:xfrm>
            <a:off x="7406640" y="3456432"/>
            <a:ext cx="3063240" cy="365760"/>
          </a:xfrm>
          <a:prstGeom prst="rect">
            <a:avLst/>
          </a:prstGeom>
          <a:noFill/>
        </p:spPr>
        <p:txBody>
          <a:bodyPr wrap="square" lIns="0" tIns="0" rIns="0" bIns="0" rtlCol="0" anchor="ctr"/>
          <a:lstStyle/>
          <a:p>
            <a:pPr marL="0" indent="0">
              <a:buNone/>
            </a:pPr>
            <a:r>
              <a:rPr lang="en-US" sz="1150" dirty="0">
                <a:solidFill>
                  <a:srgbClr val="DCE7EC"/>
                </a:solidFill>
                <a:latin typeface="Calibri" panose="020F0502020204030204" pitchFamily="34" charset="0"/>
                <a:ea typeface="Calibri" panose="020F0502020204030204" pitchFamily="34" charset="-122"/>
                <a:cs typeface="Calibri" panose="020F0502020204030204" pitchFamily="34" charset="-120"/>
              </a:rPr>
              <a:t>Separate reachable CVEs from the rest</a:t>
            </a:r>
            <a:endParaRPr lang="en-US" sz="1150" dirty="0"/>
          </a:p>
        </p:txBody>
      </p:sp>
      <p:sp>
        <p:nvSpPr>
          <p:cNvPr id="22" name="Text 20"/>
          <p:cNvSpPr/>
          <p:nvPr>
            <p:custDataLst>
              <p:tags r:id="rId7"/>
            </p:custDataLst>
          </p:nvPr>
        </p:nvSpPr>
        <p:spPr>
          <a:xfrm>
            <a:off x="7086600" y="4133088"/>
            <a:ext cx="2743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3" name="Text 21"/>
          <p:cNvSpPr/>
          <p:nvPr>
            <p:custDataLst>
              <p:tags r:id="rId8"/>
            </p:custDataLst>
          </p:nvPr>
        </p:nvSpPr>
        <p:spPr>
          <a:xfrm>
            <a:off x="7406640" y="4114800"/>
            <a:ext cx="3063240" cy="365760"/>
          </a:xfrm>
          <a:prstGeom prst="rect">
            <a:avLst/>
          </a:prstGeom>
          <a:noFill/>
        </p:spPr>
        <p:txBody>
          <a:bodyPr wrap="square" lIns="0" tIns="0" rIns="0" bIns="0" rtlCol="0" anchor="ctr"/>
          <a:lstStyle/>
          <a:p>
            <a:pPr marL="0" indent="0">
              <a:buNone/>
            </a:pPr>
            <a:r>
              <a:rPr lang="en-US" sz="1150" dirty="0">
                <a:solidFill>
                  <a:srgbClr val="DCE7EC"/>
                </a:solidFill>
                <a:latin typeface="Calibri" panose="020F0502020204030204" pitchFamily="34" charset="0"/>
                <a:ea typeface="Calibri" panose="020F0502020204030204" pitchFamily="34" charset="-122"/>
                <a:cs typeface="Calibri" panose="020F0502020204030204" pitchFamily="34" charset="-120"/>
              </a:rPr>
              <a:t>Measure how much noise we remove</a:t>
            </a:r>
            <a:endParaRPr lang="en-US" sz="1150" dirty="0"/>
          </a:p>
        </p:txBody>
      </p:sp>
      <p:sp>
        <p:nvSpPr>
          <p:cNvPr id="26" name="Text 24"/>
          <p:cNvSpPr/>
          <p:nvPr>
            <p:custDataLst>
              <p:tags r:id="rId9"/>
            </p:custDataLst>
          </p:nvPr>
        </p:nvSpPr>
        <p:spPr>
          <a:xfrm>
            <a:off x="7086600" y="4791456"/>
            <a:ext cx="2743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27" name="Text 25"/>
          <p:cNvSpPr/>
          <p:nvPr>
            <p:custDataLst>
              <p:tags r:id="rId10"/>
            </p:custDataLst>
          </p:nvPr>
        </p:nvSpPr>
        <p:spPr>
          <a:xfrm>
            <a:off x="7406640" y="4773168"/>
            <a:ext cx="3063240" cy="365760"/>
          </a:xfrm>
          <a:prstGeom prst="rect">
            <a:avLst/>
          </a:prstGeom>
          <a:noFill/>
        </p:spPr>
        <p:txBody>
          <a:bodyPr wrap="square" lIns="0" tIns="0" rIns="0" bIns="0" rtlCol="0" anchor="ctr"/>
          <a:lstStyle/>
          <a:p>
            <a:pPr marL="0" indent="0">
              <a:buNone/>
            </a:pPr>
            <a:r>
              <a:rPr lang="en-US" sz="1150" dirty="0">
                <a:solidFill>
                  <a:srgbClr val="DCE7EC"/>
                </a:solidFill>
                <a:latin typeface="Calibri" panose="020F0502020204030204" pitchFamily="34" charset="0"/>
                <a:ea typeface="Calibri" panose="020F0502020204030204" pitchFamily="34" charset="-122"/>
                <a:cs typeface="Calibri" panose="020F0502020204030204" pitchFamily="34" charset="-120"/>
              </a:rPr>
              <a:t>Ship it as a usable tool</a:t>
            </a:r>
            <a:endParaRPr lang="en-US" sz="1150" dirty="0"/>
          </a:p>
        </p:txBody>
      </p:sp>
      <p:sp>
        <p:nvSpPr>
          <p:cNvPr id="29" name="Text 27"/>
          <p:cNvSpPr/>
          <p:nvPr>
            <p:custDataLst>
              <p:tags r:id="rId11"/>
            </p:custDataLst>
          </p:nvPr>
        </p:nvSpPr>
        <p:spPr>
          <a:xfrm>
            <a:off x="10515600" y="4791456"/>
            <a:ext cx="1051560" cy="237744"/>
          </a:xfrm>
          <a:prstGeom prst="rect">
            <a:avLst/>
          </a:prstGeom>
          <a:noFill/>
        </p:spPr>
        <p:txBody>
          <a:bodyPr wrap="square" lIns="0" tIns="0" rIns="0" bIns="0" rtlCol="0" anchor="ctr"/>
          <a:lstStyle/>
          <a:p>
            <a:pPr marL="0" indent="0" algn="ctr">
              <a:buNone/>
            </a:pPr>
            <a:endParaRPr lang="en-US" sz="850" dirty="0"/>
          </a:p>
        </p:txBody>
      </p:sp>
      <p:sp>
        <p:nvSpPr>
          <p:cNvPr id="30" name="Text 28"/>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We read 27 papers, 24 of them from 2023 onwards</a:t>
            </a:r>
            <a:endParaRPr lang="en-US" sz="3000" dirty="0"/>
          </a:p>
        </p:txBody>
      </p:sp>
      <p:graphicFrame>
        <p:nvGraphicFramePr>
          <p:cNvPr id="6" name="Chart 0"/>
          <p:cNvGraphicFramePr/>
          <p:nvPr/>
        </p:nvGraphicFramePr>
        <p:xfrm>
          <a:off x="594360" y="1645920"/>
          <a:ext cx="6035040" cy="32918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 4"/>
          <p:cNvSpPr/>
          <p:nvPr/>
        </p:nvSpPr>
        <p:spPr>
          <a:xfrm>
            <a:off x="6949440" y="1691640"/>
            <a:ext cx="4617720" cy="320040"/>
          </a:xfrm>
          <a:prstGeom prst="rect">
            <a:avLst/>
          </a:prstGeom>
          <a:noFill/>
        </p:spPr>
        <p:txBody>
          <a:bodyPr wrap="square" lIns="0" tIns="0" rIns="0" bIns="0" rtlCol="0" anchor="ctr"/>
          <a:lstStyle/>
          <a:p>
            <a:pPr marL="0" indent="0">
              <a:buNone/>
            </a:pPr>
            <a:r>
              <a:rPr lang="en-US" sz="1300" b="1" dirty="0">
                <a:solidFill>
                  <a:srgbClr val="1B2A33"/>
                </a:solidFill>
                <a:latin typeface="Calibri" panose="020F0502020204030204" pitchFamily="34" charset="0"/>
                <a:ea typeface="Calibri" panose="020F0502020204030204" pitchFamily="34" charset="-122"/>
                <a:cs typeface="Calibri" panose="020F0502020204030204" pitchFamily="34" charset="-120"/>
              </a:rPr>
              <a:t>What the field agrees on</a:t>
            </a:r>
            <a:endParaRPr lang="en-US" sz="1300" dirty="0"/>
          </a:p>
        </p:txBody>
      </p:sp>
      <p:sp>
        <p:nvSpPr>
          <p:cNvPr id="8" name="Text 5"/>
          <p:cNvSpPr/>
          <p:nvPr/>
        </p:nvSpPr>
        <p:spPr>
          <a:xfrm>
            <a:off x="6949440" y="2103120"/>
            <a:ext cx="4617720" cy="274320"/>
          </a:xfrm>
          <a:prstGeom prst="rect">
            <a:avLst/>
          </a:prstGeom>
          <a:noFill/>
        </p:spPr>
        <p:txBody>
          <a:bodyPr wrap="square" lIns="0" tIns="0" rIns="0" bIns="0" rtlCol="0" anchor="ctr"/>
          <a:lstStyle/>
          <a:p>
            <a:pPr marL="0" indent="0">
              <a:buNone/>
            </a:pPr>
            <a:r>
              <a:rPr lang="en-US" sz="1200" b="1" dirty="0">
                <a:solidFill>
                  <a:srgbClr val="0B7A5A"/>
                </a:solidFill>
                <a:latin typeface="Calibri" panose="020F0502020204030204" pitchFamily="34" charset="0"/>
                <a:ea typeface="Calibri" panose="020F0502020204030204" pitchFamily="34" charset="-122"/>
                <a:cs typeface="Calibri" panose="020F0502020204030204" pitchFamily="34" charset="-120"/>
              </a:rPr>
              <a:t>Everyone moved to behaviour</a:t>
            </a:r>
            <a:endParaRPr lang="en-US" sz="1200" dirty="0"/>
          </a:p>
        </p:txBody>
      </p:sp>
      <p:sp>
        <p:nvSpPr>
          <p:cNvPr id="9" name="Text 6"/>
          <p:cNvSpPr/>
          <p:nvPr/>
        </p:nvSpPr>
        <p:spPr>
          <a:xfrm>
            <a:off x="6949440" y="2368296"/>
            <a:ext cx="46177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Signature matching is gone. Detectors now look at what a package does, not what it looks like.</a:t>
            </a:r>
            <a:endParaRPr lang="en-US" sz="1050" dirty="0"/>
          </a:p>
        </p:txBody>
      </p:sp>
      <p:sp>
        <p:nvSpPr>
          <p:cNvPr id="10" name="Text 7"/>
          <p:cNvSpPr/>
          <p:nvPr/>
        </p:nvSpPr>
        <p:spPr>
          <a:xfrm>
            <a:off x="6949440" y="3063240"/>
            <a:ext cx="4617720" cy="274320"/>
          </a:xfrm>
          <a:prstGeom prst="rect">
            <a:avLst/>
          </a:prstGeom>
          <a:noFill/>
        </p:spPr>
        <p:txBody>
          <a:bodyPr wrap="square" lIns="0" tIns="0" rIns="0" bIns="0" rtlCol="0" anchor="ctr"/>
          <a:lstStyle/>
          <a:p>
            <a:pPr marL="0" indent="0">
              <a:buNone/>
            </a:pPr>
            <a:r>
              <a:rPr lang="en-US" sz="1200" b="1" dirty="0">
                <a:solidFill>
                  <a:srgbClr val="0B7A5A"/>
                </a:solidFill>
                <a:latin typeface="Calibri" panose="020F0502020204030204" pitchFamily="34" charset="0"/>
                <a:ea typeface="Calibri" panose="020F0502020204030204" pitchFamily="34" charset="-122"/>
                <a:cs typeface="Calibri" panose="020F0502020204030204" pitchFamily="34" charset="-120"/>
              </a:rPr>
              <a:t>Three approaches, one trade off</a:t>
            </a:r>
            <a:endParaRPr lang="en-US" sz="1200" dirty="0"/>
          </a:p>
        </p:txBody>
      </p:sp>
      <p:sp>
        <p:nvSpPr>
          <p:cNvPr id="11" name="Text 8"/>
          <p:cNvSpPr/>
          <p:nvPr/>
        </p:nvSpPr>
        <p:spPr>
          <a:xfrm>
            <a:off x="6949440" y="3328416"/>
            <a:ext cx="46177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Static ML is cheap and measurable. Sandboxes see more but get evaded. LLMs generalise well but are slow and hard to score.</a:t>
            </a:r>
            <a:endParaRPr lang="en-US" sz="1050" dirty="0"/>
          </a:p>
        </p:txBody>
      </p:sp>
      <p:sp>
        <p:nvSpPr>
          <p:cNvPr id="12" name="Text 9"/>
          <p:cNvSpPr/>
          <p:nvPr/>
        </p:nvSpPr>
        <p:spPr>
          <a:xfrm>
            <a:off x="6949440" y="4023360"/>
            <a:ext cx="4617720" cy="274320"/>
          </a:xfrm>
          <a:prstGeom prst="rect">
            <a:avLst/>
          </a:prstGeom>
          <a:noFill/>
        </p:spPr>
        <p:txBody>
          <a:bodyPr wrap="square" lIns="0" tIns="0" rIns="0" bIns="0" rtlCol="0" anchor="ctr"/>
          <a:lstStyle/>
          <a:p>
            <a:pPr marL="0" indent="0">
              <a:buNone/>
            </a:pPr>
            <a:r>
              <a:rPr lang="en-US" sz="1200" b="1" dirty="0">
                <a:solidFill>
                  <a:srgbClr val="0B7A5A"/>
                </a:solidFill>
                <a:latin typeface="Calibri" panose="020F0502020204030204" pitchFamily="34" charset="0"/>
                <a:ea typeface="Calibri" panose="020F0502020204030204" pitchFamily="34" charset="-122"/>
                <a:cs typeface="Calibri" panose="020F0502020204030204" pitchFamily="34" charset="-120"/>
              </a:rPr>
              <a:t>Attackers are hiding better</a:t>
            </a:r>
            <a:endParaRPr lang="en-US" sz="1200" dirty="0"/>
          </a:p>
        </p:txBody>
      </p:sp>
      <p:sp>
        <p:nvSpPr>
          <p:cNvPr id="13" name="Text 10"/>
          <p:cNvSpPr/>
          <p:nvPr/>
        </p:nvSpPr>
        <p:spPr>
          <a:xfrm>
            <a:off x="6949440" y="4288536"/>
            <a:ext cx="46177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Use of evasion tricks grew 3.8 times between 2020 and 2025.</a:t>
            </a:r>
            <a:endParaRPr lang="en-US" sz="1050" dirty="0"/>
          </a:p>
        </p:txBody>
      </p:sp>
      <p:sp>
        <p:nvSpPr>
          <p:cNvPr id="14" name="Text 11"/>
          <p:cNvSpPr/>
          <p:nvPr/>
        </p:nvSpPr>
        <p:spPr>
          <a:xfrm>
            <a:off x="6949440" y="4983480"/>
            <a:ext cx="4617720" cy="274320"/>
          </a:xfrm>
          <a:prstGeom prst="rect">
            <a:avLst/>
          </a:prstGeom>
          <a:noFill/>
        </p:spPr>
        <p:txBody>
          <a:bodyPr wrap="square" lIns="0" tIns="0" rIns="0" bIns="0" rtlCol="0" anchor="ctr"/>
          <a:lstStyle/>
          <a:p>
            <a:pPr marL="0" indent="0">
              <a:buNone/>
            </a:pPr>
            <a:r>
              <a:rPr lang="en-US" sz="1200" b="1" dirty="0">
                <a:solidFill>
                  <a:srgbClr val="0B7A5A"/>
                </a:solidFill>
                <a:latin typeface="Calibri" panose="020F0502020204030204" pitchFamily="34" charset="0"/>
                <a:ea typeface="Calibri" panose="020F0502020204030204" pitchFamily="34" charset="-122"/>
                <a:cs typeface="Calibri" panose="020F0502020204030204" pitchFamily="34" charset="-120"/>
              </a:rPr>
              <a:t>Datasets are the bottleneck</a:t>
            </a:r>
            <a:endParaRPr lang="en-US" sz="1200" dirty="0"/>
          </a:p>
        </p:txBody>
      </p:sp>
      <p:sp>
        <p:nvSpPr>
          <p:cNvPr id="15" name="Text 12"/>
          <p:cNvSpPr/>
          <p:nvPr/>
        </p:nvSpPr>
        <p:spPr>
          <a:xfrm>
            <a:off x="6949440" y="5248656"/>
            <a:ext cx="46177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 most cited dataset still has only 174 samples.</a:t>
            </a:r>
            <a:endParaRPr lang="en-US" sz="1050" dirty="0"/>
          </a:p>
        </p:txBody>
      </p:sp>
      <p:sp>
        <p:nvSpPr>
          <p:cNvPr id="16" name="Shape 13"/>
          <p:cNvSpPr/>
          <p:nvPr/>
        </p:nvSpPr>
        <p:spPr>
          <a:xfrm>
            <a:off x="594360" y="5212080"/>
            <a:ext cx="6035040" cy="658368"/>
          </a:xfrm>
          <a:prstGeom prst="roundRect">
            <a:avLst>
              <a:gd name="adj" fmla="val 8333"/>
            </a:avLst>
          </a:prstGeom>
          <a:solidFill>
            <a:srgbClr val="EEF3F5"/>
          </a:solidFill>
          <a:ln w="12700">
            <a:solidFill>
              <a:srgbClr val="E2EAEE"/>
            </a:solidFill>
            <a:prstDash val="solid"/>
          </a:ln>
        </p:spPr>
      </p:sp>
      <p:sp>
        <p:nvSpPr>
          <p:cNvPr id="17" name="Text 14"/>
          <p:cNvSpPr/>
          <p:nvPr/>
        </p:nvSpPr>
        <p:spPr>
          <a:xfrm>
            <a:off x="850392" y="5212080"/>
            <a:ext cx="5532120" cy="658368"/>
          </a:xfrm>
          <a:prstGeom prst="rect">
            <a:avLst/>
          </a:prstGeom>
          <a:noFill/>
        </p:spPr>
        <p:txBody>
          <a:bodyPr wrap="square" lIns="0" tIns="0" rIns="0" bIns="0" rtlCol="0" anchor="ctr"/>
          <a:lstStyle/>
          <a:p>
            <a:pPr marL="0" indent="0">
              <a:buNone/>
            </a:pPr>
            <a:r>
              <a:rPr lang="en-US" sz="1100" i="1" dirty="0">
                <a:solidFill>
                  <a:srgbClr val="1B2A33"/>
                </a:solidFill>
                <a:latin typeface="Calibri" panose="020F0502020204030204" pitchFamily="34" charset="0"/>
                <a:ea typeface="Calibri" panose="020F0502020204030204" pitchFamily="34" charset="-122"/>
                <a:cs typeface="Calibri" panose="020F0502020204030204" pitchFamily="34" charset="-120"/>
              </a:rPr>
              <a:t>Every paper was checked against the arXiv API for title, authors and date before we cited it.</a:t>
            </a:r>
            <a:endParaRPr lang="en-US" sz="1100" dirty="0"/>
          </a:p>
        </p:txBody>
      </p:sp>
      <p:sp>
        <p:nvSpPr>
          <p:cNvPr id="18" name="Text 15"/>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The papers that shaped our design</a:t>
            </a:r>
            <a:endParaRPr lang="en-US" sz="3000" dirty="0"/>
          </a:p>
        </p:txBody>
      </p:sp>
      <p:graphicFrame>
        <p:nvGraphicFramePr>
          <p:cNvPr id="8" name="Table 0"/>
          <p:cNvGraphicFramePr>
            <a:graphicFrameLocks noGrp="1"/>
          </p:cNvGraphicFramePr>
          <p:nvPr/>
        </p:nvGraphicFramePr>
        <p:xfrm>
          <a:off x="594360" y="1645920"/>
          <a:ext cx="10972800" cy="3840480"/>
        </p:xfrm>
        <a:graphic>
          <a:graphicData uri="http://schemas.openxmlformats.org/drawingml/2006/table">
            <a:tbl>
              <a:tblPr/>
              <a:tblGrid>
                <a:gridCol w="3200400"/>
                <a:gridCol w="3931920"/>
                <a:gridCol w="3840480"/>
              </a:tblGrid>
              <a:tr h="548640">
                <a:tc>
                  <a:txBody>
                    <a:bodyPr/>
                    <a:lstStyle/>
                    <a:p>
                      <a:pPr marL="0" indent="0">
                        <a:buNone/>
                      </a:pPr>
                      <a:r>
                        <a:rPr lang="en-US" sz="1000" b="1" dirty="0">
                          <a:solidFill>
                            <a:srgbClr val="1B2A33"/>
                          </a:solidFill>
                          <a:latin typeface="Calibri" panose="020F0502020204030204" pitchFamily="34" charset="0"/>
                          <a:ea typeface="Calibri" panose="020F0502020204030204" pitchFamily="34" charset="-122"/>
                          <a:cs typeface="Calibri" panose="020F0502020204030204" pitchFamily="34" charset="-120"/>
                        </a:rPr>
                        <a:t>Paper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b="1" dirty="0">
                          <a:solidFill>
                            <a:srgbClr val="1B2A33"/>
                          </a:solidFill>
                          <a:latin typeface="Calibri" panose="020F0502020204030204" pitchFamily="34" charset="0"/>
                          <a:ea typeface="Calibri" panose="020F0502020204030204" pitchFamily="34" charset="-122"/>
                          <a:cs typeface="Calibri" panose="020F0502020204030204" pitchFamily="34" charset="-120"/>
                        </a:rPr>
                        <a:t>What it gave us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b="1" dirty="0">
                          <a:solidFill>
                            <a:srgbClr val="1B2A33"/>
                          </a:solidFill>
                          <a:latin typeface="Calibri" panose="020F0502020204030204" pitchFamily="34" charset="0"/>
                          <a:ea typeface="Calibri" panose="020F0502020204030204" pitchFamily="34" charset="-122"/>
                          <a:cs typeface="Calibri" panose="020F0502020204030204" pitchFamily="34" charset="-120"/>
                        </a:rPr>
                        <a:t>Where it stops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Ohm et al. 2020</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Backstabber Knife Collection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First real dataset of supply chain attacks. Install hooks are the main way payloads run.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Only 174 samples, and it predates the recent jump in volume.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Zimmermann et al. 2019</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Small World with High Risks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A few npm accounts can reach most of the ecosystem.</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Describes structure. Detects nothing.</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Samaana et al. 2024</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ML for malicious PyPI packages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Closest work to ours. Classical ML over static features.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PyPI only, no reachability. Edit distance alone gives poor typosquat results.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Zahan et al. 2024</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LLMs to detect npm malware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Showed LLMs can spot malicious packages.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Slow, costly, hard to score reliably.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Foo et al. 2019</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Dynamics of Software Composition Analysis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Named reachability as the way to kill false positives.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No implementation released.</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ODonoghue et al. 2025</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SBOM systematic review</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Reviewed 40 studies. False positives still a top barrier.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marL="0" indent="0">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Confirms the gap. Does not solve it.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bl>
          </a:graphicData>
        </a:graphic>
      </p:graphicFrame>
      <p:sp>
        <p:nvSpPr>
          <p:cNvPr id="7" name="Text 4"/>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Four gaps we found, and what we plan to do about each</a:t>
            </a:r>
            <a:endParaRPr lang="en-US" sz="3000" dirty="0"/>
          </a:p>
        </p:txBody>
      </p:sp>
      <p:sp>
        <p:nvSpPr>
          <p:cNvPr id="6" name="Shape 4"/>
          <p:cNvSpPr/>
          <p:nvPr/>
        </p:nvSpPr>
        <p:spPr>
          <a:xfrm>
            <a:off x="594360" y="1645920"/>
            <a:ext cx="5349240" cy="1874520"/>
          </a:xfrm>
          <a:prstGeom prst="roundRect">
            <a:avLst>
              <a:gd name="adj" fmla="val 2927"/>
            </a:avLst>
          </a:prstGeom>
          <a:solidFill>
            <a:srgbClr val="FFFFFF"/>
          </a:solidFill>
          <a:ln w="12700">
            <a:solidFill>
              <a:srgbClr val="E2EAEE"/>
            </a:solidFill>
            <a:prstDash val="solid"/>
          </a:ln>
        </p:spPr>
      </p:sp>
      <p:sp>
        <p:nvSpPr>
          <p:cNvPr id="7" name="Shape 5"/>
          <p:cNvSpPr/>
          <p:nvPr/>
        </p:nvSpPr>
        <p:spPr>
          <a:xfrm>
            <a:off x="868680" y="1901952"/>
            <a:ext cx="457200" cy="274320"/>
          </a:xfrm>
          <a:prstGeom prst="rect">
            <a:avLst/>
          </a:prstGeom>
          <a:solidFill>
            <a:srgbClr val="D64545"/>
          </a:solidFill>
        </p:spPr>
      </p:sp>
      <p:sp>
        <p:nvSpPr>
          <p:cNvPr id="8" name="Text 6"/>
          <p:cNvSpPr/>
          <p:nvPr/>
        </p:nvSpPr>
        <p:spPr>
          <a:xfrm>
            <a:off x="868680" y="1901952"/>
            <a:ext cx="45720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G1</a:t>
            </a:r>
            <a:endParaRPr lang="en-US" sz="1100" dirty="0"/>
          </a:p>
        </p:txBody>
      </p:sp>
      <p:sp>
        <p:nvSpPr>
          <p:cNvPr id="9" name="Text 7"/>
          <p:cNvSpPr/>
          <p:nvPr/>
        </p:nvSpPr>
        <p:spPr>
          <a:xfrm>
            <a:off x="1435608" y="1847088"/>
            <a:ext cx="4297680" cy="41148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Detection and prioritisation are studied separately</a:t>
            </a:r>
            <a:endParaRPr lang="en-US" sz="1250" dirty="0"/>
          </a:p>
        </p:txBody>
      </p:sp>
      <p:sp>
        <p:nvSpPr>
          <p:cNvPr id="10" name="Text 8"/>
          <p:cNvSpPr/>
          <p:nvPr/>
        </p:nvSpPr>
        <p:spPr>
          <a:xfrm>
            <a:off x="868680" y="2331720"/>
            <a:ext cx="4800600" cy="54864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No paper we read does both. A developer needs both on the same project.</a:t>
            </a:r>
            <a:endParaRPr lang="en-US" sz="1050" dirty="0"/>
          </a:p>
        </p:txBody>
      </p:sp>
      <p:sp>
        <p:nvSpPr>
          <p:cNvPr id="11" name="Text 9"/>
          <p:cNvSpPr/>
          <p:nvPr/>
        </p:nvSpPr>
        <p:spPr>
          <a:xfrm>
            <a:off x="868680" y="2880360"/>
            <a:ext cx="4800600" cy="502920"/>
          </a:xfrm>
          <a:prstGeom prst="rect">
            <a:avLst/>
          </a:prstGeom>
          <a:noFill/>
        </p:spPr>
        <p:txBody>
          <a:bodyPr wrap="square" lIns="0" tIns="0" rIns="0" bIns="0" rtlCol="0" anchor="ctr"/>
          <a:lstStyle/>
          <a:p>
            <a:pPr marL="0" indent="0">
              <a:buNone/>
            </a:pPr>
            <a:r>
              <a:rPr lang="en-US" sz="1050" b="1" dirty="0">
                <a:solidFill>
                  <a:srgbClr val="0B7A5A"/>
                </a:solidFill>
                <a:latin typeface="Calibri" panose="020F0502020204030204" pitchFamily="34" charset="0"/>
                <a:ea typeface="Calibri" panose="020F0502020204030204" pitchFamily="34" charset="-122"/>
                <a:cs typeface="Calibri" panose="020F0502020204030204" pitchFamily="34" charset="-120"/>
              </a:rPr>
              <a:t>Our approach:  One pipeline runs both over the same dependency tree.</a:t>
            </a:r>
            <a:endParaRPr lang="en-US" sz="1050" dirty="0"/>
          </a:p>
        </p:txBody>
      </p:sp>
      <p:sp>
        <p:nvSpPr>
          <p:cNvPr id="12" name="Shape 10"/>
          <p:cNvSpPr/>
          <p:nvPr/>
        </p:nvSpPr>
        <p:spPr>
          <a:xfrm>
            <a:off x="6217920" y="1645920"/>
            <a:ext cx="5349240" cy="1874520"/>
          </a:xfrm>
          <a:prstGeom prst="roundRect">
            <a:avLst>
              <a:gd name="adj" fmla="val 2927"/>
            </a:avLst>
          </a:prstGeom>
          <a:solidFill>
            <a:srgbClr val="FFFFFF"/>
          </a:solidFill>
          <a:ln w="12700">
            <a:solidFill>
              <a:srgbClr val="E2EAEE"/>
            </a:solidFill>
            <a:prstDash val="solid"/>
          </a:ln>
        </p:spPr>
      </p:sp>
      <p:sp>
        <p:nvSpPr>
          <p:cNvPr id="13" name="Shape 11"/>
          <p:cNvSpPr/>
          <p:nvPr/>
        </p:nvSpPr>
        <p:spPr>
          <a:xfrm>
            <a:off x="6492240" y="1901952"/>
            <a:ext cx="457200" cy="274320"/>
          </a:xfrm>
          <a:prstGeom prst="rect">
            <a:avLst/>
          </a:prstGeom>
          <a:solidFill>
            <a:srgbClr val="D64545"/>
          </a:solidFill>
        </p:spPr>
      </p:sp>
      <p:sp>
        <p:nvSpPr>
          <p:cNvPr id="14" name="Text 12"/>
          <p:cNvSpPr/>
          <p:nvPr/>
        </p:nvSpPr>
        <p:spPr>
          <a:xfrm>
            <a:off x="6492240" y="1901952"/>
            <a:ext cx="45720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G2</a:t>
            </a:r>
            <a:endParaRPr lang="en-US" sz="1100" dirty="0"/>
          </a:p>
        </p:txBody>
      </p:sp>
      <p:sp>
        <p:nvSpPr>
          <p:cNvPr id="15" name="Text 13"/>
          <p:cNvSpPr/>
          <p:nvPr/>
        </p:nvSpPr>
        <p:spPr>
          <a:xfrm>
            <a:off x="7059168" y="1847088"/>
            <a:ext cx="4297680" cy="41148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Reachability is recommended but rarely built for npm and PyPI</a:t>
            </a:r>
            <a:endParaRPr lang="en-US" sz="1250" dirty="0"/>
          </a:p>
        </p:txBody>
      </p:sp>
      <p:sp>
        <p:nvSpPr>
          <p:cNvPr id="16" name="Text 14"/>
          <p:cNvSpPr/>
          <p:nvPr/>
        </p:nvSpPr>
        <p:spPr>
          <a:xfrm>
            <a:off x="6492240" y="2331720"/>
            <a:ext cx="4800600" cy="54864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Advisories for these ecosystems almost never say which function is vulnerable.</a:t>
            </a:r>
            <a:endParaRPr lang="en-US" sz="1050" dirty="0"/>
          </a:p>
        </p:txBody>
      </p:sp>
      <p:sp>
        <p:nvSpPr>
          <p:cNvPr id="17" name="Text 15"/>
          <p:cNvSpPr/>
          <p:nvPr/>
        </p:nvSpPr>
        <p:spPr>
          <a:xfrm>
            <a:off x="6492240" y="2880360"/>
            <a:ext cx="4800600" cy="502920"/>
          </a:xfrm>
          <a:prstGeom prst="rect">
            <a:avLst/>
          </a:prstGeom>
          <a:noFill/>
        </p:spPr>
        <p:txBody>
          <a:bodyPr wrap="square" lIns="0" tIns="0" rIns="0" bIns="0" rtlCol="0" anchor="ctr"/>
          <a:lstStyle/>
          <a:p>
            <a:pPr marL="0" indent="0">
              <a:buNone/>
            </a:pPr>
            <a:r>
              <a:rPr lang="en-US" sz="1050" b="1" dirty="0">
                <a:solidFill>
                  <a:srgbClr val="0B7A5A"/>
                </a:solidFill>
                <a:latin typeface="Calibri" panose="020F0502020204030204" pitchFamily="34" charset="0"/>
                <a:ea typeface="Calibri" panose="020F0502020204030204" pitchFamily="34" charset="-122"/>
                <a:cs typeface="Calibri" panose="020F0502020204030204" pitchFamily="34" charset="-120"/>
              </a:rPr>
              <a:t>Our approach:  Pull symbols from three sources and report which one was used.</a:t>
            </a:r>
            <a:endParaRPr lang="en-US" sz="1050" dirty="0"/>
          </a:p>
        </p:txBody>
      </p:sp>
      <p:sp>
        <p:nvSpPr>
          <p:cNvPr id="18" name="Shape 16"/>
          <p:cNvSpPr/>
          <p:nvPr/>
        </p:nvSpPr>
        <p:spPr>
          <a:xfrm>
            <a:off x="594360" y="3749040"/>
            <a:ext cx="5349240" cy="1874520"/>
          </a:xfrm>
          <a:prstGeom prst="roundRect">
            <a:avLst>
              <a:gd name="adj" fmla="val 2927"/>
            </a:avLst>
          </a:prstGeom>
          <a:solidFill>
            <a:srgbClr val="FFFFFF"/>
          </a:solidFill>
          <a:ln w="12700">
            <a:solidFill>
              <a:srgbClr val="E2EAEE"/>
            </a:solidFill>
            <a:prstDash val="solid"/>
          </a:ln>
        </p:spPr>
      </p:sp>
      <p:sp>
        <p:nvSpPr>
          <p:cNvPr id="19" name="Shape 17"/>
          <p:cNvSpPr/>
          <p:nvPr/>
        </p:nvSpPr>
        <p:spPr>
          <a:xfrm>
            <a:off x="868680" y="4005072"/>
            <a:ext cx="457200" cy="274320"/>
          </a:xfrm>
          <a:prstGeom prst="rect">
            <a:avLst/>
          </a:prstGeom>
          <a:solidFill>
            <a:srgbClr val="D64545"/>
          </a:solidFill>
        </p:spPr>
      </p:sp>
      <p:sp>
        <p:nvSpPr>
          <p:cNvPr id="20" name="Text 18"/>
          <p:cNvSpPr/>
          <p:nvPr/>
        </p:nvSpPr>
        <p:spPr>
          <a:xfrm>
            <a:off x="868680" y="4005072"/>
            <a:ext cx="45720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G3</a:t>
            </a:r>
            <a:endParaRPr lang="en-US" sz="1100" dirty="0"/>
          </a:p>
        </p:txBody>
      </p:sp>
      <p:sp>
        <p:nvSpPr>
          <p:cNvPr id="21" name="Text 19"/>
          <p:cNvSpPr/>
          <p:nvPr/>
        </p:nvSpPr>
        <p:spPr>
          <a:xfrm>
            <a:off x="1435608" y="3950208"/>
            <a:ext cx="4297680" cy="41148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Evaluation details are usually missing</a:t>
            </a:r>
            <a:endParaRPr lang="en-US" sz="1250" dirty="0"/>
          </a:p>
        </p:txBody>
      </p:sp>
      <p:sp>
        <p:nvSpPr>
          <p:cNvPr id="22" name="Text 20"/>
          <p:cNvSpPr/>
          <p:nvPr/>
        </p:nvSpPr>
        <p:spPr>
          <a:xfrm>
            <a:off x="868680" y="4434840"/>
            <a:ext cx="4800600" cy="54864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Grouping, leakage and baselines are rarely discussed, so results are hard to trust.</a:t>
            </a:r>
            <a:endParaRPr lang="en-US" sz="1050" dirty="0"/>
          </a:p>
        </p:txBody>
      </p:sp>
      <p:sp>
        <p:nvSpPr>
          <p:cNvPr id="23" name="Text 21"/>
          <p:cNvSpPr/>
          <p:nvPr/>
        </p:nvSpPr>
        <p:spPr>
          <a:xfrm>
            <a:off x="868680" y="4983480"/>
            <a:ext cx="4800600" cy="502920"/>
          </a:xfrm>
          <a:prstGeom prst="rect">
            <a:avLst/>
          </a:prstGeom>
          <a:noFill/>
        </p:spPr>
        <p:txBody>
          <a:bodyPr wrap="square" lIns="0" tIns="0" rIns="0" bIns="0" rtlCol="0" anchor="ctr"/>
          <a:lstStyle/>
          <a:p>
            <a:pPr marL="0" indent="0">
              <a:buNone/>
            </a:pPr>
            <a:r>
              <a:rPr lang="en-US" sz="1050" b="1" dirty="0">
                <a:solidFill>
                  <a:srgbClr val="0B7A5A"/>
                </a:solidFill>
                <a:latin typeface="Calibri" panose="020F0502020204030204" pitchFamily="34" charset="0"/>
                <a:ea typeface="Calibri" panose="020F0502020204030204" pitchFamily="34" charset="-122"/>
                <a:cs typeface="Calibri" panose="020F0502020204030204" pitchFamily="34" charset="-120"/>
              </a:rPr>
              <a:t>Our approach:  Grouped splits, a rules baseline, and leakage removed by design.</a:t>
            </a:r>
            <a:endParaRPr lang="en-US" sz="1050" dirty="0"/>
          </a:p>
        </p:txBody>
      </p:sp>
      <p:sp>
        <p:nvSpPr>
          <p:cNvPr id="24" name="Shape 22"/>
          <p:cNvSpPr/>
          <p:nvPr/>
        </p:nvSpPr>
        <p:spPr>
          <a:xfrm>
            <a:off x="6217920" y="3749040"/>
            <a:ext cx="5349240" cy="1874520"/>
          </a:xfrm>
          <a:prstGeom prst="roundRect">
            <a:avLst>
              <a:gd name="adj" fmla="val 2927"/>
            </a:avLst>
          </a:prstGeom>
          <a:solidFill>
            <a:srgbClr val="FFFFFF"/>
          </a:solidFill>
          <a:ln w="12700">
            <a:solidFill>
              <a:srgbClr val="E2EAEE"/>
            </a:solidFill>
            <a:prstDash val="solid"/>
          </a:ln>
        </p:spPr>
      </p:sp>
      <p:sp>
        <p:nvSpPr>
          <p:cNvPr id="25" name="Shape 23"/>
          <p:cNvSpPr/>
          <p:nvPr/>
        </p:nvSpPr>
        <p:spPr>
          <a:xfrm>
            <a:off x="6492240" y="4005072"/>
            <a:ext cx="457200" cy="274320"/>
          </a:xfrm>
          <a:prstGeom prst="rect">
            <a:avLst/>
          </a:prstGeom>
          <a:solidFill>
            <a:srgbClr val="D64545"/>
          </a:solidFill>
        </p:spPr>
      </p:sp>
      <p:sp>
        <p:nvSpPr>
          <p:cNvPr id="26" name="Text 24"/>
          <p:cNvSpPr/>
          <p:nvPr/>
        </p:nvSpPr>
        <p:spPr>
          <a:xfrm>
            <a:off x="6492240" y="4005072"/>
            <a:ext cx="457200" cy="27432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G4</a:t>
            </a:r>
            <a:endParaRPr lang="en-US" sz="1100" dirty="0"/>
          </a:p>
        </p:txBody>
      </p:sp>
      <p:sp>
        <p:nvSpPr>
          <p:cNvPr id="27" name="Text 25"/>
          <p:cNvSpPr/>
          <p:nvPr/>
        </p:nvSpPr>
        <p:spPr>
          <a:xfrm>
            <a:off x="7059168" y="3950208"/>
            <a:ext cx="4297680" cy="41148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Explainability is claimed more than delivered</a:t>
            </a:r>
            <a:endParaRPr lang="en-US" sz="1250" dirty="0"/>
          </a:p>
        </p:txBody>
      </p:sp>
      <p:sp>
        <p:nvSpPr>
          <p:cNvPr id="28" name="Text 26"/>
          <p:cNvSpPr/>
          <p:nvPr/>
        </p:nvSpPr>
        <p:spPr>
          <a:xfrm>
            <a:off x="6492240" y="4434840"/>
            <a:ext cx="4800600" cy="54864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Most detectors give a score and nothing else.</a:t>
            </a:r>
            <a:endParaRPr lang="en-US" sz="1050" dirty="0"/>
          </a:p>
        </p:txBody>
      </p:sp>
      <p:sp>
        <p:nvSpPr>
          <p:cNvPr id="29" name="Text 27"/>
          <p:cNvSpPr/>
          <p:nvPr/>
        </p:nvSpPr>
        <p:spPr>
          <a:xfrm>
            <a:off x="6492240" y="4983480"/>
            <a:ext cx="4800600" cy="502920"/>
          </a:xfrm>
          <a:prstGeom prst="rect">
            <a:avLst/>
          </a:prstGeom>
          <a:noFill/>
        </p:spPr>
        <p:txBody>
          <a:bodyPr wrap="square" lIns="0" tIns="0" rIns="0" bIns="0" rtlCol="0" anchor="ctr"/>
          <a:lstStyle/>
          <a:p>
            <a:pPr marL="0" indent="0">
              <a:buNone/>
            </a:pPr>
            <a:r>
              <a:rPr lang="en-US" sz="1050" b="1" dirty="0">
                <a:solidFill>
                  <a:srgbClr val="0B7A5A"/>
                </a:solidFill>
                <a:latin typeface="Calibri" panose="020F0502020204030204" pitchFamily="34" charset="0"/>
                <a:ea typeface="Calibri" panose="020F0502020204030204" pitchFamily="34" charset="-122"/>
                <a:cs typeface="Calibri" panose="020F0502020204030204" pitchFamily="34" charset="-120"/>
              </a:rPr>
              <a:t>Our approach:  Every verdict carries the file, the line and the code that triggered it.</a:t>
            </a:r>
            <a:endParaRPr lang="en-US" sz="1050" dirty="0"/>
          </a:p>
        </p:txBody>
      </p:sp>
      <p:sp>
        <p:nvSpPr>
          <p:cNvPr id="30" name="Text 28"/>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The design: how a scan will run</a:t>
            </a:r>
            <a:endParaRPr lang="en-US" sz="3000" dirty="0"/>
          </a:p>
        </p:txBody>
      </p:sp>
      <p:sp>
        <p:nvSpPr>
          <p:cNvPr id="6" name="Shape 4"/>
          <p:cNvSpPr/>
          <p:nvPr/>
        </p:nvSpPr>
        <p:spPr>
          <a:xfrm>
            <a:off x="594360" y="1828800"/>
            <a:ext cx="2011680" cy="2286000"/>
          </a:xfrm>
          <a:prstGeom prst="roundRect">
            <a:avLst>
              <a:gd name="adj" fmla="val 2727"/>
            </a:avLst>
          </a:prstGeom>
          <a:solidFill>
            <a:srgbClr val="FFFFFF"/>
          </a:solidFill>
          <a:ln w="12700">
            <a:solidFill>
              <a:srgbClr val="E2EAEE"/>
            </a:solidFill>
            <a:prstDash val="solid"/>
          </a:ln>
        </p:spPr>
      </p:sp>
      <p:sp>
        <p:nvSpPr>
          <p:cNvPr id="7" name="Shape 5"/>
          <p:cNvSpPr/>
          <p:nvPr/>
        </p:nvSpPr>
        <p:spPr>
          <a:xfrm>
            <a:off x="850392" y="2011680"/>
            <a:ext cx="384048" cy="384048"/>
          </a:xfrm>
          <a:prstGeom prst="ellipse">
            <a:avLst/>
          </a:prstGeom>
          <a:solidFill>
            <a:srgbClr val="12B886"/>
          </a:solidFill>
        </p:spPr>
      </p:sp>
      <p:sp>
        <p:nvSpPr>
          <p:cNvPr id="8" name="Text 6"/>
          <p:cNvSpPr/>
          <p:nvPr/>
        </p:nvSpPr>
        <p:spPr>
          <a:xfrm>
            <a:off x="850392" y="2011680"/>
            <a:ext cx="384048"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9" name="Text 7"/>
          <p:cNvSpPr/>
          <p:nvPr/>
        </p:nvSpPr>
        <p:spPr>
          <a:xfrm>
            <a:off x="850392" y="2505456"/>
            <a:ext cx="1554480" cy="301752"/>
          </a:xfrm>
          <a:prstGeom prst="rect">
            <a:avLst/>
          </a:prstGeom>
          <a:noFill/>
        </p:spPr>
        <p:txBody>
          <a:bodyPr wrap="square" lIns="0" tIns="0" rIns="0" bIns="0" rtlCol="0" anchor="ctr"/>
          <a:lstStyle/>
          <a:p>
            <a:pPr marL="0" indent="0">
              <a:buNone/>
            </a:pPr>
            <a:r>
              <a:rPr lang="en-US" sz="1500" b="1" dirty="0">
                <a:solidFill>
                  <a:srgbClr val="1B2A33"/>
                </a:solidFill>
                <a:latin typeface="Cambria" panose="02040503050406030204" pitchFamily="34" charset="0"/>
                <a:ea typeface="Cambria" panose="02040503050406030204" pitchFamily="34" charset="-122"/>
                <a:cs typeface="Cambria" panose="02040503050406030204" pitchFamily="34" charset="-120"/>
              </a:rPr>
              <a:t>Parse</a:t>
            </a:r>
            <a:endParaRPr lang="en-US" sz="1500" dirty="0"/>
          </a:p>
        </p:txBody>
      </p:sp>
      <p:sp>
        <p:nvSpPr>
          <p:cNvPr id="10" name="Text 8"/>
          <p:cNvSpPr/>
          <p:nvPr/>
        </p:nvSpPr>
        <p:spPr>
          <a:xfrm>
            <a:off x="850392" y="2816352"/>
            <a:ext cx="1600200" cy="731520"/>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Read package.json or</a:t>
            </a:r>
            <a:endParaRPr lang="en-US" sz="1000" dirty="0"/>
          </a:p>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requirements.txt</a:t>
            </a:r>
            <a:endParaRPr lang="en-US" sz="1000" dirty="0"/>
          </a:p>
        </p:txBody>
      </p:sp>
      <p:sp>
        <p:nvSpPr>
          <p:cNvPr id="12" name="Text 10"/>
          <p:cNvSpPr/>
          <p:nvPr/>
        </p:nvSpPr>
        <p:spPr>
          <a:xfrm>
            <a:off x="850392" y="3639312"/>
            <a:ext cx="1188720" cy="237744"/>
          </a:xfrm>
          <a:prstGeom prst="rect">
            <a:avLst/>
          </a:prstGeom>
          <a:noFill/>
        </p:spPr>
        <p:txBody>
          <a:bodyPr wrap="square" lIns="0" tIns="0" rIns="0" bIns="0" rtlCol="0" anchor="ctr"/>
          <a:lstStyle/>
          <a:p>
            <a:pPr marL="0" indent="0" algn="ctr">
              <a:buNone/>
            </a:pPr>
            <a:endParaRPr lang="en-US" sz="850" dirty="0"/>
          </a:p>
        </p:txBody>
      </p:sp>
      <p:sp>
        <p:nvSpPr>
          <p:cNvPr id="13" name="Shape 11"/>
          <p:cNvSpPr/>
          <p:nvPr/>
        </p:nvSpPr>
        <p:spPr>
          <a:xfrm>
            <a:off x="2642616" y="2788920"/>
            <a:ext cx="182880" cy="201168"/>
          </a:xfrm>
          <a:prstGeom prst="rightArrow">
            <a:avLst/>
          </a:prstGeom>
          <a:solidFill>
            <a:srgbClr val="12B886"/>
          </a:solidFill>
        </p:spPr>
      </p:sp>
      <p:sp>
        <p:nvSpPr>
          <p:cNvPr id="14" name="Shape 12"/>
          <p:cNvSpPr/>
          <p:nvPr/>
        </p:nvSpPr>
        <p:spPr>
          <a:xfrm>
            <a:off x="2843784" y="1828800"/>
            <a:ext cx="2011680" cy="2286000"/>
          </a:xfrm>
          <a:prstGeom prst="roundRect">
            <a:avLst>
              <a:gd name="adj" fmla="val 2727"/>
            </a:avLst>
          </a:prstGeom>
          <a:solidFill>
            <a:srgbClr val="FFFFFF"/>
          </a:solidFill>
          <a:ln w="12700">
            <a:solidFill>
              <a:srgbClr val="E2EAEE"/>
            </a:solidFill>
            <a:prstDash val="solid"/>
          </a:ln>
        </p:spPr>
      </p:sp>
      <p:sp>
        <p:nvSpPr>
          <p:cNvPr id="15" name="Shape 13"/>
          <p:cNvSpPr/>
          <p:nvPr/>
        </p:nvSpPr>
        <p:spPr>
          <a:xfrm>
            <a:off x="3099816" y="2011680"/>
            <a:ext cx="384048" cy="384048"/>
          </a:xfrm>
          <a:prstGeom prst="ellipse">
            <a:avLst/>
          </a:prstGeom>
          <a:solidFill>
            <a:srgbClr val="12B886"/>
          </a:solidFill>
        </p:spPr>
      </p:sp>
      <p:sp>
        <p:nvSpPr>
          <p:cNvPr id="16" name="Text 14"/>
          <p:cNvSpPr/>
          <p:nvPr/>
        </p:nvSpPr>
        <p:spPr>
          <a:xfrm>
            <a:off x="3099816" y="2011680"/>
            <a:ext cx="384048"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7" name="Text 15"/>
          <p:cNvSpPr/>
          <p:nvPr/>
        </p:nvSpPr>
        <p:spPr>
          <a:xfrm>
            <a:off x="3099816" y="2505456"/>
            <a:ext cx="1554480" cy="301752"/>
          </a:xfrm>
          <a:prstGeom prst="rect">
            <a:avLst/>
          </a:prstGeom>
          <a:noFill/>
        </p:spPr>
        <p:txBody>
          <a:bodyPr wrap="square" lIns="0" tIns="0" rIns="0" bIns="0" rtlCol="0" anchor="ctr"/>
          <a:lstStyle/>
          <a:p>
            <a:pPr marL="0" indent="0">
              <a:buNone/>
            </a:pPr>
            <a:r>
              <a:rPr lang="en-US" sz="1500" b="1" dirty="0">
                <a:solidFill>
                  <a:srgbClr val="1B2A33"/>
                </a:solidFill>
                <a:latin typeface="Cambria" panose="02040503050406030204" pitchFamily="34" charset="0"/>
                <a:ea typeface="Cambria" panose="02040503050406030204" pitchFamily="34" charset="-122"/>
                <a:cs typeface="Cambria" panose="02040503050406030204" pitchFamily="34" charset="-120"/>
              </a:rPr>
              <a:t>Resolve</a:t>
            </a:r>
            <a:endParaRPr lang="en-US" sz="1500" dirty="0"/>
          </a:p>
        </p:txBody>
      </p:sp>
      <p:sp>
        <p:nvSpPr>
          <p:cNvPr id="18" name="Text 16"/>
          <p:cNvSpPr/>
          <p:nvPr/>
        </p:nvSpPr>
        <p:spPr>
          <a:xfrm>
            <a:off x="3099816" y="2816352"/>
            <a:ext cx="1600200" cy="731520"/>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Walk the full tree of</a:t>
            </a:r>
            <a:endParaRPr lang="en-US" sz="1000" dirty="0"/>
          </a:p>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dependencies</a:t>
            </a:r>
            <a:endParaRPr lang="en-US" sz="1000" dirty="0"/>
          </a:p>
        </p:txBody>
      </p:sp>
      <p:sp>
        <p:nvSpPr>
          <p:cNvPr id="21" name="Shape 19"/>
          <p:cNvSpPr/>
          <p:nvPr/>
        </p:nvSpPr>
        <p:spPr>
          <a:xfrm>
            <a:off x="4892040" y="2788920"/>
            <a:ext cx="182880" cy="201168"/>
          </a:xfrm>
          <a:prstGeom prst="rightArrow">
            <a:avLst/>
          </a:prstGeom>
          <a:solidFill>
            <a:srgbClr val="12B886"/>
          </a:solidFill>
        </p:spPr>
      </p:sp>
      <p:sp>
        <p:nvSpPr>
          <p:cNvPr id="22" name="Shape 20"/>
          <p:cNvSpPr/>
          <p:nvPr/>
        </p:nvSpPr>
        <p:spPr>
          <a:xfrm>
            <a:off x="5093208" y="1828800"/>
            <a:ext cx="2011680" cy="2286000"/>
          </a:xfrm>
          <a:prstGeom prst="roundRect">
            <a:avLst>
              <a:gd name="adj" fmla="val 2727"/>
            </a:avLst>
          </a:prstGeom>
          <a:solidFill>
            <a:srgbClr val="FFFFFF"/>
          </a:solidFill>
          <a:ln w="12700">
            <a:solidFill>
              <a:srgbClr val="E2EAEE"/>
            </a:solidFill>
            <a:prstDash val="solid"/>
          </a:ln>
        </p:spPr>
      </p:sp>
      <p:sp>
        <p:nvSpPr>
          <p:cNvPr id="23" name="Shape 21"/>
          <p:cNvSpPr/>
          <p:nvPr/>
        </p:nvSpPr>
        <p:spPr>
          <a:xfrm>
            <a:off x="5349240" y="2011680"/>
            <a:ext cx="384048" cy="384048"/>
          </a:xfrm>
          <a:prstGeom prst="ellipse">
            <a:avLst/>
          </a:prstGeom>
          <a:solidFill>
            <a:srgbClr val="12B886"/>
          </a:solidFill>
        </p:spPr>
      </p:sp>
      <p:sp>
        <p:nvSpPr>
          <p:cNvPr id="24" name="Text 22"/>
          <p:cNvSpPr/>
          <p:nvPr/>
        </p:nvSpPr>
        <p:spPr>
          <a:xfrm>
            <a:off x="5349240" y="2011680"/>
            <a:ext cx="384048"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5" name="Text 23"/>
          <p:cNvSpPr/>
          <p:nvPr/>
        </p:nvSpPr>
        <p:spPr>
          <a:xfrm>
            <a:off x="5349240" y="2505456"/>
            <a:ext cx="1554480" cy="301752"/>
          </a:xfrm>
          <a:prstGeom prst="rect">
            <a:avLst/>
          </a:prstGeom>
          <a:noFill/>
        </p:spPr>
        <p:txBody>
          <a:bodyPr wrap="square" lIns="0" tIns="0" rIns="0" bIns="0" rtlCol="0" anchor="ctr"/>
          <a:lstStyle/>
          <a:p>
            <a:pPr marL="0" indent="0">
              <a:buNone/>
            </a:pPr>
            <a:r>
              <a:rPr lang="en-US" sz="1500" b="1" dirty="0">
                <a:solidFill>
                  <a:srgbClr val="1B2A33"/>
                </a:solidFill>
                <a:latin typeface="Cambria" panose="02040503050406030204" pitchFamily="34" charset="0"/>
                <a:ea typeface="Cambria" panose="02040503050406030204" pitchFamily="34" charset="-122"/>
                <a:cs typeface="Cambria" panose="02040503050406030204" pitchFamily="34" charset="-120"/>
              </a:rPr>
              <a:t>Detect</a:t>
            </a:r>
            <a:endParaRPr lang="en-US" sz="1500" dirty="0"/>
          </a:p>
        </p:txBody>
      </p:sp>
      <p:sp>
        <p:nvSpPr>
          <p:cNvPr id="26" name="Text 24"/>
          <p:cNvSpPr/>
          <p:nvPr/>
        </p:nvSpPr>
        <p:spPr>
          <a:xfrm>
            <a:off x="5349240" y="2816352"/>
            <a:ext cx="1600200" cy="731520"/>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Read the code and</a:t>
            </a:r>
            <a:endParaRPr lang="en-US" sz="1000" dirty="0"/>
          </a:p>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score each package</a:t>
            </a:r>
            <a:endParaRPr lang="en-US" sz="1000" dirty="0"/>
          </a:p>
        </p:txBody>
      </p:sp>
      <p:sp>
        <p:nvSpPr>
          <p:cNvPr id="29" name="Shape 27"/>
          <p:cNvSpPr/>
          <p:nvPr/>
        </p:nvSpPr>
        <p:spPr>
          <a:xfrm>
            <a:off x="7141464" y="2788920"/>
            <a:ext cx="182880" cy="201168"/>
          </a:xfrm>
          <a:prstGeom prst="rightArrow">
            <a:avLst/>
          </a:prstGeom>
          <a:solidFill>
            <a:srgbClr val="12B886"/>
          </a:solidFill>
        </p:spPr>
      </p:sp>
      <p:sp>
        <p:nvSpPr>
          <p:cNvPr id="30" name="Shape 28"/>
          <p:cNvSpPr/>
          <p:nvPr/>
        </p:nvSpPr>
        <p:spPr>
          <a:xfrm>
            <a:off x="7342632" y="1828800"/>
            <a:ext cx="2011680" cy="2286000"/>
          </a:xfrm>
          <a:prstGeom prst="roundRect">
            <a:avLst>
              <a:gd name="adj" fmla="val 2727"/>
            </a:avLst>
          </a:prstGeom>
          <a:solidFill>
            <a:srgbClr val="FFFFFF"/>
          </a:solidFill>
          <a:ln w="12700">
            <a:solidFill>
              <a:srgbClr val="E2EAEE"/>
            </a:solidFill>
            <a:prstDash val="solid"/>
          </a:ln>
        </p:spPr>
      </p:sp>
      <p:sp>
        <p:nvSpPr>
          <p:cNvPr id="31" name="Shape 29"/>
          <p:cNvSpPr/>
          <p:nvPr/>
        </p:nvSpPr>
        <p:spPr>
          <a:xfrm>
            <a:off x="7598664" y="2011680"/>
            <a:ext cx="384048" cy="384048"/>
          </a:xfrm>
          <a:prstGeom prst="ellipse">
            <a:avLst/>
          </a:prstGeom>
          <a:solidFill>
            <a:srgbClr val="12B886"/>
          </a:solidFill>
        </p:spPr>
      </p:sp>
      <p:sp>
        <p:nvSpPr>
          <p:cNvPr id="32" name="Text 30"/>
          <p:cNvSpPr/>
          <p:nvPr/>
        </p:nvSpPr>
        <p:spPr>
          <a:xfrm>
            <a:off x="7598664" y="2011680"/>
            <a:ext cx="384048"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33" name="Text 31"/>
          <p:cNvSpPr/>
          <p:nvPr/>
        </p:nvSpPr>
        <p:spPr>
          <a:xfrm>
            <a:off x="7598664" y="2505456"/>
            <a:ext cx="1554480" cy="301752"/>
          </a:xfrm>
          <a:prstGeom prst="rect">
            <a:avLst/>
          </a:prstGeom>
          <a:noFill/>
        </p:spPr>
        <p:txBody>
          <a:bodyPr wrap="square" lIns="0" tIns="0" rIns="0" bIns="0" rtlCol="0" anchor="ctr"/>
          <a:lstStyle/>
          <a:p>
            <a:pPr marL="0" indent="0">
              <a:buNone/>
            </a:pPr>
            <a:r>
              <a:rPr lang="en-US" sz="1500" b="1" dirty="0">
                <a:solidFill>
                  <a:srgbClr val="1B2A33"/>
                </a:solidFill>
                <a:latin typeface="Cambria" panose="02040503050406030204" pitchFamily="34" charset="0"/>
                <a:ea typeface="Cambria" panose="02040503050406030204" pitchFamily="34" charset="-122"/>
                <a:cs typeface="Cambria" panose="02040503050406030204" pitchFamily="34" charset="-120"/>
              </a:rPr>
              <a:t>Advise</a:t>
            </a:r>
            <a:endParaRPr lang="en-US" sz="1500" dirty="0"/>
          </a:p>
        </p:txBody>
      </p:sp>
      <p:sp>
        <p:nvSpPr>
          <p:cNvPr id="34" name="Text 32"/>
          <p:cNvSpPr/>
          <p:nvPr/>
        </p:nvSpPr>
        <p:spPr>
          <a:xfrm>
            <a:off x="7598664" y="2816352"/>
            <a:ext cx="1600200" cy="731520"/>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Ask OSV.dev which</a:t>
            </a:r>
            <a:endParaRPr lang="en-US" sz="1000" dirty="0"/>
          </a:p>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versions have CVEs</a:t>
            </a:r>
            <a:endParaRPr lang="en-US" sz="1000" dirty="0"/>
          </a:p>
        </p:txBody>
      </p:sp>
      <p:sp>
        <p:nvSpPr>
          <p:cNvPr id="36" name="Text 34"/>
          <p:cNvSpPr/>
          <p:nvPr/>
        </p:nvSpPr>
        <p:spPr>
          <a:xfrm>
            <a:off x="7598664" y="3639312"/>
            <a:ext cx="1188720" cy="237744"/>
          </a:xfrm>
          <a:prstGeom prst="rect">
            <a:avLst/>
          </a:prstGeom>
          <a:noFill/>
        </p:spPr>
        <p:txBody>
          <a:bodyPr wrap="square" lIns="0" tIns="0" rIns="0" bIns="0" rtlCol="0" anchor="ctr"/>
          <a:lstStyle/>
          <a:p>
            <a:pPr marL="0" indent="0" algn="ctr">
              <a:buNone/>
            </a:pPr>
            <a:endParaRPr lang="en-US" sz="850" dirty="0"/>
          </a:p>
        </p:txBody>
      </p:sp>
      <p:sp>
        <p:nvSpPr>
          <p:cNvPr id="37" name="Shape 35"/>
          <p:cNvSpPr/>
          <p:nvPr/>
        </p:nvSpPr>
        <p:spPr>
          <a:xfrm>
            <a:off x="9390888" y="2788920"/>
            <a:ext cx="182880" cy="201168"/>
          </a:xfrm>
          <a:prstGeom prst="rightArrow">
            <a:avLst/>
          </a:prstGeom>
          <a:solidFill>
            <a:srgbClr val="12B886"/>
          </a:solidFill>
        </p:spPr>
      </p:sp>
      <p:sp>
        <p:nvSpPr>
          <p:cNvPr id="38" name="Shape 36"/>
          <p:cNvSpPr/>
          <p:nvPr/>
        </p:nvSpPr>
        <p:spPr>
          <a:xfrm>
            <a:off x="9592056" y="1828800"/>
            <a:ext cx="2011680" cy="2286000"/>
          </a:xfrm>
          <a:prstGeom prst="roundRect">
            <a:avLst>
              <a:gd name="adj" fmla="val 2727"/>
            </a:avLst>
          </a:prstGeom>
          <a:solidFill>
            <a:srgbClr val="FFFFFF"/>
          </a:solidFill>
          <a:ln w="12700">
            <a:solidFill>
              <a:srgbClr val="E2EAEE"/>
            </a:solidFill>
            <a:prstDash val="solid"/>
          </a:ln>
        </p:spPr>
      </p:sp>
      <p:sp>
        <p:nvSpPr>
          <p:cNvPr id="39" name="Shape 37"/>
          <p:cNvSpPr/>
          <p:nvPr/>
        </p:nvSpPr>
        <p:spPr>
          <a:xfrm>
            <a:off x="9848088" y="2011680"/>
            <a:ext cx="384048" cy="384048"/>
          </a:xfrm>
          <a:prstGeom prst="ellipse">
            <a:avLst/>
          </a:prstGeom>
          <a:solidFill>
            <a:srgbClr val="12B886"/>
          </a:solidFill>
        </p:spPr>
      </p:sp>
      <p:sp>
        <p:nvSpPr>
          <p:cNvPr id="40" name="Text 38"/>
          <p:cNvSpPr/>
          <p:nvPr/>
        </p:nvSpPr>
        <p:spPr>
          <a:xfrm>
            <a:off x="9848088" y="2011680"/>
            <a:ext cx="384048"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41" name="Text 39"/>
          <p:cNvSpPr/>
          <p:nvPr/>
        </p:nvSpPr>
        <p:spPr>
          <a:xfrm>
            <a:off x="9848088" y="2505456"/>
            <a:ext cx="1554480" cy="301752"/>
          </a:xfrm>
          <a:prstGeom prst="rect">
            <a:avLst/>
          </a:prstGeom>
          <a:noFill/>
        </p:spPr>
        <p:txBody>
          <a:bodyPr wrap="square" lIns="0" tIns="0" rIns="0" bIns="0" rtlCol="0" anchor="ctr"/>
          <a:lstStyle/>
          <a:p>
            <a:pPr marL="0" indent="0">
              <a:buNone/>
            </a:pPr>
            <a:r>
              <a:rPr lang="en-US" sz="1500" b="1" dirty="0">
                <a:solidFill>
                  <a:srgbClr val="1B2A33"/>
                </a:solidFill>
                <a:latin typeface="Cambria" panose="02040503050406030204" pitchFamily="34" charset="0"/>
                <a:ea typeface="Cambria" panose="02040503050406030204" pitchFamily="34" charset="-122"/>
                <a:cs typeface="Cambria" panose="02040503050406030204" pitchFamily="34" charset="-120"/>
              </a:rPr>
              <a:t>Reach</a:t>
            </a:r>
            <a:endParaRPr lang="en-US" sz="1500" dirty="0"/>
          </a:p>
        </p:txBody>
      </p:sp>
      <p:sp>
        <p:nvSpPr>
          <p:cNvPr id="42" name="Text 40"/>
          <p:cNvSpPr/>
          <p:nvPr/>
        </p:nvSpPr>
        <p:spPr>
          <a:xfrm>
            <a:off x="9848088" y="2816352"/>
            <a:ext cx="1600200" cy="731520"/>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Build a call graph and</a:t>
            </a:r>
            <a:endParaRPr lang="en-US" sz="1000" dirty="0"/>
          </a:p>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test what is reachable</a:t>
            </a:r>
            <a:endParaRPr lang="en-US" sz="1000" dirty="0"/>
          </a:p>
        </p:txBody>
      </p:sp>
      <p:sp>
        <p:nvSpPr>
          <p:cNvPr id="45" name="Shape 43"/>
          <p:cNvSpPr/>
          <p:nvPr/>
        </p:nvSpPr>
        <p:spPr>
          <a:xfrm>
            <a:off x="594360" y="4434840"/>
            <a:ext cx="5349240" cy="1371600"/>
          </a:xfrm>
          <a:prstGeom prst="roundRect">
            <a:avLst>
              <a:gd name="adj" fmla="val 4000"/>
            </a:avLst>
          </a:prstGeom>
          <a:solidFill>
            <a:srgbClr val="EEF3F5"/>
          </a:solidFill>
          <a:ln w="12700">
            <a:solidFill>
              <a:srgbClr val="E2EAEE"/>
            </a:solidFill>
            <a:prstDash val="solid"/>
          </a:ln>
        </p:spPr>
      </p:sp>
      <p:sp>
        <p:nvSpPr>
          <p:cNvPr id="46" name="Text 44"/>
          <p:cNvSpPr/>
          <p:nvPr/>
        </p:nvSpPr>
        <p:spPr>
          <a:xfrm>
            <a:off x="868680" y="4572000"/>
            <a:ext cx="4754880" cy="2743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Malicious package detection</a:t>
            </a:r>
            <a:endParaRPr lang="en-US" sz="1200" dirty="0"/>
          </a:p>
        </p:txBody>
      </p:sp>
      <p:sp>
        <p:nvSpPr>
          <p:cNvPr id="47" name="Text 45"/>
          <p:cNvSpPr/>
          <p:nvPr/>
        </p:nvSpPr>
        <p:spPr>
          <a:xfrm>
            <a:off x="868680" y="4864608"/>
            <a:ext cx="4800600" cy="822960"/>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Reads the code without running it, turns behaviour into numbers, and a model scores it. Engine works. Model is a first prototype.</a:t>
            </a:r>
            <a:endParaRPr lang="en-US" sz="1100" dirty="0"/>
          </a:p>
        </p:txBody>
      </p:sp>
      <p:sp>
        <p:nvSpPr>
          <p:cNvPr id="48" name="Shape 46"/>
          <p:cNvSpPr/>
          <p:nvPr/>
        </p:nvSpPr>
        <p:spPr>
          <a:xfrm>
            <a:off x="6400800" y="4434840"/>
            <a:ext cx="5166360" cy="1371600"/>
          </a:xfrm>
          <a:prstGeom prst="roundRect">
            <a:avLst>
              <a:gd name="adj" fmla="val 4000"/>
            </a:avLst>
          </a:prstGeom>
          <a:solidFill>
            <a:srgbClr val="EEF3F5"/>
          </a:solidFill>
          <a:ln w="12700">
            <a:solidFill>
              <a:srgbClr val="E2EAEE"/>
            </a:solidFill>
            <a:prstDash val="solid"/>
          </a:ln>
        </p:spPr>
      </p:sp>
      <p:sp>
        <p:nvSpPr>
          <p:cNvPr id="49" name="Text 47"/>
          <p:cNvSpPr/>
          <p:nvPr/>
        </p:nvSpPr>
        <p:spPr>
          <a:xfrm>
            <a:off x="6675120" y="4572000"/>
            <a:ext cx="4572000" cy="2743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Vulnerability reachability</a:t>
            </a:r>
            <a:endParaRPr lang="en-US" sz="1200" dirty="0"/>
          </a:p>
        </p:txBody>
      </p:sp>
      <p:sp>
        <p:nvSpPr>
          <p:cNvPr id="50" name="Text 48"/>
          <p:cNvSpPr/>
          <p:nvPr/>
        </p:nvSpPr>
        <p:spPr>
          <a:xfrm>
            <a:off x="6675120" y="4864608"/>
            <a:ext cx="4617720" cy="822960"/>
          </a:xfrm>
          <a:prstGeom prst="rect">
            <a:avLst/>
          </a:prstGeom>
          <a:noFill/>
        </p:spPr>
        <p:txBody>
          <a:bodyPr wrap="square" lIns="0" tIns="0" rIns="0" bIns="0" rtlCol="0" anchor="ctr"/>
          <a:lstStyle/>
          <a:p>
            <a:pPr marL="0" indent="0">
              <a:buNone/>
            </a:pPr>
            <a:r>
              <a:rPr lang="en-US" sz="1100" dirty="0">
                <a:solidFill>
                  <a:srgbClr val="5A6B78"/>
                </a:solidFill>
                <a:latin typeface="Calibri" panose="020F0502020204030204" pitchFamily="34" charset="0"/>
                <a:ea typeface="Calibri" panose="020F0502020204030204" pitchFamily="34" charset="-122"/>
                <a:cs typeface="Calibri" panose="020F0502020204030204" pitchFamily="34" charset="-120"/>
              </a:rPr>
              <a:t>Builds a call graph of your code and checks if the vulnerable function is called. Python works. npm is still import level only.</a:t>
            </a:r>
            <a:endParaRPr lang="en-US" sz="1100" dirty="0"/>
          </a:p>
        </p:txBody>
      </p:sp>
      <p:sp>
        <p:nvSpPr>
          <p:cNvPr id="51" name="Text 49"/>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Finding malicious packages without running them</a:t>
            </a:r>
            <a:endParaRPr lang="en-US" sz="3000" dirty="0"/>
          </a:p>
        </p:txBody>
      </p:sp>
      <p:sp>
        <p:nvSpPr>
          <p:cNvPr id="6" name="Text 4"/>
          <p:cNvSpPr/>
          <p:nvPr/>
        </p:nvSpPr>
        <p:spPr>
          <a:xfrm>
            <a:off x="594360" y="1645920"/>
            <a:ext cx="5486400" cy="292608"/>
          </a:xfrm>
          <a:prstGeom prst="rect">
            <a:avLst/>
          </a:prstGeom>
          <a:noFill/>
        </p:spPr>
        <p:txBody>
          <a:bodyPr wrap="square" lIns="0" tIns="0" rIns="0" bIns="0" rtlCol="0" anchor="ctr"/>
          <a:lstStyle/>
          <a:p>
            <a:pPr marL="0" indent="0">
              <a:buNone/>
            </a:pPr>
            <a:r>
              <a:rPr lang="en-US" sz="1300" b="1" dirty="0">
                <a:solidFill>
                  <a:srgbClr val="1B2A33"/>
                </a:solidFill>
                <a:latin typeface="Calibri" panose="020F0502020204030204" pitchFamily="34" charset="0"/>
                <a:ea typeface="Calibri" panose="020F0502020204030204" pitchFamily="34" charset="-122"/>
                <a:cs typeface="Calibri" panose="020F0502020204030204" pitchFamily="34" charset="-120"/>
              </a:rPr>
              <a:t>We read the code, not the file</a:t>
            </a:r>
            <a:endParaRPr lang="en-US" sz="1300" dirty="0"/>
          </a:p>
        </p:txBody>
      </p:sp>
      <p:sp>
        <p:nvSpPr>
          <p:cNvPr id="7" name="Text 5"/>
          <p:cNvSpPr/>
          <p:nvPr/>
        </p:nvSpPr>
        <p:spPr>
          <a:xfrm>
            <a:off x="594360" y="1993392"/>
            <a:ext cx="5486400" cy="1508760"/>
          </a:xfrm>
          <a:prstGeom prst="rect">
            <a:avLst/>
          </a:prstGeom>
          <a:noFill/>
        </p:spPr>
        <p:txBody>
          <a:bodyPr wrap="square" lIns="0" tIns="0" rIns="0" bIns="0" rtlCol="0" anchor="ctr"/>
          <a:lstStyle/>
          <a:p>
            <a:pPr marL="342900" indent="-342900">
              <a:spcAft>
                <a:spcPts val="700"/>
              </a:spcAft>
              <a:buSzPct val="100000"/>
              <a:buChar char="•"/>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Searching for the text "eval(" also matches a comment or a variable called evaluate. So we parse the file into a syntax tree instead.</a:t>
            </a:r>
            <a:endParaRPr lang="en-US" sz="1150" dirty="0"/>
          </a:p>
          <a:p>
            <a:pPr marL="342900" indent="-342900">
              <a:spcAft>
                <a:spcPts val="700"/>
              </a:spcAft>
              <a:buSzPct val="100000"/>
              <a:buChar char="•"/>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Parsing also follows renames. "import subprocess as sp" then "sp.run(...)" is invisible to a text search but obvious in a tree.</a:t>
            </a:r>
            <a:endParaRPr lang="en-US" sz="1150" dirty="0"/>
          </a:p>
          <a:p>
            <a:pPr marL="342900" indent="-342900">
              <a:spcAft>
                <a:spcPts val="700"/>
              </a:spcAft>
              <a:buSzPct val="100000"/>
              <a:buChar char="•"/>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Parsing is also what makes this safe. Building a tree never executes the file.</a:t>
            </a:r>
            <a:endParaRPr lang="en-US" sz="1150" dirty="0"/>
          </a:p>
        </p:txBody>
      </p:sp>
      <p:sp>
        <p:nvSpPr>
          <p:cNvPr id="8" name="Shape 6"/>
          <p:cNvSpPr/>
          <p:nvPr/>
        </p:nvSpPr>
        <p:spPr>
          <a:xfrm>
            <a:off x="594360" y="3611880"/>
            <a:ext cx="5486400" cy="914400"/>
          </a:xfrm>
          <a:prstGeom prst="roundRect">
            <a:avLst>
              <a:gd name="adj" fmla="val 6000"/>
            </a:avLst>
          </a:prstGeom>
          <a:solidFill>
            <a:srgbClr val="EEF3F5"/>
          </a:solidFill>
          <a:ln w="12700">
            <a:solidFill>
              <a:srgbClr val="E2EAEE"/>
            </a:solidFill>
            <a:prstDash val="solid"/>
          </a:ln>
        </p:spPr>
      </p:sp>
      <p:sp>
        <p:nvSpPr>
          <p:cNvPr id="9" name="Text 7"/>
          <p:cNvSpPr/>
          <p:nvPr/>
        </p:nvSpPr>
        <p:spPr>
          <a:xfrm>
            <a:off x="868680" y="3611880"/>
            <a:ext cx="4937760" cy="914400"/>
          </a:xfrm>
          <a:prstGeom prst="rect">
            <a:avLst/>
          </a:prstGeom>
          <a:noFill/>
        </p:spPr>
        <p:txBody>
          <a:bodyPr wrap="square" lIns="0" tIns="0" rIns="0" bIns="0" rtlCol="0" anchor="ctr"/>
          <a:lstStyle/>
          <a:p>
            <a:pPr marL="0" indent="0">
              <a:buNone/>
            </a:pPr>
            <a:r>
              <a:rPr lang="en-US" sz="1250" b="1" dirty="0">
                <a:solidFill>
                  <a:srgbClr val="0B7A5A"/>
                </a:solidFill>
                <a:latin typeface="Calibri" panose="020F0502020204030204" pitchFamily="34" charset="0"/>
                <a:ea typeface="Calibri" panose="020F0502020204030204" pitchFamily="34" charset="-122"/>
                <a:cs typeface="Calibri" panose="020F0502020204030204" pitchFamily="34" charset="-120"/>
              </a:rPr>
              <a:t>No package is ever installed or executed. Not once, anywhere in the system.</a:t>
            </a:r>
            <a:endParaRPr lang="en-US" sz="1250" dirty="0"/>
          </a:p>
        </p:txBody>
      </p:sp>
      <p:sp>
        <p:nvSpPr>
          <p:cNvPr id="10" name="Text 8"/>
          <p:cNvSpPr/>
          <p:nvPr/>
        </p:nvSpPr>
        <p:spPr>
          <a:xfrm>
            <a:off x="6492240" y="1645920"/>
            <a:ext cx="5074920" cy="292608"/>
          </a:xfrm>
          <a:prstGeom prst="rect">
            <a:avLst/>
          </a:prstGeom>
          <a:noFill/>
        </p:spPr>
        <p:txBody>
          <a:bodyPr wrap="square" lIns="0" tIns="0" rIns="0" bIns="0" rtlCol="0" anchor="ctr"/>
          <a:lstStyle/>
          <a:p>
            <a:pPr marL="0" indent="0">
              <a:buNone/>
            </a:pPr>
            <a:r>
              <a:rPr lang="en-US" sz="1300" b="1" dirty="0">
                <a:solidFill>
                  <a:srgbClr val="1B2A33"/>
                </a:solidFill>
                <a:latin typeface="Calibri" panose="020F0502020204030204" pitchFamily="34" charset="0"/>
                <a:ea typeface="Calibri" panose="020F0502020204030204" pitchFamily="34" charset="-122"/>
                <a:cs typeface="Calibri" panose="020F0502020204030204" pitchFamily="34" charset="-120"/>
              </a:rPr>
              <a:t>The idea we are testing</a:t>
            </a:r>
            <a:endParaRPr lang="en-US" sz="1300" dirty="0"/>
          </a:p>
        </p:txBody>
      </p:sp>
      <p:sp>
        <p:nvSpPr>
          <p:cNvPr id="11" name="Text 9"/>
          <p:cNvSpPr/>
          <p:nvPr/>
        </p:nvSpPr>
        <p:spPr>
          <a:xfrm>
            <a:off x="6492240" y="1993392"/>
            <a:ext cx="5074920" cy="685800"/>
          </a:xfrm>
          <a:prstGeom prst="rect">
            <a:avLst/>
          </a:prstGeom>
          <a:noFill/>
        </p:spPr>
        <p:txBody>
          <a:bodyPr wrap="square" lIns="0" tIns="0" rIns="0" bIns="0" rtlCol="0" anchor="ct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Reading an environment variable is normal. Making a web request is normal. Doing both in the same file is how credential theft looks.</a:t>
            </a:r>
            <a:endParaRPr lang="en-US" sz="1150" dirty="0"/>
          </a:p>
        </p:txBody>
      </p:sp>
      <p:sp>
        <p:nvSpPr>
          <p:cNvPr id="12" name="Text 10"/>
          <p:cNvSpPr/>
          <p:nvPr/>
        </p:nvSpPr>
        <p:spPr>
          <a:xfrm>
            <a:off x="6492240" y="2697480"/>
            <a:ext cx="5074920" cy="685800"/>
          </a:xfrm>
          <a:prstGeom prst="rect">
            <a:avLst/>
          </a:prstGeom>
          <a:noFill/>
        </p:spPr>
        <p:txBody>
          <a:bodyPr wrap="square" lIns="0" tIns="0" rIns="0" bIns="0" rtlCol="0" anchor="ct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So each file is checked on its own first, then we look for combinations across the whole package. A single detector can never see that.</a:t>
            </a:r>
            <a:endParaRPr lang="en-US" sz="1150" dirty="0"/>
          </a:p>
        </p:txBody>
      </p:sp>
      <p:sp>
        <p:nvSpPr>
          <p:cNvPr id="13" name="Shape 11"/>
          <p:cNvSpPr/>
          <p:nvPr/>
        </p:nvSpPr>
        <p:spPr>
          <a:xfrm>
            <a:off x="6492240" y="3474720"/>
            <a:ext cx="5074920" cy="1051560"/>
          </a:xfrm>
          <a:prstGeom prst="roundRect">
            <a:avLst>
              <a:gd name="adj" fmla="val 5217"/>
            </a:avLst>
          </a:prstGeom>
          <a:solidFill>
            <a:srgbClr val="FFFFFF"/>
          </a:solidFill>
          <a:ln w="12700">
            <a:solidFill>
              <a:srgbClr val="12B886"/>
            </a:solidFill>
            <a:prstDash val="solid"/>
          </a:ln>
        </p:spPr>
      </p:sp>
      <p:sp>
        <p:nvSpPr>
          <p:cNvPr id="14" name="Text 12"/>
          <p:cNvSpPr/>
          <p:nvPr/>
        </p:nvSpPr>
        <p:spPr>
          <a:xfrm>
            <a:off x="6720840" y="3474720"/>
            <a:ext cx="4617720" cy="1051560"/>
          </a:xfrm>
          <a:prstGeom prst="rect">
            <a:avLst/>
          </a:prstGeom>
          <a:noFill/>
        </p:spPr>
        <p:txBody>
          <a:bodyPr wrap="square" lIns="0" tIns="0" rIns="0" bIns="0" rtlCol="0" anchor="ctr"/>
          <a:lstStyle/>
          <a:p>
            <a:pPr marL="0" indent="0">
              <a:buNone/>
            </a:pPr>
            <a:r>
              <a:rPr lang="en-US" sz="1100" dirty="0">
                <a:solidFill>
                  <a:srgbClr val="1B2A33"/>
                </a:solidFill>
                <a:latin typeface="Calibri" panose="020F0502020204030204" pitchFamily="34" charset="0"/>
                <a:ea typeface="Calibri" panose="020F0502020204030204" pitchFamily="34" charset="-122"/>
                <a:cs typeface="Calibri" panose="020F0502020204030204" pitchFamily="34" charset="-120"/>
              </a:rPr>
              <a:t>Early check on 12 popular real packages including express, axios, flask and requests. No combination signal fired on any of them.</a:t>
            </a:r>
            <a:endParaRPr lang="en-US" sz="1100" dirty="0"/>
          </a:p>
        </p:txBody>
      </p:sp>
      <p:sp>
        <p:nvSpPr>
          <p:cNvPr id="15" name="Text 13"/>
          <p:cNvSpPr/>
          <p:nvPr/>
        </p:nvSpPr>
        <p:spPr>
          <a:xfrm>
            <a:off x="594360" y="4709160"/>
            <a:ext cx="5486400" cy="274320"/>
          </a:xfrm>
          <a:prstGeom prst="rect">
            <a:avLst/>
          </a:prstGeom>
          <a:noFill/>
        </p:spPr>
        <p:txBody>
          <a:bodyPr wrap="square" lIns="0" tIns="0" rIns="0" bIns="0" rtlCol="0" anchor="ct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What we look for so far</a:t>
            </a:r>
            <a:endParaRPr lang="en-US" sz="1150" dirty="0"/>
          </a:p>
        </p:txBody>
      </p:sp>
      <p:sp>
        <p:nvSpPr>
          <p:cNvPr id="16" name="Shape 14"/>
          <p:cNvSpPr/>
          <p:nvPr/>
        </p:nvSpPr>
        <p:spPr>
          <a:xfrm>
            <a:off x="594360" y="5029200"/>
            <a:ext cx="1737360" cy="411480"/>
          </a:xfrm>
          <a:prstGeom prst="roundRect">
            <a:avLst>
              <a:gd name="adj" fmla="val 13333"/>
            </a:avLst>
          </a:prstGeom>
          <a:solidFill>
            <a:srgbClr val="E2EAEE"/>
          </a:solidFill>
          <a:ln w="12700">
            <a:solidFill>
              <a:srgbClr val="E2EAEE"/>
            </a:solidFill>
            <a:prstDash val="solid"/>
          </a:ln>
        </p:spPr>
      </p:sp>
      <p:sp>
        <p:nvSpPr>
          <p:cNvPr id="17" name="Text 15"/>
          <p:cNvSpPr/>
          <p:nvPr/>
        </p:nvSpPr>
        <p:spPr>
          <a:xfrm>
            <a:off x="594360"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Install hooks</a:t>
            </a:r>
            <a:endParaRPr lang="en-US" sz="1000" dirty="0"/>
          </a:p>
        </p:txBody>
      </p:sp>
      <p:sp>
        <p:nvSpPr>
          <p:cNvPr id="18" name="Shape 16"/>
          <p:cNvSpPr/>
          <p:nvPr/>
        </p:nvSpPr>
        <p:spPr>
          <a:xfrm>
            <a:off x="2450592" y="5029200"/>
            <a:ext cx="1737360" cy="411480"/>
          </a:xfrm>
          <a:prstGeom prst="roundRect">
            <a:avLst>
              <a:gd name="adj" fmla="val 13333"/>
            </a:avLst>
          </a:prstGeom>
          <a:solidFill>
            <a:srgbClr val="E2EAEE"/>
          </a:solidFill>
          <a:ln w="12700">
            <a:solidFill>
              <a:srgbClr val="E2EAEE"/>
            </a:solidFill>
            <a:prstDash val="solid"/>
          </a:ln>
        </p:spPr>
      </p:sp>
      <p:sp>
        <p:nvSpPr>
          <p:cNvPr id="19" name="Text 17"/>
          <p:cNvSpPr/>
          <p:nvPr/>
        </p:nvSpPr>
        <p:spPr>
          <a:xfrm>
            <a:off x="2450592"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Hidden code</a:t>
            </a:r>
            <a:endParaRPr lang="en-US" sz="1000" dirty="0"/>
          </a:p>
        </p:txBody>
      </p:sp>
      <p:sp>
        <p:nvSpPr>
          <p:cNvPr id="20" name="Shape 18"/>
          <p:cNvSpPr/>
          <p:nvPr/>
        </p:nvSpPr>
        <p:spPr>
          <a:xfrm>
            <a:off x="4306824" y="5029200"/>
            <a:ext cx="1737360" cy="411480"/>
          </a:xfrm>
          <a:prstGeom prst="roundRect">
            <a:avLst>
              <a:gd name="adj" fmla="val 13333"/>
            </a:avLst>
          </a:prstGeom>
          <a:solidFill>
            <a:srgbClr val="E2EAEE"/>
          </a:solidFill>
          <a:ln w="12700">
            <a:solidFill>
              <a:srgbClr val="E2EAEE"/>
            </a:solidFill>
            <a:prstDash val="solid"/>
          </a:ln>
        </p:spPr>
      </p:sp>
      <p:sp>
        <p:nvSpPr>
          <p:cNvPr id="21" name="Text 19"/>
          <p:cNvSpPr/>
          <p:nvPr/>
        </p:nvSpPr>
        <p:spPr>
          <a:xfrm>
            <a:off x="4306824"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Credential paths</a:t>
            </a:r>
            <a:endParaRPr lang="en-US" sz="1000" dirty="0"/>
          </a:p>
        </p:txBody>
      </p:sp>
      <p:sp>
        <p:nvSpPr>
          <p:cNvPr id="22" name="Shape 20"/>
          <p:cNvSpPr/>
          <p:nvPr/>
        </p:nvSpPr>
        <p:spPr>
          <a:xfrm>
            <a:off x="6163056" y="5029200"/>
            <a:ext cx="1737360" cy="411480"/>
          </a:xfrm>
          <a:prstGeom prst="roundRect">
            <a:avLst>
              <a:gd name="adj" fmla="val 13333"/>
            </a:avLst>
          </a:prstGeom>
          <a:solidFill>
            <a:srgbClr val="E2EAEE"/>
          </a:solidFill>
          <a:ln w="12700">
            <a:solidFill>
              <a:srgbClr val="E2EAEE"/>
            </a:solidFill>
            <a:prstDash val="solid"/>
          </a:ln>
        </p:spPr>
      </p:sp>
      <p:sp>
        <p:nvSpPr>
          <p:cNvPr id="23" name="Text 21"/>
          <p:cNvSpPr/>
          <p:nvPr/>
        </p:nvSpPr>
        <p:spPr>
          <a:xfrm>
            <a:off x="6163056"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Wallet theft</a:t>
            </a:r>
            <a:endParaRPr lang="en-US" sz="1000" dirty="0"/>
          </a:p>
        </p:txBody>
      </p:sp>
      <p:sp>
        <p:nvSpPr>
          <p:cNvPr id="24" name="Shape 22"/>
          <p:cNvSpPr/>
          <p:nvPr/>
        </p:nvSpPr>
        <p:spPr>
          <a:xfrm>
            <a:off x="8019288" y="5029200"/>
            <a:ext cx="1737360" cy="411480"/>
          </a:xfrm>
          <a:prstGeom prst="roundRect">
            <a:avLst>
              <a:gd name="adj" fmla="val 13333"/>
            </a:avLst>
          </a:prstGeom>
          <a:solidFill>
            <a:srgbClr val="E2EAEE"/>
          </a:solidFill>
          <a:ln w="12700">
            <a:solidFill>
              <a:srgbClr val="E2EAEE"/>
            </a:solidFill>
            <a:prstDash val="solid"/>
          </a:ln>
        </p:spPr>
      </p:sp>
      <p:sp>
        <p:nvSpPr>
          <p:cNvPr id="25" name="Text 23"/>
          <p:cNvSpPr/>
          <p:nvPr/>
        </p:nvSpPr>
        <p:spPr>
          <a:xfrm>
            <a:off x="8019288"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Typosquatting</a:t>
            </a:r>
            <a:endParaRPr lang="en-US" sz="1000" dirty="0"/>
          </a:p>
        </p:txBody>
      </p:sp>
      <p:sp>
        <p:nvSpPr>
          <p:cNvPr id="26" name="Shape 24"/>
          <p:cNvSpPr/>
          <p:nvPr/>
        </p:nvSpPr>
        <p:spPr>
          <a:xfrm>
            <a:off x="9875520" y="5029200"/>
            <a:ext cx="1737360" cy="411480"/>
          </a:xfrm>
          <a:prstGeom prst="roundRect">
            <a:avLst>
              <a:gd name="adj" fmla="val 13333"/>
            </a:avLst>
          </a:prstGeom>
          <a:solidFill>
            <a:srgbClr val="E2EAEE"/>
          </a:solidFill>
          <a:ln w="12700">
            <a:solidFill>
              <a:srgbClr val="E2EAEE"/>
            </a:solidFill>
            <a:prstDash val="solid"/>
          </a:ln>
        </p:spPr>
      </p:sp>
      <p:sp>
        <p:nvSpPr>
          <p:cNvPr id="27" name="Text 25"/>
          <p:cNvSpPr/>
          <p:nvPr/>
        </p:nvSpPr>
        <p:spPr>
          <a:xfrm>
            <a:off x="9875520" y="5029200"/>
            <a:ext cx="1737360" cy="411480"/>
          </a:xfrm>
          <a:prstGeom prst="rect">
            <a:avLst/>
          </a:prstGeom>
          <a:noFill/>
        </p:spPr>
        <p:txBody>
          <a:bodyPr wrap="square" lIns="0" tIns="0" rIns="0" bIns="0" rtlCol="0" anchor="ctr"/>
          <a:lstStyle/>
          <a:p>
            <a:pPr marL="0" indent="0" algn="ctr">
              <a:buNone/>
            </a:pPr>
            <a:r>
              <a:rPr lang="en-US" sz="1000" dirty="0">
                <a:solidFill>
                  <a:srgbClr val="1B2A33"/>
                </a:solidFill>
                <a:latin typeface="Calibri" panose="020F0502020204030204" pitchFamily="34" charset="0"/>
                <a:ea typeface="Calibri" panose="020F0502020204030204" pitchFamily="34" charset="-122"/>
                <a:cs typeface="Calibri" panose="020F0502020204030204" pitchFamily="34" charset="-120"/>
              </a:rPr>
              <a:t>Network drops</a:t>
            </a:r>
            <a:endParaRPr lang="en-US" sz="1000" dirty="0"/>
          </a:p>
        </p:txBody>
      </p:sp>
      <p:sp>
        <p:nvSpPr>
          <p:cNvPr id="28" name="Text 26"/>
          <p:cNvSpPr/>
          <p:nvPr/>
        </p:nvSpPr>
        <p:spPr>
          <a:xfrm>
            <a:off x="594360" y="5532120"/>
            <a:ext cx="10515600" cy="274320"/>
          </a:xfrm>
          <a:prstGeom prst="rect">
            <a:avLst/>
          </a:prstGeom>
          <a:noFill/>
        </p:spPr>
        <p:txBody>
          <a:bodyPr wrap="square" lIns="0" tIns="0" rIns="0" bIns="0" rtlCol="0" anchor="ctr"/>
          <a:lstStyle/>
          <a:p>
            <a:pPr marL="0" indent="0">
              <a:buNone/>
            </a:pPr>
            <a:r>
              <a:rPr lang="en-US" sz="1050" i="1" dirty="0">
                <a:solidFill>
                  <a:srgbClr val="5A6B78"/>
                </a:solidFill>
                <a:latin typeface="Calibri" panose="020F0502020204030204" pitchFamily="34" charset="0"/>
                <a:ea typeface="Calibri" panose="020F0502020204030204" pitchFamily="34" charset="-122"/>
                <a:cs typeface="Calibri" panose="020F0502020204030204" pitchFamily="34" charset="-120"/>
              </a:rPr>
              <a:t>The catalogue is still growing. Adding new behaviours is the main tuning work left in this stage.</a:t>
            </a:r>
            <a:endParaRPr lang="en-US" sz="1050" dirty="0"/>
          </a:p>
        </p:txBody>
      </p:sp>
      <p:sp>
        <p:nvSpPr>
          <p:cNvPr id="29" name="Text 27"/>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Working out which vulnerabilities actually matter</a:t>
            </a:r>
            <a:endParaRPr lang="en-US" sz="3000" dirty="0"/>
          </a:p>
        </p:txBody>
      </p:sp>
      <p:sp>
        <p:nvSpPr>
          <p:cNvPr id="6" name="Text 4"/>
          <p:cNvSpPr/>
          <p:nvPr/>
        </p:nvSpPr>
        <p:spPr>
          <a:xfrm>
            <a:off x="594360" y="1627632"/>
            <a:ext cx="10881360" cy="365760"/>
          </a:xfrm>
          <a:prstGeom prst="rect">
            <a:avLst/>
          </a:prstGeom>
          <a:noFill/>
        </p:spPr>
        <p:txBody>
          <a:bodyPr wrap="square" lIns="0" tIns="0" rIns="0" bIns="0" rtlCol="0" anchor="ctr"/>
          <a:lstStyle/>
          <a:p>
            <a:pPr marL="0" indent="0">
              <a:buNone/>
            </a:pPr>
            <a:r>
              <a:rPr lang="en-US" sz="1250" dirty="0">
                <a:solidFill>
                  <a:srgbClr val="1B2A33"/>
                </a:solidFill>
                <a:latin typeface="Calibri" panose="020F0502020204030204" pitchFamily="34" charset="0"/>
                <a:ea typeface="Calibri" panose="020F0502020204030204" pitchFamily="34" charset="-122"/>
                <a:cs typeface="Calibri" panose="020F0502020204030204" pitchFamily="34" charset="-120"/>
              </a:rPr>
              <a:t>We build a call graph of your own code, then search from the places execution really starts, looking for a path into the vulnerable function.</a:t>
            </a:r>
            <a:endParaRPr lang="en-US" sz="1250" dirty="0"/>
          </a:p>
        </p:txBody>
      </p:sp>
      <p:sp>
        <p:nvSpPr>
          <p:cNvPr id="7" name="Shape 5"/>
          <p:cNvSpPr/>
          <p:nvPr/>
        </p:nvSpPr>
        <p:spPr>
          <a:xfrm>
            <a:off x="594360" y="2148840"/>
            <a:ext cx="6035040" cy="786384"/>
          </a:xfrm>
          <a:prstGeom prst="roundRect">
            <a:avLst>
              <a:gd name="adj" fmla="val 6977"/>
            </a:avLst>
          </a:prstGeom>
          <a:solidFill>
            <a:srgbClr val="FFFFFF"/>
          </a:solidFill>
          <a:ln w="12700">
            <a:solidFill>
              <a:srgbClr val="E2EAEE"/>
            </a:solidFill>
            <a:prstDash val="solid"/>
          </a:ln>
        </p:spPr>
      </p:sp>
      <p:sp>
        <p:nvSpPr>
          <p:cNvPr id="8" name="Shape 6"/>
          <p:cNvSpPr/>
          <p:nvPr/>
        </p:nvSpPr>
        <p:spPr>
          <a:xfrm>
            <a:off x="850392" y="2423160"/>
            <a:ext cx="219456" cy="219456"/>
          </a:xfrm>
          <a:prstGeom prst="ellipse">
            <a:avLst/>
          </a:prstGeom>
          <a:solidFill>
            <a:srgbClr val="0B7A5A"/>
          </a:solidFill>
        </p:spPr>
      </p:sp>
      <p:sp>
        <p:nvSpPr>
          <p:cNvPr id="9" name="Text 7"/>
          <p:cNvSpPr/>
          <p:nvPr/>
        </p:nvSpPr>
        <p:spPr>
          <a:xfrm>
            <a:off x="1216152" y="2221992"/>
            <a:ext cx="2926080" cy="310896"/>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Not imported</a:t>
            </a:r>
            <a:endParaRPr lang="en-US" sz="1250" dirty="0"/>
          </a:p>
        </p:txBody>
      </p:sp>
      <p:sp>
        <p:nvSpPr>
          <p:cNvPr id="10" name="Text 8"/>
          <p:cNvSpPr/>
          <p:nvPr/>
        </p:nvSpPr>
        <p:spPr>
          <a:xfrm>
            <a:off x="1216152" y="2523744"/>
            <a:ext cx="4114800" cy="36576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 package is installed but your code never imports it.</a:t>
            </a:r>
            <a:endParaRPr lang="en-US" sz="1050" dirty="0"/>
          </a:p>
        </p:txBody>
      </p:sp>
      <p:sp>
        <p:nvSpPr>
          <p:cNvPr id="11" name="Text 9"/>
          <p:cNvSpPr/>
          <p:nvPr/>
        </p:nvSpPr>
        <p:spPr>
          <a:xfrm>
            <a:off x="5303520" y="2221992"/>
            <a:ext cx="1188720" cy="310896"/>
          </a:xfrm>
          <a:prstGeom prst="rect">
            <a:avLst/>
          </a:prstGeom>
          <a:noFill/>
        </p:spPr>
        <p:txBody>
          <a:bodyPr wrap="square" lIns="0" tIns="0" rIns="0" bIns="0" rtlCol="0" anchor="ctr"/>
          <a:lstStyle/>
          <a:p>
            <a:pPr marL="0" indent="0" algn="r">
              <a:buNone/>
            </a:pPr>
            <a:r>
              <a:rPr lang="en-US" sz="950" b="1" dirty="0">
                <a:solidFill>
                  <a:srgbClr val="0B7A5A"/>
                </a:solidFill>
                <a:latin typeface="Calibri" panose="020F0502020204030204" pitchFamily="34" charset="0"/>
                <a:ea typeface="Calibri" panose="020F0502020204030204" pitchFamily="34" charset="-122"/>
                <a:cs typeface="Calibri" panose="020F0502020204030204" pitchFamily="34" charset="-120"/>
              </a:rPr>
              <a:t>High confidence</a:t>
            </a:r>
            <a:endParaRPr lang="en-US" sz="950" dirty="0"/>
          </a:p>
        </p:txBody>
      </p:sp>
      <p:sp>
        <p:nvSpPr>
          <p:cNvPr id="12" name="Shape 10"/>
          <p:cNvSpPr/>
          <p:nvPr/>
        </p:nvSpPr>
        <p:spPr>
          <a:xfrm>
            <a:off x="594360" y="3044952"/>
            <a:ext cx="6035040" cy="786384"/>
          </a:xfrm>
          <a:prstGeom prst="roundRect">
            <a:avLst>
              <a:gd name="adj" fmla="val 6977"/>
            </a:avLst>
          </a:prstGeom>
          <a:solidFill>
            <a:srgbClr val="FFFFFF"/>
          </a:solidFill>
          <a:ln w="12700">
            <a:solidFill>
              <a:srgbClr val="E2EAEE"/>
            </a:solidFill>
            <a:prstDash val="solid"/>
          </a:ln>
        </p:spPr>
      </p:sp>
      <p:sp>
        <p:nvSpPr>
          <p:cNvPr id="13" name="Shape 11"/>
          <p:cNvSpPr/>
          <p:nvPr/>
        </p:nvSpPr>
        <p:spPr>
          <a:xfrm>
            <a:off x="850392" y="3319272"/>
            <a:ext cx="219456" cy="219456"/>
          </a:xfrm>
          <a:prstGeom prst="ellipse">
            <a:avLst/>
          </a:prstGeom>
          <a:solidFill>
            <a:srgbClr val="0B7A5A"/>
          </a:solidFill>
        </p:spPr>
      </p:sp>
      <p:sp>
        <p:nvSpPr>
          <p:cNvPr id="14" name="Text 12"/>
          <p:cNvSpPr/>
          <p:nvPr/>
        </p:nvSpPr>
        <p:spPr>
          <a:xfrm>
            <a:off x="1216152" y="3118104"/>
            <a:ext cx="2926080" cy="310896"/>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Symbol not called</a:t>
            </a:r>
            <a:endParaRPr lang="en-US" sz="1250" dirty="0"/>
          </a:p>
        </p:txBody>
      </p:sp>
      <p:sp>
        <p:nvSpPr>
          <p:cNvPr id="15" name="Text 13"/>
          <p:cNvSpPr/>
          <p:nvPr/>
        </p:nvSpPr>
        <p:spPr>
          <a:xfrm>
            <a:off x="1216152" y="3419856"/>
            <a:ext cx="4114800" cy="36576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You import it, but never touch the vulnerable function.</a:t>
            </a:r>
            <a:endParaRPr lang="en-US" sz="1050" dirty="0"/>
          </a:p>
        </p:txBody>
      </p:sp>
      <p:sp>
        <p:nvSpPr>
          <p:cNvPr id="16" name="Text 14"/>
          <p:cNvSpPr/>
          <p:nvPr/>
        </p:nvSpPr>
        <p:spPr>
          <a:xfrm>
            <a:off x="5303520" y="3118104"/>
            <a:ext cx="1188720" cy="310896"/>
          </a:xfrm>
          <a:prstGeom prst="rect">
            <a:avLst/>
          </a:prstGeom>
          <a:noFill/>
        </p:spPr>
        <p:txBody>
          <a:bodyPr wrap="square" lIns="0" tIns="0" rIns="0" bIns="0" rtlCol="0" anchor="ctr"/>
          <a:lstStyle/>
          <a:p>
            <a:pPr marL="0" indent="0" algn="r">
              <a:buNone/>
            </a:pPr>
            <a:r>
              <a:rPr lang="en-US" sz="950" b="1" dirty="0">
                <a:solidFill>
                  <a:srgbClr val="0B7A5A"/>
                </a:solidFill>
                <a:latin typeface="Calibri" panose="020F0502020204030204" pitchFamily="34" charset="0"/>
                <a:ea typeface="Calibri" panose="020F0502020204030204" pitchFamily="34" charset="-122"/>
                <a:cs typeface="Calibri" panose="020F0502020204030204" pitchFamily="34" charset="-120"/>
              </a:rPr>
              <a:t>Medium confidence</a:t>
            </a:r>
            <a:endParaRPr lang="en-US" sz="950" dirty="0"/>
          </a:p>
        </p:txBody>
      </p:sp>
      <p:sp>
        <p:nvSpPr>
          <p:cNvPr id="17" name="Shape 15"/>
          <p:cNvSpPr/>
          <p:nvPr/>
        </p:nvSpPr>
        <p:spPr>
          <a:xfrm>
            <a:off x="594360" y="3941064"/>
            <a:ext cx="6035040" cy="786384"/>
          </a:xfrm>
          <a:prstGeom prst="roundRect">
            <a:avLst>
              <a:gd name="adj" fmla="val 6977"/>
            </a:avLst>
          </a:prstGeom>
          <a:solidFill>
            <a:srgbClr val="FFFFFF"/>
          </a:solidFill>
          <a:ln w="12700">
            <a:solidFill>
              <a:srgbClr val="E2EAEE"/>
            </a:solidFill>
            <a:prstDash val="solid"/>
          </a:ln>
        </p:spPr>
      </p:sp>
      <p:sp>
        <p:nvSpPr>
          <p:cNvPr id="18" name="Shape 16"/>
          <p:cNvSpPr/>
          <p:nvPr/>
        </p:nvSpPr>
        <p:spPr>
          <a:xfrm>
            <a:off x="850392" y="4215384"/>
            <a:ext cx="219456" cy="219456"/>
          </a:xfrm>
          <a:prstGeom prst="ellipse">
            <a:avLst/>
          </a:prstGeom>
          <a:solidFill>
            <a:srgbClr val="D64545"/>
          </a:solidFill>
        </p:spPr>
      </p:sp>
      <p:sp>
        <p:nvSpPr>
          <p:cNvPr id="19" name="Text 17"/>
          <p:cNvSpPr/>
          <p:nvPr/>
        </p:nvSpPr>
        <p:spPr>
          <a:xfrm>
            <a:off x="1216152" y="4014216"/>
            <a:ext cx="2926080" cy="310896"/>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Reachable</a:t>
            </a:r>
            <a:endParaRPr lang="en-US" sz="1250" dirty="0"/>
          </a:p>
        </p:txBody>
      </p:sp>
      <p:sp>
        <p:nvSpPr>
          <p:cNvPr id="20" name="Text 18"/>
          <p:cNvSpPr/>
          <p:nvPr/>
        </p:nvSpPr>
        <p:spPr>
          <a:xfrm>
            <a:off x="1216152" y="4315968"/>
            <a:ext cx="4114800" cy="36576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There is a real path to it, and here is that path.</a:t>
            </a:r>
            <a:endParaRPr lang="en-US" sz="1050" dirty="0"/>
          </a:p>
        </p:txBody>
      </p:sp>
      <p:sp>
        <p:nvSpPr>
          <p:cNvPr id="21" name="Text 19"/>
          <p:cNvSpPr/>
          <p:nvPr/>
        </p:nvSpPr>
        <p:spPr>
          <a:xfrm>
            <a:off x="5303520" y="4014216"/>
            <a:ext cx="1188720" cy="310896"/>
          </a:xfrm>
          <a:prstGeom prst="rect">
            <a:avLst/>
          </a:prstGeom>
          <a:noFill/>
        </p:spPr>
        <p:txBody>
          <a:bodyPr wrap="square" lIns="0" tIns="0" rIns="0" bIns="0" rtlCol="0" anchor="ctr"/>
          <a:lstStyle/>
          <a:p>
            <a:pPr marL="0" indent="0" algn="r">
              <a:buNone/>
            </a:pPr>
            <a:r>
              <a:rPr lang="en-US" sz="950" b="1" dirty="0">
                <a:solidFill>
                  <a:srgbClr val="D64545"/>
                </a:solidFill>
                <a:latin typeface="Calibri" panose="020F0502020204030204" pitchFamily="34" charset="0"/>
                <a:ea typeface="Calibri" panose="020F0502020204030204" pitchFamily="34" charset="-122"/>
                <a:cs typeface="Calibri" panose="020F0502020204030204" pitchFamily="34" charset="-120"/>
              </a:rPr>
              <a:t>Needs fixing</a:t>
            </a:r>
            <a:endParaRPr lang="en-US" sz="950" dirty="0"/>
          </a:p>
        </p:txBody>
      </p:sp>
      <p:sp>
        <p:nvSpPr>
          <p:cNvPr id="22" name="Shape 20"/>
          <p:cNvSpPr/>
          <p:nvPr/>
        </p:nvSpPr>
        <p:spPr>
          <a:xfrm>
            <a:off x="594360" y="4837176"/>
            <a:ext cx="6035040" cy="786384"/>
          </a:xfrm>
          <a:prstGeom prst="roundRect">
            <a:avLst>
              <a:gd name="adj" fmla="val 6977"/>
            </a:avLst>
          </a:prstGeom>
          <a:solidFill>
            <a:srgbClr val="FFFFFF"/>
          </a:solidFill>
          <a:ln w="12700">
            <a:solidFill>
              <a:srgbClr val="E2EAEE"/>
            </a:solidFill>
            <a:prstDash val="solid"/>
          </a:ln>
        </p:spPr>
      </p:sp>
      <p:sp>
        <p:nvSpPr>
          <p:cNvPr id="23" name="Shape 21"/>
          <p:cNvSpPr/>
          <p:nvPr/>
        </p:nvSpPr>
        <p:spPr>
          <a:xfrm>
            <a:off x="850392" y="5111496"/>
            <a:ext cx="219456" cy="219456"/>
          </a:xfrm>
          <a:prstGeom prst="ellipse">
            <a:avLst/>
          </a:prstGeom>
          <a:solidFill>
            <a:srgbClr val="C88A1E"/>
          </a:solidFill>
        </p:spPr>
      </p:sp>
      <p:sp>
        <p:nvSpPr>
          <p:cNvPr id="24" name="Text 22"/>
          <p:cNvSpPr/>
          <p:nvPr/>
        </p:nvSpPr>
        <p:spPr>
          <a:xfrm>
            <a:off x="1216152" y="4910328"/>
            <a:ext cx="2926080" cy="310896"/>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Assumed reachable</a:t>
            </a:r>
            <a:endParaRPr lang="en-US" sz="1250" dirty="0"/>
          </a:p>
        </p:txBody>
      </p:sp>
      <p:sp>
        <p:nvSpPr>
          <p:cNvPr id="25" name="Text 23"/>
          <p:cNvSpPr/>
          <p:nvPr/>
        </p:nvSpPr>
        <p:spPr>
          <a:xfrm>
            <a:off x="1216152" y="5212080"/>
            <a:ext cx="4114800" cy="36576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 advisory does not say which function is affected, so we cannot rule it out.</a:t>
            </a:r>
            <a:endParaRPr lang="en-US" sz="1050" dirty="0"/>
          </a:p>
        </p:txBody>
      </p:sp>
      <p:sp>
        <p:nvSpPr>
          <p:cNvPr id="26" name="Text 24"/>
          <p:cNvSpPr/>
          <p:nvPr/>
        </p:nvSpPr>
        <p:spPr>
          <a:xfrm>
            <a:off x="5303520" y="4910328"/>
            <a:ext cx="1188720" cy="310896"/>
          </a:xfrm>
          <a:prstGeom prst="rect">
            <a:avLst/>
          </a:prstGeom>
          <a:noFill/>
        </p:spPr>
        <p:txBody>
          <a:bodyPr wrap="square" lIns="0" tIns="0" rIns="0" bIns="0" rtlCol="0" anchor="ctr"/>
          <a:lstStyle/>
          <a:p>
            <a:pPr marL="0" indent="0" algn="r">
              <a:buNone/>
            </a:pPr>
            <a:r>
              <a:rPr lang="en-US" sz="950" b="1" dirty="0">
                <a:solidFill>
                  <a:srgbClr val="C88A1E"/>
                </a:solidFill>
                <a:latin typeface="Calibri" panose="020F0502020204030204" pitchFamily="34" charset="0"/>
                <a:ea typeface="Calibri" panose="020F0502020204030204" pitchFamily="34" charset="-122"/>
                <a:cs typeface="Calibri" panose="020F0502020204030204" pitchFamily="34" charset="-120"/>
              </a:rPr>
              <a:t>Reported anyway</a:t>
            </a:r>
            <a:endParaRPr lang="en-US" sz="950" dirty="0"/>
          </a:p>
        </p:txBody>
      </p:sp>
      <p:sp>
        <p:nvSpPr>
          <p:cNvPr id="27" name="Text 25"/>
          <p:cNvSpPr/>
          <p:nvPr/>
        </p:nvSpPr>
        <p:spPr>
          <a:xfrm>
            <a:off x="6903720" y="2148840"/>
            <a:ext cx="4663440" cy="292608"/>
          </a:xfrm>
          <a:prstGeom prst="rect">
            <a:avLst/>
          </a:prstGeom>
          <a:noFill/>
        </p:spPr>
        <p:txBody>
          <a:bodyPr wrap="square" lIns="0" tIns="0" rIns="0" bIns="0" rtlCol="0" anchor="ctr"/>
          <a:lstStyle/>
          <a:p>
            <a:pPr marL="0" indent="0">
              <a:buNone/>
            </a:pPr>
            <a:r>
              <a:rPr lang="en-US" sz="1300" b="1" dirty="0">
                <a:solidFill>
                  <a:srgbClr val="1B2A33"/>
                </a:solidFill>
                <a:latin typeface="Calibri" panose="020F0502020204030204" pitchFamily="34" charset="0"/>
                <a:ea typeface="Calibri" panose="020F0502020204030204" pitchFamily="34" charset="-122"/>
                <a:cs typeface="Calibri" panose="020F0502020204030204" pitchFamily="34" charset="-120"/>
              </a:rPr>
              <a:t>Early result from the prototype</a:t>
            </a:r>
            <a:endParaRPr lang="en-US" sz="1300" dirty="0"/>
          </a:p>
        </p:txBody>
      </p:sp>
      <p:sp>
        <p:nvSpPr>
          <p:cNvPr id="28" name="Shape 26"/>
          <p:cNvSpPr/>
          <p:nvPr/>
        </p:nvSpPr>
        <p:spPr>
          <a:xfrm>
            <a:off x="6903720" y="2514600"/>
            <a:ext cx="4663440" cy="1828800"/>
          </a:xfrm>
          <a:prstGeom prst="roundRect">
            <a:avLst>
              <a:gd name="adj" fmla="val 3000"/>
            </a:avLst>
          </a:prstGeom>
          <a:solidFill>
            <a:srgbClr val="0A1E29"/>
          </a:solidFill>
          <a:ln w="12700">
            <a:solidFill>
              <a:srgbClr val="1E3D4D"/>
            </a:solidFill>
            <a:prstDash val="solid"/>
          </a:ln>
        </p:spPr>
      </p:sp>
      <p:sp>
        <p:nvSpPr>
          <p:cNvPr id="29" name="Text 27"/>
          <p:cNvSpPr/>
          <p:nvPr/>
        </p:nvSpPr>
        <p:spPr>
          <a:xfrm>
            <a:off x="7132320" y="2697480"/>
            <a:ext cx="4297680" cy="1463040"/>
          </a:xfrm>
          <a:prstGeom prst="rect">
            <a:avLst/>
          </a:prstGeom>
          <a:noFill/>
        </p:spPr>
        <p:txBody>
          <a:bodyPr wrap="square" lIns="0" tIns="0" rIns="0" bIns="0" rtlCol="0" anchor="ctr"/>
          <a:lstStyle/>
          <a:p>
            <a:pPr marL="0" indent="0">
              <a:lnSpc>
                <a:spcPts val="1500"/>
              </a:lnSpc>
              <a:buNone/>
            </a:pPr>
            <a:r>
              <a:rPr lang="en-US" sz="1050" dirty="0">
                <a:solidFill>
                  <a:srgbClr val="DCE7EC"/>
                </a:solidFill>
                <a:latin typeface="Courier New" panose="02070309020205020404" pitchFamily="34" charset="0"/>
                <a:ea typeface="Courier New" panose="02070309020205020404" pitchFamily="34" charset="-122"/>
                <a:cs typeface="Courier New" panose="02070309020205020404" pitchFamily="34" charset="-120"/>
              </a:rPr>
              <a:t>app.py:31   app</a:t>
            </a:r>
            <a:endParaRPr lang="en-US" sz="1050" dirty="0"/>
          </a:p>
          <a:p>
            <a:pPr marL="0" indent="0">
              <a:lnSpc>
                <a:spcPts val="1500"/>
              </a:lnSpc>
              <a:buNone/>
            </a:pPr>
            <a:r>
              <a:rPr lang="en-US" sz="1050" dirty="0">
                <a:solidFill>
                  <a:srgbClr val="DCE7EC"/>
                </a:solidFill>
                <a:latin typeface="Courier New" panose="02070309020205020404" pitchFamily="34" charset="0"/>
                <a:ea typeface="Courier New" panose="02070309020205020404" pitchFamily="34" charset="-122"/>
                <a:cs typeface="Courier New" panose="02070309020205020404" pitchFamily="34" charset="-120"/>
              </a:rPr>
              <a:t>  to app.main            app.py:26</a:t>
            </a:r>
            <a:endParaRPr lang="en-US" sz="1050" dirty="0"/>
          </a:p>
          <a:p>
            <a:pPr marL="0" indent="0">
              <a:lnSpc>
                <a:spcPts val="1500"/>
              </a:lnSpc>
              <a:buNone/>
            </a:pPr>
            <a:r>
              <a:rPr lang="en-US" sz="1050" dirty="0">
                <a:solidFill>
                  <a:srgbClr val="DCE7EC"/>
                </a:solidFill>
                <a:latin typeface="Courier New" panose="02070309020205020404" pitchFamily="34" charset="0"/>
                <a:ea typeface="Courier New" panose="02070309020205020404" pitchFamily="34" charset="-122"/>
                <a:cs typeface="Courier New" panose="02070309020205020404" pitchFamily="34" charset="-120"/>
              </a:rPr>
              <a:t>     to app.bootstrap     app.py:21</a:t>
            </a:r>
            <a:endParaRPr lang="en-US" sz="1050" dirty="0"/>
          </a:p>
          <a:p>
            <a:pPr marL="0" indent="0">
              <a:lnSpc>
                <a:spcPts val="1500"/>
              </a:lnSpc>
              <a:buNone/>
            </a:pPr>
            <a:r>
              <a:rPr lang="en-US" sz="1050" dirty="0">
                <a:solidFill>
                  <a:srgbClr val="DCE7EC"/>
                </a:solidFill>
                <a:latin typeface="Courier New" panose="02070309020205020404" pitchFamily="34" charset="0"/>
                <a:ea typeface="Courier New" panose="02070309020205020404" pitchFamily="34" charset="-122"/>
                <a:cs typeface="Courier New" panose="02070309020205020404" pitchFamily="34" charset="-120"/>
              </a:rPr>
              <a:t>        to load_settings  config.py:18</a:t>
            </a:r>
            <a:endParaRPr lang="en-US" sz="1050" dirty="0"/>
          </a:p>
          <a:p>
            <a:pPr marL="0" indent="0">
              <a:lnSpc>
                <a:spcPts val="1500"/>
              </a:lnSpc>
              <a:buNone/>
            </a:pPr>
            <a:r>
              <a:rPr lang="en-US" sz="1050" b="1" dirty="0">
                <a:solidFill>
                  <a:srgbClr val="FF8A7A"/>
                </a:solidFill>
                <a:latin typeface="Courier New" panose="02070309020205020404" pitchFamily="34" charset="0"/>
                <a:ea typeface="Courier New" panose="02070309020205020404" pitchFamily="34" charset="-122"/>
                <a:cs typeface="Courier New" panose="02070309020205020404" pitchFamily="34" charset="-120"/>
              </a:rPr>
              <a:t>           to yaml.load</a:t>
            </a:r>
            <a:endParaRPr lang="en-US" sz="1050" dirty="0"/>
          </a:p>
        </p:txBody>
      </p:sp>
      <p:sp>
        <p:nvSpPr>
          <p:cNvPr id="30" name="Text 28"/>
          <p:cNvSpPr/>
          <p:nvPr/>
        </p:nvSpPr>
        <p:spPr>
          <a:xfrm>
            <a:off x="6903720" y="4434840"/>
            <a:ext cx="4663440" cy="54864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A vulnerable PyYAML call, found four steps from the entry point across three files, on a small test project we wrote.</a:t>
            </a:r>
            <a:endParaRPr lang="en-US" sz="1050" dirty="0"/>
          </a:p>
        </p:txBody>
      </p:sp>
      <p:sp>
        <p:nvSpPr>
          <p:cNvPr id="31" name="Shape 29"/>
          <p:cNvSpPr/>
          <p:nvPr/>
        </p:nvSpPr>
        <p:spPr>
          <a:xfrm>
            <a:off x="6903720" y="5029200"/>
            <a:ext cx="4663440" cy="777240"/>
          </a:xfrm>
          <a:prstGeom prst="roundRect">
            <a:avLst>
              <a:gd name="adj" fmla="val 7059"/>
            </a:avLst>
          </a:prstGeom>
          <a:solidFill>
            <a:srgbClr val="EEF3F5"/>
          </a:solidFill>
          <a:ln w="12700">
            <a:solidFill>
              <a:srgbClr val="E2EAEE"/>
            </a:solidFill>
            <a:prstDash val="solid"/>
          </a:ln>
        </p:spPr>
      </p:sp>
      <p:sp>
        <p:nvSpPr>
          <p:cNvPr id="32" name="Text 30"/>
          <p:cNvSpPr/>
          <p:nvPr/>
        </p:nvSpPr>
        <p:spPr>
          <a:xfrm>
            <a:off x="7132320" y="5029200"/>
            <a:ext cx="4251960" cy="777240"/>
          </a:xfrm>
          <a:prstGeom prst="rect">
            <a:avLst/>
          </a:prstGeom>
          <a:noFill/>
        </p:spPr>
        <p:txBody>
          <a:bodyPr wrap="square" lIns="0" tIns="0" rIns="0" bIns="0" rtlCol="0" anchor="ctr"/>
          <a:lstStyle/>
          <a:p>
            <a:pPr marL="0" indent="0">
              <a:buNone/>
            </a:pPr>
            <a:r>
              <a:rPr lang="en-US" sz="1050" i="1" dirty="0">
                <a:solidFill>
                  <a:srgbClr val="1B2A33"/>
                </a:solidFill>
                <a:latin typeface="Calibri" panose="020F0502020204030204" pitchFamily="34" charset="0"/>
                <a:ea typeface="Calibri" panose="020F0502020204030204" pitchFamily="34" charset="-122"/>
                <a:cs typeface="Calibri" panose="020F0502020204030204" pitchFamily="34" charset="-120"/>
              </a:rPr>
              <a:t>Working for Python. For npm we can only tell whether a package is imported, not whether the function is called. That is the next big piece.</a:t>
            </a:r>
            <a:endParaRPr lang="en-US" sz="1050" dirty="0"/>
          </a:p>
        </p:txBody>
      </p:sp>
      <p:sp>
        <p:nvSpPr>
          <p:cNvPr id="33" name="Text 31"/>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How we will know whether it actually works</a:t>
            </a:r>
            <a:endParaRPr lang="en-US" sz="3000" dirty="0"/>
          </a:p>
        </p:txBody>
      </p:sp>
      <p:sp>
        <p:nvSpPr>
          <p:cNvPr id="6" name="Shape 4"/>
          <p:cNvSpPr/>
          <p:nvPr/>
        </p:nvSpPr>
        <p:spPr>
          <a:xfrm>
            <a:off x="594360" y="1645920"/>
            <a:ext cx="5806440" cy="2331720"/>
          </a:xfrm>
          <a:prstGeom prst="roundRect">
            <a:avLst>
              <a:gd name="adj" fmla="val 2353"/>
            </a:avLst>
          </a:prstGeom>
          <a:solidFill>
            <a:srgbClr val="FCF0EE"/>
          </a:solidFill>
          <a:ln w="12700">
            <a:solidFill>
              <a:srgbClr val="D64545"/>
            </a:solidFill>
            <a:prstDash val="solid"/>
          </a:ln>
        </p:spPr>
      </p:sp>
      <p:sp>
        <p:nvSpPr>
          <p:cNvPr id="7" name="Text 5"/>
          <p:cNvSpPr/>
          <p:nvPr/>
        </p:nvSpPr>
        <p:spPr>
          <a:xfrm>
            <a:off x="886968" y="1828800"/>
            <a:ext cx="5029200" cy="256032"/>
          </a:xfrm>
          <a:prstGeom prst="rect">
            <a:avLst/>
          </a:prstGeom>
          <a:noFill/>
        </p:spPr>
        <p:txBody>
          <a:bodyPr wrap="square" lIns="0" tIns="0" rIns="0" bIns="0" rtlCol="0" anchor="ctr"/>
          <a:lstStyle/>
          <a:p>
            <a:pPr marL="0" indent="0">
              <a:buNone/>
            </a:pPr>
            <a:r>
              <a:rPr lang="en-US" sz="1050" b="1" kern="0" spc="150" dirty="0">
                <a:solidFill>
                  <a:srgbClr val="D64545"/>
                </a:solidFill>
                <a:latin typeface="Calibri" panose="020F0502020204030204" pitchFamily="34" charset="0"/>
                <a:ea typeface="Calibri" panose="020F0502020204030204" pitchFamily="34" charset="-122"/>
                <a:cs typeface="Calibri" panose="020F0502020204030204" pitchFamily="34" charset="-120"/>
              </a:rPr>
              <a:t>THE MISTAKE WE ALMOST MADE</a:t>
            </a:r>
            <a:endParaRPr lang="en-US" sz="1050" dirty="0"/>
          </a:p>
        </p:txBody>
      </p:sp>
      <p:sp>
        <p:nvSpPr>
          <p:cNvPr id="8" name="Text 6"/>
          <p:cNvSpPr/>
          <p:nvPr/>
        </p:nvSpPr>
        <p:spPr>
          <a:xfrm>
            <a:off x="886968" y="2148840"/>
            <a:ext cx="5212080" cy="658368"/>
          </a:xfrm>
          <a:prstGeom prst="rect">
            <a:avLst/>
          </a:prstGeom>
          <a:noFill/>
        </p:spPr>
        <p:txBody>
          <a:bodyPr wrap="square" lIns="0" tIns="0" rIns="0" bIns="0" rtlCol="0" anchor="ct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Our malicious samples come from an archive, so they have no live registry data. Our clean samples were downloaded today, so they have all of it.</a:t>
            </a:r>
            <a:endParaRPr lang="en-US" sz="1150" dirty="0"/>
          </a:p>
        </p:txBody>
      </p:sp>
      <p:sp>
        <p:nvSpPr>
          <p:cNvPr id="9" name="Text 7"/>
          <p:cNvSpPr/>
          <p:nvPr/>
        </p:nvSpPr>
        <p:spPr>
          <a:xfrm>
            <a:off x="886968" y="2788920"/>
            <a:ext cx="5212080" cy="1005840"/>
          </a:xfrm>
          <a:prstGeom prst="rect">
            <a:avLst/>
          </a:prstGeom>
          <a:noFill/>
        </p:spPr>
        <p:txBody>
          <a:bodyPr wrap="square" lIns="0" tIns="0" rIns="0" bIns="0" rtlCol="0" anchor="ctr"/>
          <a:lstStyle/>
          <a:p>
            <a:pPr marL="0" indent="0">
              <a:buNone/>
            </a:pPr>
            <a:r>
              <a:rPr lang="en-US" sz="1150" dirty="0">
                <a:solidFill>
                  <a:srgbClr val="1B2A33"/>
                </a:solidFill>
                <a:latin typeface="Calibri" panose="020F0502020204030204" pitchFamily="34" charset="0"/>
                <a:ea typeface="Calibri" panose="020F0502020204030204" pitchFamily="34" charset="-122"/>
                <a:cs typeface="Calibri" panose="020F0502020204030204" pitchFamily="34" charset="-120"/>
              </a:rPr>
              <a:t>If we fed that to the model, "version count above zero" would split the two groups perfectly. It would score almost 100% by learning which folder a sample came from, and be useless on anything real.</a:t>
            </a:r>
            <a:endParaRPr lang="en-US" sz="1150" dirty="0"/>
          </a:p>
        </p:txBody>
      </p:sp>
      <p:sp>
        <p:nvSpPr>
          <p:cNvPr id="10" name="Shape 8"/>
          <p:cNvSpPr/>
          <p:nvPr/>
        </p:nvSpPr>
        <p:spPr>
          <a:xfrm>
            <a:off x="594360" y="4160520"/>
            <a:ext cx="5806440" cy="914400"/>
          </a:xfrm>
          <a:prstGeom prst="roundRect">
            <a:avLst>
              <a:gd name="adj" fmla="val 6000"/>
            </a:avLst>
          </a:prstGeom>
          <a:solidFill>
            <a:srgbClr val="EEF3F5"/>
          </a:solidFill>
          <a:ln w="12700">
            <a:solidFill>
              <a:srgbClr val="E2EAEE"/>
            </a:solidFill>
            <a:prstDash val="solid"/>
          </a:ln>
        </p:spPr>
      </p:sp>
      <p:sp>
        <p:nvSpPr>
          <p:cNvPr id="11" name="Text 9"/>
          <p:cNvSpPr/>
          <p:nvPr/>
        </p:nvSpPr>
        <p:spPr>
          <a:xfrm>
            <a:off x="886968" y="4160520"/>
            <a:ext cx="5212080" cy="914400"/>
          </a:xfrm>
          <a:prstGeom prst="rect">
            <a:avLst/>
          </a:prstGeom>
          <a:noFill/>
        </p:spPr>
        <p:txBody>
          <a:bodyPr wrap="square" lIns="0" tIns="0" rIns="0" bIns="0" rtlCol="0" anchor="ctr"/>
          <a:lstStyle/>
          <a:p>
            <a:pPr marL="0" indent="0">
              <a:buNone/>
            </a:pPr>
            <a:r>
              <a:rPr lang="en-US" sz="1150" b="1" dirty="0">
                <a:solidFill>
                  <a:srgbClr val="0B7A5A"/>
                </a:solidFill>
                <a:latin typeface="Calibri" panose="020F0502020204030204" pitchFamily="34" charset="0"/>
                <a:ea typeface="Calibri" panose="020F0502020204030204" pitchFamily="34" charset="-122"/>
                <a:cs typeface="Calibri" panose="020F0502020204030204" pitchFamily="34" charset="-120"/>
              </a:rPr>
              <a:t>So we strip those five fields out of every training sample, in the code that builds the dataset, where nothing can skip it.</a:t>
            </a:r>
            <a:endParaRPr lang="en-US" sz="1150" dirty="0"/>
          </a:p>
        </p:txBody>
      </p:sp>
      <p:sp>
        <p:nvSpPr>
          <p:cNvPr id="12" name="Text 10"/>
          <p:cNvSpPr/>
          <p:nvPr/>
        </p:nvSpPr>
        <p:spPr>
          <a:xfrm>
            <a:off x="6720840" y="1691640"/>
            <a:ext cx="4846320" cy="292608"/>
          </a:xfrm>
          <a:prstGeom prst="rect">
            <a:avLst/>
          </a:prstGeom>
          <a:noFill/>
        </p:spPr>
        <p:txBody>
          <a:bodyPr wrap="square" lIns="0" tIns="0" rIns="0" bIns="0" rtlCol="0" anchor="ctr"/>
          <a:lstStyle/>
          <a:p>
            <a:pPr marL="0" indent="0">
              <a:buNone/>
            </a:pPr>
            <a:r>
              <a:rPr lang="en-US" sz="1300" b="1" dirty="0">
                <a:solidFill>
                  <a:srgbClr val="1B2A33"/>
                </a:solidFill>
                <a:latin typeface="Calibri" panose="020F0502020204030204" pitchFamily="34" charset="0"/>
                <a:ea typeface="Calibri" panose="020F0502020204030204" pitchFamily="34" charset="-122"/>
                <a:cs typeface="Calibri" panose="020F0502020204030204" pitchFamily="34" charset="-120"/>
              </a:rPr>
              <a:t>The validation plan</a:t>
            </a:r>
            <a:endParaRPr lang="en-US" sz="1300" dirty="0"/>
          </a:p>
        </p:txBody>
      </p:sp>
      <p:sp>
        <p:nvSpPr>
          <p:cNvPr id="13" name="Text 11"/>
          <p:cNvSpPr/>
          <p:nvPr/>
        </p:nvSpPr>
        <p:spPr>
          <a:xfrm>
            <a:off x="6720840" y="2103120"/>
            <a:ext cx="3657600" cy="274320"/>
          </a:xfrm>
          <a:prstGeom prst="rect">
            <a:avLst/>
          </a:prstGeom>
          <a:noFill/>
        </p:spPr>
        <p:txBody>
          <a:bodyPr wrap="square" lIns="0" tIns="0" rIns="0" bIns="0" rtlCol="0" anchor="ct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Split by package, not by file</a:t>
            </a:r>
            <a:endParaRPr lang="en-US" sz="1150" dirty="0"/>
          </a:p>
        </p:txBody>
      </p:sp>
      <p:sp>
        <p:nvSpPr>
          <p:cNvPr id="15" name="Text 13"/>
          <p:cNvSpPr/>
          <p:nvPr/>
        </p:nvSpPr>
        <p:spPr>
          <a:xfrm>
            <a:off x="10515600" y="2112264"/>
            <a:ext cx="1051560" cy="237744"/>
          </a:xfrm>
          <a:prstGeom prst="rect">
            <a:avLst/>
          </a:prstGeom>
          <a:noFill/>
        </p:spPr>
        <p:txBody>
          <a:bodyPr wrap="square" lIns="0" tIns="0" rIns="0" bIns="0" rtlCol="0" anchor="ctr"/>
          <a:lstStyle/>
          <a:p>
            <a:pPr marL="0" indent="0" algn="ctr">
              <a:buNone/>
            </a:pPr>
            <a:endParaRPr lang="en-US" sz="850" dirty="0"/>
          </a:p>
        </p:txBody>
      </p:sp>
      <p:sp>
        <p:nvSpPr>
          <p:cNvPr id="16" name="Text 14"/>
          <p:cNvSpPr/>
          <p:nvPr/>
        </p:nvSpPr>
        <p:spPr>
          <a:xfrm>
            <a:off x="6720840" y="2368296"/>
            <a:ext cx="48463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Two versions of the same package can never sit on both sides of the split.</a:t>
            </a:r>
            <a:endParaRPr lang="en-US" sz="1050" dirty="0"/>
          </a:p>
        </p:txBody>
      </p:sp>
      <p:sp>
        <p:nvSpPr>
          <p:cNvPr id="17" name="Text 15"/>
          <p:cNvSpPr/>
          <p:nvPr/>
        </p:nvSpPr>
        <p:spPr>
          <a:xfrm>
            <a:off x="6720840" y="3090672"/>
            <a:ext cx="3657600" cy="274320"/>
          </a:xfrm>
          <a:prstGeom prst="rect">
            <a:avLst/>
          </a:prstGeom>
          <a:noFill/>
        </p:spPr>
        <p:txBody>
          <a:bodyPr wrap="square" lIns="0" tIns="0" rIns="0" bIns="0" rtlCol="0" anchor="ct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Compare against a rules engine</a:t>
            </a:r>
            <a:endParaRPr lang="en-US" sz="1150" dirty="0"/>
          </a:p>
        </p:txBody>
      </p:sp>
      <p:sp>
        <p:nvSpPr>
          <p:cNvPr id="19" name="Text 17"/>
          <p:cNvSpPr/>
          <p:nvPr/>
        </p:nvSpPr>
        <p:spPr>
          <a:xfrm>
            <a:off x="10515600" y="3099816"/>
            <a:ext cx="1051560" cy="237744"/>
          </a:xfrm>
          <a:prstGeom prst="rect">
            <a:avLst/>
          </a:prstGeom>
          <a:noFill/>
        </p:spPr>
        <p:txBody>
          <a:bodyPr wrap="square" lIns="0" tIns="0" rIns="0" bIns="0" rtlCol="0" anchor="ctr"/>
          <a:lstStyle/>
          <a:p>
            <a:pPr marL="0" indent="0" algn="ctr">
              <a:buNone/>
            </a:pPr>
            <a:endParaRPr lang="en-US" sz="850" dirty="0"/>
          </a:p>
        </p:txBody>
      </p:sp>
      <p:sp>
        <p:nvSpPr>
          <p:cNvPr id="20" name="Text 18"/>
          <p:cNvSpPr/>
          <p:nvPr/>
        </p:nvSpPr>
        <p:spPr>
          <a:xfrm>
            <a:off x="6720840" y="3355848"/>
            <a:ext cx="48463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Same signals, no learning. Without it, saying we used machine learning proves nothing.</a:t>
            </a:r>
            <a:endParaRPr lang="en-US" sz="1050" dirty="0"/>
          </a:p>
        </p:txBody>
      </p:sp>
      <p:sp>
        <p:nvSpPr>
          <p:cNvPr id="21" name="Text 19"/>
          <p:cNvSpPr/>
          <p:nvPr/>
        </p:nvSpPr>
        <p:spPr>
          <a:xfrm>
            <a:off x="6720840" y="4078224"/>
            <a:ext cx="3657600" cy="274320"/>
          </a:xfrm>
          <a:prstGeom prst="rect">
            <a:avLst/>
          </a:prstGeom>
          <a:noFill/>
        </p:spPr>
        <p:txBody>
          <a:bodyPr wrap="square" lIns="0" tIns="0" rIns="0" bIns="0" rtlCol="0" anchor="ct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Remove each feature group and retrain</a:t>
            </a:r>
            <a:endParaRPr lang="en-US" sz="1150" dirty="0"/>
          </a:p>
        </p:txBody>
      </p:sp>
      <p:sp>
        <p:nvSpPr>
          <p:cNvPr id="23" name="Text 21"/>
          <p:cNvSpPr/>
          <p:nvPr/>
        </p:nvSpPr>
        <p:spPr>
          <a:xfrm>
            <a:off x="10515600" y="4087368"/>
            <a:ext cx="1051560" cy="237744"/>
          </a:xfrm>
          <a:prstGeom prst="rect">
            <a:avLst/>
          </a:prstGeom>
          <a:noFill/>
        </p:spPr>
        <p:txBody>
          <a:bodyPr wrap="square" lIns="0" tIns="0" rIns="0" bIns="0" rtlCol="0" anchor="ctr"/>
          <a:lstStyle/>
          <a:p>
            <a:pPr marL="0" indent="0" algn="ctr">
              <a:buNone/>
            </a:pPr>
            <a:endParaRPr lang="en-US" sz="850" dirty="0"/>
          </a:p>
        </p:txBody>
      </p:sp>
      <p:sp>
        <p:nvSpPr>
          <p:cNvPr id="24" name="Text 22"/>
          <p:cNvSpPr/>
          <p:nvPr/>
        </p:nvSpPr>
        <p:spPr>
          <a:xfrm>
            <a:off x="6720840" y="4343400"/>
            <a:ext cx="48463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Shows what each kind of signal really contributes.</a:t>
            </a:r>
            <a:endParaRPr lang="en-US" sz="1050" dirty="0"/>
          </a:p>
        </p:txBody>
      </p:sp>
      <p:sp>
        <p:nvSpPr>
          <p:cNvPr id="25" name="Text 23"/>
          <p:cNvSpPr/>
          <p:nvPr/>
        </p:nvSpPr>
        <p:spPr>
          <a:xfrm>
            <a:off x="6720840" y="5065776"/>
            <a:ext cx="3657600" cy="274320"/>
          </a:xfrm>
          <a:prstGeom prst="rect">
            <a:avLst/>
          </a:prstGeom>
          <a:noFill/>
        </p:spPr>
        <p:txBody>
          <a:bodyPr wrap="square" lIns="0" tIns="0" rIns="0" bIns="0" rtlCol="0" anchor="ctr"/>
          <a:lstStyle/>
          <a:p>
            <a:pPr marL="0" indent="0">
              <a:buNone/>
            </a:pPr>
            <a:r>
              <a:rPr lang="en-US" sz="1150" b="1" dirty="0">
                <a:solidFill>
                  <a:srgbClr val="1B2A33"/>
                </a:solidFill>
                <a:latin typeface="Calibri" panose="020F0502020204030204" pitchFamily="34" charset="0"/>
                <a:ea typeface="Calibri" panose="020F0502020204030204" pitchFamily="34" charset="-122"/>
                <a:cs typeface="Calibri" panose="020F0502020204030204" pitchFamily="34" charset="-120"/>
              </a:rPr>
              <a:t>Test on real open source projects</a:t>
            </a:r>
            <a:endParaRPr lang="en-US" sz="1150" dirty="0"/>
          </a:p>
        </p:txBody>
      </p:sp>
      <p:sp>
        <p:nvSpPr>
          <p:cNvPr id="27" name="Text 25"/>
          <p:cNvSpPr/>
          <p:nvPr/>
        </p:nvSpPr>
        <p:spPr>
          <a:xfrm>
            <a:off x="10515600" y="5074920"/>
            <a:ext cx="1051560" cy="237744"/>
          </a:xfrm>
          <a:prstGeom prst="rect">
            <a:avLst/>
          </a:prstGeom>
          <a:noFill/>
        </p:spPr>
        <p:txBody>
          <a:bodyPr wrap="square" lIns="0" tIns="0" rIns="0" bIns="0" rtlCol="0" anchor="ctr"/>
          <a:lstStyle/>
          <a:p>
            <a:pPr marL="0" indent="0" algn="ctr">
              <a:buNone/>
            </a:pPr>
            <a:endParaRPr lang="en-US" sz="850" dirty="0"/>
          </a:p>
        </p:txBody>
      </p:sp>
      <p:sp>
        <p:nvSpPr>
          <p:cNvPr id="28" name="Text 26"/>
          <p:cNvSpPr/>
          <p:nvPr/>
        </p:nvSpPr>
        <p:spPr>
          <a:xfrm>
            <a:off x="6720840" y="5330952"/>
            <a:ext cx="4846320" cy="658368"/>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 number that matters is how much CVE noise we remove in practice.</a:t>
            </a:r>
            <a:endParaRPr lang="en-US" sz="1050" dirty="0"/>
          </a:p>
        </p:txBody>
      </p:sp>
      <p:sp>
        <p:nvSpPr>
          <p:cNvPr id="29" name="Text 27"/>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MODULE DESCRIPTION AND SYSTEM DESIGN</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How the system is put together</a:t>
            </a:r>
            <a:endParaRPr lang="en-US" sz="3000" dirty="0"/>
          </a:p>
        </p:txBody>
      </p:sp>
      <p:sp>
        <p:nvSpPr>
          <p:cNvPr id="6" name="Shape 4"/>
          <p:cNvSpPr/>
          <p:nvPr>
            <p:custDataLst>
              <p:tags r:id="rId1"/>
            </p:custDataLst>
          </p:nvPr>
        </p:nvSpPr>
        <p:spPr>
          <a:xfrm>
            <a:off x="594360" y="1691640"/>
            <a:ext cx="7863840" cy="749808"/>
          </a:xfrm>
          <a:prstGeom prst="roundRect">
            <a:avLst>
              <a:gd name="adj" fmla="val 7317"/>
            </a:avLst>
          </a:prstGeom>
          <a:solidFill>
            <a:srgbClr val="FFFFFF"/>
          </a:solidFill>
          <a:ln w="12700">
            <a:solidFill>
              <a:srgbClr val="E2EAEE"/>
            </a:solidFill>
            <a:prstDash val="solid"/>
          </a:ln>
        </p:spPr>
      </p:sp>
      <p:sp>
        <p:nvSpPr>
          <p:cNvPr id="7" name="Shape 5"/>
          <p:cNvSpPr/>
          <p:nvPr>
            <p:custDataLst>
              <p:tags r:id="rId2"/>
            </p:custDataLst>
          </p:nvPr>
        </p:nvSpPr>
        <p:spPr>
          <a:xfrm>
            <a:off x="822960" y="1929384"/>
            <a:ext cx="274320" cy="274320"/>
          </a:xfrm>
          <a:prstGeom prst="rect">
            <a:avLst/>
          </a:prstGeom>
          <a:solidFill>
            <a:srgbClr val="0B7A5A"/>
          </a:solidFill>
        </p:spPr>
      </p:sp>
      <p:sp>
        <p:nvSpPr>
          <p:cNvPr id="8" name="Text 6"/>
          <p:cNvSpPr/>
          <p:nvPr>
            <p:custDataLst>
              <p:tags r:id="rId3"/>
            </p:custDataLst>
          </p:nvPr>
        </p:nvSpPr>
        <p:spPr>
          <a:xfrm>
            <a:off x="1252728" y="1746504"/>
            <a:ext cx="2743200" cy="32004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What the user sees</a:t>
            </a:r>
            <a:endParaRPr lang="en-US" sz="1250" dirty="0"/>
          </a:p>
        </p:txBody>
      </p:sp>
      <p:sp>
        <p:nvSpPr>
          <p:cNvPr id="9" name="Text 7"/>
          <p:cNvSpPr/>
          <p:nvPr>
            <p:custDataLst>
              <p:tags r:id="rId4"/>
            </p:custDataLst>
          </p:nvPr>
        </p:nvSpPr>
        <p:spPr>
          <a:xfrm>
            <a:off x="1252728" y="2057400"/>
            <a:ext cx="5760720" cy="329184"/>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Dashboard    Command line tool    Printable report</a:t>
            </a:r>
            <a:endParaRPr lang="en-US" sz="1000" dirty="0"/>
          </a:p>
        </p:txBody>
      </p:sp>
      <p:sp>
        <p:nvSpPr>
          <p:cNvPr id="12" name="Shape 10"/>
          <p:cNvSpPr/>
          <p:nvPr>
            <p:custDataLst>
              <p:tags r:id="rId5"/>
            </p:custDataLst>
          </p:nvPr>
        </p:nvSpPr>
        <p:spPr>
          <a:xfrm>
            <a:off x="594360" y="2560320"/>
            <a:ext cx="7863840" cy="749808"/>
          </a:xfrm>
          <a:prstGeom prst="roundRect">
            <a:avLst>
              <a:gd name="adj" fmla="val 7317"/>
            </a:avLst>
          </a:prstGeom>
          <a:solidFill>
            <a:srgbClr val="FFFFFF"/>
          </a:solidFill>
          <a:ln w="12700">
            <a:solidFill>
              <a:srgbClr val="E2EAEE"/>
            </a:solidFill>
            <a:prstDash val="solid"/>
          </a:ln>
        </p:spPr>
      </p:sp>
      <p:sp>
        <p:nvSpPr>
          <p:cNvPr id="13" name="Shape 11"/>
          <p:cNvSpPr/>
          <p:nvPr>
            <p:custDataLst>
              <p:tags r:id="rId6"/>
            </p:custDataLst>
          </p:nvPr>
        </p:nvSpPr>
        <p:spPr>
          <a:xfrm>
            <a:off x="822960" y="2798064"/>
            <a:ext cx="274320" cy="274320"/>
          </a:xfrm>
          <a:prstGeom prst="rect">
            <a:avLst/>
          </a:prstGeom>
          <a:solidFill>
            <a:srgbClr val="0B7A5A"/>
          </a:solidFill>
        </p:spPr>
      </p:sp>
      <p:sp>
        <p:nvSpPr>
          <p:cNvPr id="14" name="Text 12"/>
          <p:cNvSpPr/>
          <p:nvPr>
            <p:custDataLst>
              <p:tags r:id="rId7"/>
            </p:custDataLst>
          </p:nvPr>
        </p:nvSpPr>
        <p:spPr>
          <a:xfrm>
            <a:off x="1252728" y="2615184"/>
            <a:ext cx="2743200" cy="32004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Handling a scan</a:t>
            </a:r>
            <a:endParaRPr lang="en-US" sz="1250" dirty="0"/>
          </a:p>
        </p:txBody>
      </p:sp>
      <p:sp>
        <p:nvSpPr>
          <p:cNvPr id="15" name="Text 13"/>
          <p:cNvSpPr/>
          <p:nvPr>
            <p:custDataLst>
              <p:tags r:id="rId8"/>
            </p:custDataLst>
          </p:nvPr>
        </p:nvSpPr>
        <p:spPr>
          <a:xfrm>
            <a:off x="1252728" y="2926080"/>
            <a:ext cx="5760720" cy="329184"/>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API service    Background jobs with progress    Scan orchestrator</a:t>
            </a:r>
            <a:endParaRPr lang="en-US" sz="1000" dirty="0"/>
          </a:p>
        </p:txBody>
      </p:sp>
      <p:sp>
        <p:nvSpPr>
          <p:cNvPr id="17" name="Text 15"/>
          <p:cNvSpPr/>
          <p:nvPr>
            <p:custDataLst>
              <p:tags r:id="rId9"/>
            </p:custDataLst>
          </p:nvPr>
        </p:nvSpPr>
        <p:spPr>
          <a:xfrm>
            <a:off x="7086600" y="2816352"/>
            <a:ext cx="1188720" cy="237744"/>
          </a:xfrm>
          <a:prstGeom prst="rect">
            <a:avLst/>
          </a:prstGeom>
          <a:noFill/>
        </p:spPr>
        <p:txBody>
          <a:bodyPr wrap="square" lIns="0" tIns="0" rIns="0" bIns="0" rtlCol="0" anchor="ctr"/>
          <a:lstStyle/>
          <a:p>
            <a:pPr marL="0" indent="0" algn="ctr">
              <a:buNone/>
            </a:pPr>
            <a:endParaRPr lang="en-US" sz="850" dirty="0"/>
          </a:p>
        </p:txBody>
      </p:sp>
      <p:sp>
        <p:nvSpPr>
          <p:cNvPr id="18" name="Shape 16"/>
          <p:cNvSpPr/>
          <p:nvPr>
            <p:custDataLst>
              <p:tags r:id="rId10"/>
            </p:custDataLst>
          </p:nvPr>
        </p:nvSpPr>
        <p:spPr>
          <a:xfrm>
            <a:off x="594360" y="3429000"/>
            <a:ext cx="7863840" cy="749808"/>
          </a:xfrm>
          <a:prstGeom prst="roundRect">
            <a:avLst>
              <a:gd name="adj" fmla="val 7317"/>
            </a:avLst>
          </a:prstGeom>
          <a:solidFill>
            <a:srgbClr val="FFFFFF"/>
          </a:solidFill>
          <a:ln w="12700">
            <a:solidFill>
              <a:srgbClr val="E2EAEE"/>
            </a:solidFill>
            <a:prstDash val="solid"/>
          </a:ln>
        </p:spPr>
      </p:sp>
      <p:sp>
        <p:nvSpPr>
          <p:cNvPr id="19" name="Shape 17"/>
          <p:cNvSpPr/>
          <p:nvPr>
            <p:custDataLst>
              <p:tags r:id="rId11"/>
            </p:custDataLst>
          </p:nvPr>
        </p:nvSpPr>
        <p:spPr>
          <a:xfrm>
            <a:off x="822960" y="3666744"/>
            <a:ext cx="274320" cy="274320"/>
          </a:xfrm>
          <a:prstGeom prst="rect">
            <a:avLst/>
          </a:prstGeom>
          <a:solidFill>
            <a:srgbClr val="0B7A5A"/>
          </a:solidFill>
        </p:spPr>
      </p:sp>
      <p:sp>
        <p:nvSpPr>
          <p:cNvPr id="20" name="Text 18"/>
          <p:cNvSpPr/>
          <p:nvPr>
            <p:custDataLst>
              <p:tags r:id="rId12"/>
            </p:custDataLst>
          </p:nvPr>
        </p:nvSpPr>
        <p:spPr>
          <a:xfrm>
            <a:off x="1252728" y="3483864"/>
            <a:ext cx="2743200" cy="32004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Doing the analysis</a:t>
            </a:r>
            <a:endParaRPr lang="en-US" sz="1250" dirty="0"/>
          </a:p>
        </p:txBody>
      </p:sp>
      <p:sp>
        <p:nvSpPr>
          <p:cNvPr id="21" name="Text 19"/>
          <p:cNvSpPr/>
          <p:nvPr>
            <p:custDataLst>
              <p:tags r:id="rId13"/>
            </p:custDataLst>
          </p:nvPr>
        </p:nvSpPr>
        <p:spPr>
          <a:xfrm>
            <a:off x="1252728" y="3794760"/>
            <a:ext cx="5760720" cy="329184"/>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Python and JavaScript parsers    Feature builder    Model    Call graph engine</a:t>
            </a:r>
            <a:endParaRPr lang="en-US" sz="1000" dirty="0"/>
          </a:p>
        </p:txBody>
      </p:sp>
      <p:sp>
        <p:nvSpPr>
          <p:cNvPr id="23" name="Text 21"/>
          <p:cNvSpPr/>
          <p:nvPr>
            <p:custDataLst>
              <p:tags r:id="rId14"/>
            </p:custDataLst>
          </p:nvPr>
        </p:nvSpPr>
        <p:spPr>
          <a:xfrm>
            <a:off x="7086600" y="3685032"/>
            <a:ext cx="1188720" cy="237744"/>
          </a:xfrm>
          <a:prstGeom prst="rect">
            <a:avLst/>
          </a:prstGeom>
          <a:noFill/>
        </p:spPr>
        <p:txBody>
          <a:bodyPr wrap="square" lIns="0" tIns="0" rIns="0" bIns="0" rtlCol="0" anchor="ctr"/>
          <a:lstStyle/>
          <a:p>
            <a:pPr marL="0" indent="0" algn="ctr">
              <a:buNone/>
            </a:pPr>
            <a:endParaRPr lang="en-US" sz="850" dirty="0"/>
          </a:p>
        </p:txBody>
      </p:sp>
      <p:sp>
        <p:nvSpPr>
          <p:cNvPr id="24" name="Shape 22"/>
          <p:cNvSpPr/>
          <p:nvPr>
            <p:custDataLst>
              <p:tags r:id="rId15"/>
            </p:custDataLst>
          </p:nvPr>
        </p:nvSpPr>
        <p:spPr>
          <a:xfrm>
            <a:off x="594360" y="4297680"/>
            <a:ext cx="7863840" cy="749808"/>
          </a:xfrm>
          <a:prstGeom prst="roundRect">
            <a:avLst>
              <a:gd name="adj" fmla="val 7317"/>
            </a:avLst>
          </a:prstGeom>
          <a:solidFill>
            <a:srgbClr val="FFFFFF"/>
          </a:solidFill>
          <a:ln w="12700">
            <a:solidFill>
              <a:srgbClr val="E2EAEE"/>
            </a:solidFill>
            <a:prstDash val="solid"/>
          </a:ln>
        </p:spPr>
      </p:sp>
      <p:sp>
        <p:nvSpPr>
          <p:cNvPr id="25" name="Shape 23"/>
          <p:cNvSpPr/>
          <p:nvPr>
            <p:custDataLst>
              <p:tags r:id="rId16"/>
            </p:custDataLst>
          </p:nvPr>
        </p:nvSpPr>
        <p:spPr>
          <a:xfrm>
            <a:off x="822960" y="4535424"/>
            <a:ext cx="274320" cy="274320"/>
          </a:xfrm>
          <a:prstGeom prst="rect">
            <a:avLst/>
          </a:prstGeom>
          <a:solidFill>
            <a:srgbClr val="0B7A5A"/>
          </a:solidFill>
        </p:spPr>
      </p:sp>
      <p:sp>
        <p:nvSpPr>
          <p:cNvPr id="26" name="Text 24"/>
          <p:cNvSpPr/>
          <p:nvPr>
            <p:custDataLst>
              <p:tags r:id="rId17"/>
            </p:custDataLst>
          </p:nvPr>
        </p:nvSpPr>
        <p:spPr>
          <a:xfrm>
            <a:off x="1252728" y="4352544"/>
            <a:ext cx="2743200" cy="32004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Getting the packages</a:t>
            </a:r>
            <a:endParaRPr lang="en-US" sz="1250" dirty="0"/>
          </a:p>
        </p:txBody>
      </p:sp>
      <p:sp>
        <p:nvSpPr>
          <p:cNvPr id="27" name="Text 25"/>
          <p:cNvSpPr/>
          <p:nvPr>
            <p:custDataLst>
              <p:tags r:id="rId18"/>
            </p:custDataLst>
          </p:nvPr>
        </p:nvSpPr>
        <p:spPr>
          <a:xfrm>
            <a:off x="1252728" y="4663440"/>
            <a:ext cx="5760720" cy="329184"/>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npm client    PyPI client    Safe archive unpacking    Resolver    OSV.dev</a:t>
            </a:r>
            <a:endParaRPr lang="en-US" sz="1000" dirty="0"/>
          </a:p>
        </p:txBody>
      </p:sp>
      <p:sp>
        <p:nvSpPr>
          <p:cNvPr id="30" name="Shape 28"/>
          <p:cNvSpPr/>
          <p:nvPr>
            <p:custDataLst>
              <p:tags r:id="rId19"/>
            </p:custDataLst>
          </p:nvPr>
        </p:nvSpPr>
        <p:spPr>
          <a:xfrm>
            <a:off x="594360" y="5166360"/>
            <a:ext cx="7863840" cy="749808"/>
          </a:xfrm>
          <a:prstGeom prst="roundRect">
            <a:avLst>
              <a:gd name="adj" fmla="val 7317"/>
            </a:avLst>
          </a:prstGeom>
          <a:solidFill>
            <a:srgbClr val="FFFFFF"/>
          </a:solidFill>
          <a:ln w="12700">
            <a:solidFill>
              <a:srgbClr val="E2EAEE"/>
            </a:solidFill>
            <a:prstDash val="solid"/>
          </a:ln>
        </p:spPr>
      </p:sp>
      <p:sp>
        <p:nvSpPr>
          <p:cNvPr id="31" name="Shape 29"/>
          <p:cNvSpPr/>
          <p:nvPr>
            <p:custDataLst>
              <p:tags r:id="rId20"/>
            </p:custDataLst>
          </p:nvPr>
        </p:nvSpPr>
        <p:spPr>
          <a:xfrm>
            <a:off x="822960" y="5404104"/>
            <a:ext cx="274320" cy="274320"/>
          </a:xfrm>
          <a:prstGeom prst="rect">
            <a:avLst/>
          </a:prstGeom>
          <a:solidFill>
            <a:srgbClr val="0B7A5A"/>
          </a:solidFill>
        </p:spPr>
      </p:sp>
      <p:sp>
        <p:nvSpPr>
          <p:cNvPr id="32" name="Text 30"/>
          <p:cNvSpPr/>
          <p:nvPr>
            <p:custDataLst>
              <p:tags r:id="rId21"/>
            </p:custDataLst>
          </p:nvPr>
        </p:nvSpPr>
        <p:spPr>
          <a:xfrm>
            <a:off x="1252728" y="5221224"/>
            <a:ext cx="2743200" cy="320040"/>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Storage</a:t>
            </a:r>
            <a:endParaRPr lang="en-US" sz="1250" dirty="0"/>
          </a:p>
        </p:txBody>
      </p:sp>
      <p:sp>
        <p:nvSpPr>
          <p:cNvPr id="33" name="Text 31"/>
          <p:cNvSpPr/>
          <p:nvPr>
            <p:custDataLst>
              <p:tags r:id="rId22"/>
            </p:custDataLst>
          </p:nvPr>
        </p:nvSpPr>
        <p:spPr>
          <a:xfrm>
            <a:off x="1252728" y="5532120"/>
            <a:ext cx="5760720" cy="329184"/>
          </a:xfrm>
          <a:prstGeom prst="rect">
            <a:avLst/>
          </a:prstGeom>
          <a:noFill/>
        </p:spPr>
        <p:txBody>
          <a:bodyPr wrap="square" lIns="0" tIns="0" rIns="0" bIns="0" rtlCol="0" anchor="ctr"/>
          <a:lstStyle/>
          <a:p>
            <a:pPr marL="0" indent="0">
              <a:buNone/>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Scan history    Sample store    Download cache    Saved model</a:t>
            </a:r>
            <a:endParaRPr lang="en-US" sz="1000" dirty="0"/>
          </a:p>
        </p:txBody>
      </p:sp>
      <p:sp>
        <p:nvSpPr>
          <p:cNvPr id="36" name="Text 34"/>
          <p:cNvSpPr/>
          <p:nvPr/>
        </p:nvSpPr>
        <p:spPr>
          <a:xfrm>
            <a:off x="8732520" y="1737360"/>
            <a:ext cx="2834640" cy="292608"/>
          </a:xfrm>
          <a:prstGeom prst="rect">
            <a:avLst/>
          </a:prstGeom>
          <a:noFill/>
        </p:spPr>
        <p:txBody>
          <a:bodyPr wrap="square" lIns="0" tIns="0" rIns="0" bIns="0" rtlCol="0" anchor="ctr"/>
          <a:lstStyle/>
          <a:p>
            <a:pPr marL="0" indent="0">
              <a:buNone/>
            </a:pPr>
            <a:r>
              <a:rPr lang="en-US" sz="1250" b="1" dirty="0">
                <a:solidFill>
                  <a:srgbClr val="1B2A33"/>
                </a:solidFill>
                <a:latin typeface="Calibri" panose="020F0502020204030204" pitchFamily="34" charset="0"/>
                <a:ea typeface="Calibri" panose="020F0502020204030204" pitchFamily="34" charset="-122"/>
                <a:cs typeface="Calibri" panose="020F0502020204030204" pitchFamily="34" charset="-120"/>
              </a:rPr>
              <a:t>Built to survive bad input</a:t>
            </a:r>
            <a:endParaRPr lang="en-US" sz="1250" dirty="0"/>
          </a:p>
        </p:txBody>
      </p:sp>
      <p:sp>
        <p:nvSpPr>
          <p:cNvPr id="37" name="Text 35"/>
          <p:cNvSpPr/>
          <p:nvPr/>
        </p:nvSpPr>
        <p:spPr>
          <a:xfrm>
            <a:off x="8732520" y="2057400"/>
            <a:ext cx="2834640" cy="502920"/>
          </a:xfrm>
          <a:prstGeom prst="rect">
            <a:avLst/>
          </a:prstGeom>
          <a:noFill/>
        </p:spPr>
        <p:txBody>
          <a:bodyPr wrap="square" lIns="0" tIns="0" rIns="0" bIns="0" rtlCol="0" anchor="ctr"/>
          <a:lstStyle/>
          <a:p>
            <a:pPr marL="0" indent="0">
              <a:buNone/>
            </a:pPr>
            <a:r>
              <a:rPr lang="en-US" sz="1050" dirty="0">
                <a:solidFill>
                  <a:srgbClr val="5A6B78"/>
                </a:solidFill>
                <a:latin typeface="Calibri" panose="020F0502020204030204" pitchFamily="34" charset="0"/>
                <a:ea typeface="Calibri" panose="020F0502020204030204" pitchFamily="34" charset="-122"/>
                <a:cs typeface="Calibri" panose="020F0502020204030204" pitchFamily="34" charset="-120"/>
              </a:rPr>
              <a:t>The scanner reads hostile files on purpose, so it is a target itself.</a:t>
            </a:r>
            <a:endParaRPr lang="en-US" sz="1050" dirty="0"/>
          </a:p>
        </p:txBody>
      </p:sp>
      <p:sp>
        <p:nvSpPr>
          <p:cNvPr id="38" name="Shape 36"/>
          <p:cNvSpPr/>
          <p:nvPr/>
        </p:nvSpPr>
        <p:spPr>
          <a:xfrm>
            <a:off x="8732520" y="2706624"/>
            <a:ext cx="164592" cy="164592"/>
          </a:xfrm>
          <a:prstGeom prst="ellipse">
            <a:avLst/>
          </a:prstGeom>
          <a:solidFill>
            <a:srgbClr val="12B886"/>
          </a:solidFill>
        </p:spPr>
      </p:sp>
      <p:sp>
        <p:nvSpPr>
          <p:cNvPr id="39" name="Text 37"/>
          <p:cNvSpPr/>
          <p:nvPr/>
        </p:nvSpPr>
        <p:spPr>
          <a:xfrm>
            <a:off x="9006840" y="2560320"/>
            <a:ext cx="2560320" cy="457200"/>
          </a:xfrm>
          <a:prstGeom prst="rect">
            <a:avLst/>
          </a:prstGeom>
          <a:noFill/>
        </p:spPr>
        <p:txBody>
          <a:bodyPr wrap="square" lIns="0" tIns="0" rIns="0" bIns="0" rtlCol="0" anchor="ctr"/>
          <a:lstStyle/>
          <a:p>
            <a:pPr marL="0" indent="0">
              <a:buNone/>
            </a:pPr>
            <a:r>
              <a:rPr lang="en-US" sz="1050" dirty="0">
                <a:solidFill>
                  <a:srgbClr val="1B2A33"/>
                </a:solidFill>
                <a:latin typeface="Calibri" panose="020F0502020204030204" pitchFamily="34" charset="0"/>
                <a:ea typeface="Calibri" panose="020F0502020204030204" pitchFamily="34" charset="-122"/>
                <a:cs typeface="Calibri" panose="020F0502020204030204" pitchFamily="34" charset="-120"/>
              </a:rPr>
              <a:t>Nothing is ever run</a:t>
            </a:r>
            <a:endParaRPr lang="en-US" sz="1050" dirty="0"/>
          </a:p>
        </p:txBody>
      </p:sp>
      <p:sp>
        <p:nvSpPr>
          <p:cNvPr id="40" name="Shape 38"/>
          <p:cNvSpPr/>
          <p:nvPr/>
        </p:nvSpPr>
        <p:spPr>
          <a:xfrm>
            <a:off x="8732520" y="3273552"/>
            <a:ext cx="164592" cy="164592"/>
          </a:xfrm>
          <a:prstGeom prst="ellipse">
            <a:avLst/>
          </a:prstGeom>
          <a:solidFill>
            <a:srgbClr val="12B886"/>
          </a:solidFill>
        </p:spPr>
      </p:sp>
      <p:sp>
        <p:nvSpPr>
          <p:cNvPr id="41" name="Text 39"/>
          <p:cNvSpPr/>
          <p:nvPr/>
        </p:nvSpPr>
        <p:spPr>
          <a:xfrm>
            <a:off x="9006840" y="3117723"/>
            <a:ext cx="2560320" cy="457200"/>
          </a:xfrm>
          <a:prstGeom prst="rect">
            <a:avLst/>
          </a:prstGeom>
          <a:noFill/>
        </p:spPr>
        <p:txBody>
          <a:bodyPr wrap="square" lIns="0" tIns="0" rIns="0" bIns="0" rtlCol="0" anchor="ctr"/>
          <a:lstStyle/>
          <a:p>
            <a:pPr marL="0" indent="0">
              <a:buNone/>
            </a:pPr>
            <a:r>
              <a:rPr lang="en-US" sz="1050" dirty="0">
                <a:solidFill>
                  <a:srgbClr val="1B2A33"/>
                </a:solidFill>
                <a:latin typeface="Calibri" panose="020F0502020204030204" pitchFamily="34" charset="0"/>
                <a:ea typeface="Calibri" panose="020F0502020204030204" pitchFamily="34" charset="-122"/>
                <a:cs typeface="Calibri" panose="020F0502020204030204" pitchFamily="34" charset="-120"/>
              </a:rPr>
              <a:t>Zip bombs are capped</a:t>
            </a:r>
            <a:endParaRPr lang="en-US" sz="1050" dirty="0"/>
          </a:p>
        </p:txBody>
      </p:sp>
      <p:sp>
        <p:nvSpPr>
          <p:cNvPr id="42" name="Shape 40"/>
          <p:cNvSpPr/>
          <p:nvPr/>
        </p:nvSpPr>
        <p:spPr>
          <a:xfrm>
            <a:off x="8732520" y="3840480"/>
            <a:ext cx="164592" cy="164592"/>
          </a:xfrm>
          <a:prstGeom prst="ellipse">
            <a:avLst/>
          </a:prstGeom>
          <a:solidFill>
            <a:srgbClr val="12B886"/>
          </a:solidFill>
        </p:spPr>
      </p:sp>
      <p:sp>
        <p:nvSpPr>
          <p:cNvPr id="43" name="Text 41"/>
          <p:cNvSpPr/>
          <p:nvPr/>
        </p:nvSpPr>
        <p:spPr>
          <a:xfrm>
            <a:off x="9006840" y="3675126"/>
            <a:ext cx="2560320" cy="457200"/>
          </a:xfrm>
          <a:prstGeom prst="rect">
            <a:avLst/>
          </a:prstGeom>
          <a:noFill/>
        </p:spPr>
        <p:txBody>
          <a:bodyPr wrap="square" lIns="0" tIns="0" rIns="0" bIns="0" rtlCol="0" anchor="ctr"/>
          <a:lstStyle/>
          <a:p>
            <a:pPr marL="0" indent="0">
              <a:buNone/>
            </a:pPr>
            <a:r>
              <a:rPr lang="en-US" sz="1050" dirty="0">
                <a:solidFill>
                  <a:srgbClr val="1B2A33"/>
                </a:solidFill>
                <a:latin typeface="Calibri" panose="020F0502020204030204" pitchFamily="34" charset="0"/>
                <a:ea typeface="Calibri" panose="020F0502020204030204" pitchFamily="34" charset="-122"/>
                <a:cs typeface="Calibri" panose="020F0502020204030204" pitchFamily="34" charset="-120"/>
              </a:rPr>
              <a:t>Escaping file paths blocked</a:t>
            </a:r>
            <a:endParaRPr lang="en-US" sz="1050" dirty="0"/>
          </a:p>
        </p:txBody>
      </p:sp>
      <p:sp>
        <p:nvSpPr>
          <p:cNvPr id="44" name="Shape 42"/>
          <p:cNvSpPr/>
          <p:nvPr/>
        </p:nvSpPr>
        <p:spPr>
          <a:xfrm>
            <a:off x="8732520" y="4407408"/>
            <a:ext cx="164592" cy="164592"/>
          </a:xfrm>
          <a:prstGeom prst="ellipse">
            <a:avLst/>
          </a:prstGeom>
          <a:solidFill>
            <a:srgbClr val="12B886"/>
          </a:solidFill>
        </p:spPr>
      </p:sp>
      <p:sp>
        <p:nvSpPr>
          <p:cNvPr id="45" name="Text 43"/>
          <p:cNvSpPr/>
          <p:nvPr/>
        </p:nvSpPr>
        <p:spPr>
          <a:xfrm>
            <a:off x="9006840" y="4229354"/>
            <a:ext cx="2560320" cy="457200"/>
          </a:xfrm>
          <a:prstGeom prst="rect">
            <a:avLst/>
          </a:prstGeom>
          <a:noFill/>
        </p:spPr>
        <p:txBody>
          <a:bodyPr wrap="square" lIns="0" tIns="0" rIns="0" bIns="0" rtlCol="0" anchor="ctr"/>
          <a:lstStyle/>
          <a:p>
            <a:pPr marL="0" indent="0">
              <a:buNone/>
            </a:pPr>
            <a:r>
              <a:rPr lang="en-US" sz="1050" dirty="0">
                <a:solidFill>
                  <a:srgbClr val="1B2A33"/>
                </a:solidFill>
                <a:latin typeface="Calibri" panose="020F0502020204030204" pitchFamily="34" charset="0"/>
                <a:ea typeface="Calibri" panose="020F0502020204030204" pitchFamily="34" charset="-122"/>
                <a:cs typeface="Calibri" panose="020F0502020204030204" pitchFamily="34" charset="-120"/>
              </a:rPr>
              <a:t>Parser has a time limit</a:t>
            </a:r>
            <a:endParaRPr lang="en-US" sz="1050" dirty="0"/>
          </a:p>
        </p:txBody>
      </p:sp>
      <p:sp>
        <p:nvSpPr>
          <p:cNvPr id="46" name="Shape 44"/>
          <p:cNvSpPr/>
          <p:nvPr/>
        </p:nvSpPr>
        <p:spPr>
          <a:xfrm>
            <a:off x="8732520" y="4974336"/>
            <a:ext cx="164592" cy="164592"/>
          </a:xfrm>
          <a:prstGeom prst="ellipse">
            <a:avLst/>
          </a:prstGeom>
          <a:solidFill>
            <a:srgbClr val="12B886"/>
          </a:solidFill>
        </p:spPr>
      </p:sp>
      <p:sp>
        <p:nvSpPr>
          <p:cNvPr id="47" name="Text 45"/>
          <p:cNvSpPr/>
          <p:nvPr/>
        </p:nvSpPr>
        <p:spPr>
          <a:xfrm>
            <a:off x="9006840" y="4840097"/>
            <a:ext cx="2560320" cy="457200"/>
          </a:xfrm>
          <a:prstGeom prst="rect">
            <a:avLst/>
          </a:prstGeom>
          <a:noFill/>
        </p:spPr>
        <p:txBody>
          <a:bodyPr wrap="square" lIns="0" tIns="0" rIns="0" bIns="0" rtlCol="0" anchor="ctr"/>
          <a:lstStyle/>
          <a:p>
            <a:pPr marL="0" indent="0">
              <a:buNone/>
            </a:pPr>
            <a:r>
              <a:rPr lang="en-US" sz="1050" dirty="0">
                <a:solidFill>
                  <a:srgbClr val="1B2A33"/>
                </a:solidFill>
                <a:latin typeface="Calibri" panose="020F0502020204030204" pitchFamily="34" charset="0"/>
                <a:ea typeface="Calibri" panose="020F0502020204030204" pitchFamily="34" charset="-122"/>
                <a:cs typeface="Calibri" panose="020F0502020204030204" pitchFamily="34" charset="-120"/>
              </a:rPr>
              <a:t>Package names escaped</a:t>
            </a:r>
            <a:endParaRPr lang="en-US" sz="1050" dirty="0"/>
          </a:p>
        </p:txBody>
      </p:sp>
      <p:sp>
        <p:nvSpPr>
          <p:cNvPr id="48" name="Text 46"/>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Shape 0"/>
          <p:cNvSpPr/>
          <p:nvPr/>
        </p:nvSpPr>
        <p:spPr>
          <a:xfrm>
            <a:off x="594360" y="384048"/>
            <a:ext cx="310896" cy="310896"/>
          </a:xfrm>
          <a:prstGeom prst="rect">
            <a:avLst/>
          </a:prstGeom>
          <a:solidFill>
            <a:srgbClr val="12B886"/>
          </a:solidFill>
        </p:spPr>
      </p:sp>
      <p:sp>
        <p:nvSpPr>
          <p:cNvPr id="108" name="Text 1"/>
          <p:cNvSpPr/>
          <p:nvPr/>
        </p:nvSpPr>
        <p:spPr>
          <a:xfrm>
            <a:off x="594360" y="384048"/>
            <a:ext cx="3108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300" dirty="0"/>
          </a:p>
        </p:txBody>
      </p:sp>
      <p:sp>
        <p:nvSpPr>
          <p:cNvPr id="109" name="Text 2"/>
          <p:cNvSpPr/>
          <p:nvPr/>
        </p:nvSpPr>
        <p:spPr>
          <a:xfrm>
            <a:off x="1014984" y="384048"/>
            <a:ext cx="5486400" cy="310896"/>
          </a:xfrm>
          <a:prstGeom prst="rect">
            <a:avLst/>
          </a:prstGeom>
          <a:noFill/>
        </p:spPr>
        <p:txBody>
          <a:bodyPr wrap="square" lIns="0" tIns="0" rIns="0" bIns="0" rtlCol="0" anchor="ctr"/>
          <a:lstStyle/>
          <a:p>
            <a:pPr marL="0" indent="0">
              <a:buNone/>
            </a:pPr>
            <a:r>
              <a:rPr lang="en-US" sz="1050" b="1" kern="0" spc="160" dirty="0">
                <a:solidFill>
                  <a:srgbClr val="5A6B78"/>
                </a:solidFill>
                <a:latin typeface="Calibri" panose="020F0502020204030204" pitchFamily="34" charset="0"/>
                <a:ea typeface="Calibri" panose="020F0502020204030204" pitchFamily="34" charset="-122"/>
                <a:cs typeface="Calibri" panose="020F0502020204030204" pitchFamily="34" charset="-120"/>
              </a:rPr>
              <a:t>MODULE DESCRIPTION AND SYSTEM DESIGN</a:t>
            </a:r>
            <a:endParaRPr lang="en-US" sz="1050" dirty="0"/>
          </a:p>
        </p:txBody>
      </p:sp>
      <p:sp>
        <p:nvSpPr>
          <p:cNvPr id="110"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1B2A33"/>
                </a:solidFill>
                <a:latin typeface="Cambria" panose="02040503050406030204" pitchFamily="34" charset="0"/>
                <a:ea typeface="Cambria" panose="02040503050406030204" pitchFamily="34" charset="-122"/>
                <a:cs typeface="Cambria" panose="02040503050406030204" pitchFamily="34" charset="-120"/>
              </a:rPr>
              <a:t>The 22 modules, and what each one owns</a:t>
            </a:r>
            <a:endParaRPr lang="en-US" sz="3000" dirty="0"/>
          </a:p>
        </p:txBody>
      </p:sp>
      <p:sp>
        <p:nvSpPr>
          <p:cNvPr id="111" name="Shape 4"/>
          <p:cNvSpPr/>
          <p:nvPr/>
        </p:nvSpPr>
        <p:spPr>
          <a:xfrm>
            <a:off x="594360" y="1691640"/>
            <a:ext cx="2615184" cy="3977640"/>
          </a:xfrm>
          <a:prstGeom prst="roundRect">
            <a:avLst>
              <a:gd name="adj" fmla="val 2098"/>
            </a:avLst>
          </a:prstGeom>
          <a:solidFill>
            <a:srgbClr val="FFFFFF"/>
          </a:solidFill>
          <a:ln w="12700">
            <a:solidFill>
              <a:srgbClr val="E2EAEE"/>
            </a:solidFill>
            <a:prstDash val="solid"/>
          </a:ln>
        </p:spPr>
      </p:sp>
      <p:sp>
        <p:nvSpPr>
          <p:cNvPr id="112" name="Shape 5"/>
          <p:cNvSpPr/>
          <p:nvPr/>
        </p:nvSpPr>
        <p:spPr>
          <a:xfrm>
            <a:off x="822960" y="1901952"/>
            <a:ext cx="256032" cy="256032"/>
          </a:xfrm>
          <a:prstGeom prst="rect">
            <a:avLst/>
          </a:prstGeom>
          <a:solidFill>
            <a:srgbClr val="5A6B78"/>
          </a:solidFill>
        </p:spPr>
      </p:sp>
      <p:sp>
        <p:nvSpPr>
          <p:cNvPr id="113" name="Text 6"/>
          <p:cNvSpPr/>
          <p:nvPr/>
        </p:nvSpPr>
        <p:spPr>
          <a:xfrm>
            <a:off x="822960" y="2240280"/>
            <a:ext cx="2194560" cy="5029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Getting packages</a:t>
            </a:r>
            <a:endParaRPr lang="en-US" sz="1200" dirty="0"/>
          </a:p>
        </p:txBody>
      </p:sp>
      <p:sp>
        <p:nvSpPr>
          <p:cNvPr id="114" name="Text 7"/>
          <p:cNvSpPr/>
          <p:nvPr/>
        </p:nvSpPr>
        <p:spPr>
          <a:xfrm>
            <a:off x="822960" y="2761488"/>
            <a:ext cx="2194560" cy="2743200"/>
          </a:xfrm>
          <a:prstGeom prst="rect">
            <a:avLst/>
          </a:prstGeom>
          <a:noFill/>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npm and PyPI clients</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Version range resolver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Safe archive unpacking</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Manifest and lockfile reader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Dependency tree builder</a:t>
            </a:r>
            <a:endParaRPr lang="en-US" sz="1000" dirty="0"/>
          </a:p>
        </p:txBody>
      </p:sp>
      <p:sp>
        <p:nvSpPr>
          <p:cNvPr id="115" name="Shape 8"/>
          <p:cNvSpPr/>
          <p:nvPr/>
        </p:nvSpPr>
        <p:spPr>
          <a:xfrm>
            <a:off x="3392424" y="1691640"/>
            <a:ext cx="2615184" cy="3977640"/>
          </a:xfrm>
          <a:prstGeom prst="roundRect">
            <a:avLst>
              <a:gd name="adj" fmla="val 2098"/>
            </a:avLst>
          </a:prstGeom>
          <a:solidFill>
            <a:srgbClr val="FFFFFF"/>
          </a:solidFill>
          <a:ln w="12700">
            <a:solidFill>
              <a:srgbClr val="E2EAEE"/>
            </a:solidFill>
            <a:prstDash val="solid"/>
          </a:ln>
        </p:spPr>
      </p:sp>
      <p:sp>
        <p:nvSpPr>
          <p:cNvPr id="116" name="Shape 9"/>
          <p:cNvSpPr/>
          <p:nvPr/>
        </p:nvSpPr>
        <p:spPr>
          <a:xfrm>
            <a:off x="3621024" y="1901952"/>
            <a:ext cx="256032" cy="256032"/>
          </a:xfrm>
          <a:prstGeom prst="rect">
            <a:avLst/>
          </a:prstGeom>
          <a:solidFill>
            <a:srgbClr val="0B7A5A"/>
          </a:solidFill>
        </p:spPr>
      </p:sp>
      <p:sp>
        <p:nvSpPr>
          <p:cNvPr id="117" name="Text 10"/>
          <p:cNvSpPr/>
          <p:nvPr/>
        </p:nvSpPr>
        <p:spPr>
          <a:xfrm>
            <a:off x="3621024" y="2240280"/>
            <a:ext cx="2194560" cy="5029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Reading the code</a:t>
            </a:r>
            <a:endParaRPr lang="en-US" sz="1200" dirty="0"/>
          </a:p>
        </p:txBody>
      </p:sp>
      <p:sp>
        <p:nvSpPr>
          <p:cNvPr id="118" name="Text 11"/>
          <p:cNvSpPr/>
          <p:nvPr/>
        </p:nvSpPr>
        <p:spPr>
          <a:xfrm>
            <a:off x="3621024" y="2761488"/>
            <a:ext cx="2194560" cy="2743200"/>
          </a:xfrm>
          <a:prstGeom prst="rect">
            <a:avLst/>
          </a:prstGeom>
          <a:noFill/>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Python parser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JavaScript parser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Install script analyser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Typosquat checker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Feature builder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Analysis coordinator</a:t>
            </a:r>
            <a:endParaRPr lang="en-US" sz="1000" dirty="0"/>
          </a:p>
        </p:txBody>
      </p:sp>
      <p:sp>
        <p:nvSpPr>
          <p:cNvPr id="119" name="Shape 12"/>
          <p:cNvSpPr/>
          <p:nvPr/>
        </p:nvSpPr>
        <p:spPr>
          <a:xfrm>
            <a:off x="6190488" y="1691640"/>
            <a:ext cx="2615184" cy="3977640"/>
          </a:xfrm>
          <a:prstGeom prst="roundRect">
            <a:avLst>
              <a:gd name="adj" fmla="val 2098"/>
            </a:avLst>
          </a:prstGeom>
          <a:solidFill>
            <a:srgbClr val="FFFFFF"/>
          </a:solidFill>
          <a:ln w="12700">
            <a:solidFill>
              <a:srgbClr val="E2EAEE"/>
            </a:solidFill>
            <a:prstDash val="solid"/>
          </a:ln>
        </p:spPr>
      </p:sp>
      <p:sp>
        <p:nvSpPr>
          <p:cNvPr id="120" name="Shape 13"/>
          <p:cNvSpPr/>
          <p:nvPr/>
        </p:nvSpPr>
        <p:spPr>
          <a:xfrm>
            <a:off x="6419088" y="1901952"/>
            <a:ext cx="256032" cy="256032"/>
          </a:xfrm>
          <a:prstGeom prst="rect">
            <a:avLst/>
          </a:prstGeom>
          <a:solidFill>
            <a:srgbClr val="0B7A5A"/>
          </a:solidFill>
        </p:spPr>
      </p:sp>
      <p:sp>
        <p:nvSpPr>
          <p:cNvPr id="121" name="Text 14"/>
          <p:cNvSpPr/>
          <p:nvPr/>
        </p:nvSpPr>
        <p:spPr>
          <a:xfrm>
            <a:off x="6419088" y="2240280"/>
            <a:ext cx="2194560" cy="5029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Learning and deciding</a:t>
            </a:r>
            <a:endParaRPr lang="en-US" sz="1200" dirty="0"/>
          </a:p>
        </p:txBody>
      </p:sp>
      <p:sp>
        <p:nvSpPr>
          <p:cNvPr id="122" name="Text 15"/>
          <p:cNvSpPr/>
          <p:nvPr/>
        </p:nvSpPr>
        <p:spPr>
          <a:xfrm>
            <a:off x="6419088" y="2761488"/>
            <a:ext cx="2194560" cy="2743200"/>
          </a:xfrm>
          <a:prstGeom prst="rect">
            <a:avLst/>
          </a:prstGeom>
          <a:noFill/>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Sample store and dataset builder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Training and evaluation</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Scoring at scan time</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OSV advisory client</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Import name resolver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Call graph and reachability</a:t>
            </a:r>
            <a:endParaRPr lang="en-US" sz="1000" dirty="0"/>
          </a:p>
        </p:txBody>
      </p:sp>
      <p:sp>
        <p:nvSpPr>
          <p:cNvPr id="123" name="Shape 16"/>
          <p:cNvSpPr/>
          <p:nvPr/>
        </p:nvSpPr>
        <p:spPr>
          <a:xfrm>
            <a:off x="8988552" y="1691640"/>
            <a:ext cx="2615184" cy="3977640"/>
          </a:xfrm>
          <a:prstGeom prst="roundRect">
            <a:avLst>
              <a:gd name="adj" fmla="val 2098"/>
            </a:avLst>
          </a:prstGeom>
          <a:solidFill>
            <a:srgbClr val="FFFFFF"/>
          </a:solidFill>
          <a:ln w="12700">
            <a:solidFill>
              <a:srgbClr val="E2EAEE"/>
            </a:solidFill>
            <a:prstDash val="solid"/>
          </a:ln>
        </p:spPr>
      </p:sp>
      <p:sp>
        <p:nvSpPr>
          <p:cNvPr id="124" name="Shape 17"/>
          <p:cNvSpPr/>
          <p:nvPr/>
        </p:nvSpPr>
        <p:spPr>
          <a:xfrm>
            <a:off x="9217152" y="1901952"/>
            <a:ext cx="256032" cy="256032"/>
          </a:xfrm>
          <a:prstGeom prst="rect">
            <a:avLst/>
          </a:prstGeom>
          <a:solidFill>
            <a:srgbClr val="12B886"/>
          </a:solidFill>
        </p:spPr>
      </p:sp>
      <p:sp>
        <p:nvSpPr>
          <p:cNvPr id="125" name="Text 18"/>
          <p:cNvSpPr/>
          <p:nvPr/>
        </p:nvSpPr>
        <p:spPr>
          <a:xfrm>
            <a:off x="9217152" y="2240280"/>
            <a:ext cx="2194560" cy="502920"/>
          </a:xfrm>
          <a:prstGeom prst="rect">
            <a:avLst/>
          </a:prstGeom>
          <a:noFill/>
        </p:spPr>
        <p:txBody>
          <a:bodyPr wrap="square" lIns="0" tIns="0" rIns="0" bIns="0" rtlCol="0" anchor="ctr"/>
          <a:lstStyle/>
          <a:p>
            <a:pPr marL="0" indent="0">
              <a:buNone/>
            </a:pPr>
            <a:r>
              <a:rPr lang="en-US" sz="1200" b="1" dirty="0">
                <a:solidFill>
                  <a:srgbClr val="1B2A33"/>
                </a:solidFill>
                <a:latin typeface="Calibri" panose="020F0502020204030204" pitchFamily="34" charset="0"/>
                <a:ea typeface="Calibri" panose="020F0502020204030204" pitchFamily="34" charset="-122"/>
                <a:cs typeface="Calibri" panose="020F0502020204030204" pitchFamily="34" charset="-120"/>
              </a:rPr>
              <a:t>Delivering results</a:t>
            </a:r>
            <a:endParaRPr lang="en-US" sz="1200" dirty="0"/>
          </a:p>
        </p:txBody>
      </p:sp>
      <p:sp>
        <p:nvSpPr>
          <p:cNvPr id="126" name="Text 19"/>
          <p:cNvSpPr/>
          <p:nvPr/>
        </p:nvSpPr>
        <p:spPr>
          <a:xfrm>
            <a:off x="9217152" y="2761488"/>
            <a:ext cx="2194560" cy="2743200"/>
          </a:xfrm>
          <a:prstGeom prst="rect">
            <a:avLst/>
          </a:prstGeom>
          <a:noFill/>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Scan orchestrator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Plain English explanations</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HTML report writer</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API and background jobs</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Scan history storage</a:t>
            </a:r>
            <a:endParaRPr lang="en-US" sz="1000" dirty="0"/>
          </a:p>
          <a:p>
            <a:pPr marL="342900" indent="-342900">
              <a:spcAft>
                <a:spcPts val="600"/>
              </a:spcAft>
              <a:buSzPct val="100000"/>
              <a:buChar char="•"/>
            </a:pPr>
            <a:r>
              <a:rPr lang="en-US" sz="1000" dirty="0">
                <a:solidFill>
                  <a:srgbClr val="5A6B78"/>
                </a:solidFill>
                <a:latin typeface="Calibri" panose="020F0502020204030204" pitchFamily="34" charset="0"/>
                <a:ea typeface="Calibri" panose="020F0502020204030204" pitchFamily="34" charset="-122"/>
                <a:cs typeface="Calibri" panose="020F0502020204030204" pitchFamily="34" charset="-120"/>
              </a:rPr>
              <a:t>Dashboard</a:t>
            </a:r>
            <a:endParaRPr lang="en-US" sz="1000" dirty="0"/>
          </a:p>
        </p:txBody>
      </p:sp>
      <p:sp>
        <p:nvSpPr>
          <p:cNvPr id="127" name="Text 20"/>
          <p:cNvSpPr/>
          <p:nvPr/>
        </p:nvSpPr>
        <p:spPr>
          <a:xfrm>
            <a:off x="594360" y="5852160"/>
            <a:ext cx="10881360" cy="320040"/>
          </a:xfrm>
          <a:prstGeom prst="rect">
            <a:avLst/>
          </a:prstGeom>
          <a:noFill/>
        </p:spPr>
        <p:txBody>
          <a:bodyPr wrap="square" lIns="0" tIns="0" rIns="0" bIns="0" rtlCol="0" anchor="ctr"/>
          <a:lstStyle/>
          <a:p>
            <a:pPr marL="0" indent="0">
              <a:buNone/>
            </a:pPr>
            <a:r>
              <a:rPr lang="en-US" sz="1100" i="1" dirty="0">
                <a:solidFill>
                  <a:srgbClr val="5A6B78"/>
                </a:solidFill>
                <a:latin typeface="Calibri" panose="020F0502020204030204" pitchFamily="34" charset="0"/>
                <a:ea typeface="Calibri" panose="020F0502020204030204" pitchFamily="34" charset="-122"/>
                <a:cs typeface="Calibri" panose="020F0502020204030204" pitchFamily="34" charset="-120"/>
              </a:rPr>
              <a:t>Detection and reachability are kept apart on purpose. Either one can fail and the scan still returns something useful.</a:t>
            </a:r>
            <a:endParaRPr lang="en-US" sz="1100" dirty="0"/>
          </a:p>
        </p:txBody>
      </p:sp>
      <p:sp>
        <p:nvSpPr>
          <p:cNvPr id="128" name="Text 21"/>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A38"/>
        </a:solidFill>
        <a:effectLst/>
      </p:bgPr>
    </p:bg>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p:spPr>
      </p:sp>
      <p:sp>
        <p:nvSpPr>
          <p:cNvPr id="3" name="Text 1"/>
          <p:cNvSpPr/>
          <p:nvPr/>
        </p:nvSpPr>
        <p:spPr>
          <a:xfrm>
            <a:off x="594360" y="384048"/>
            <a:ext cx="310896" cy="310896"/>
          </a:xfrm>
          <a:prstGeom prst="rect">
            <a:avLst/>
          </a:prstGeom>
          <a:noFill/>
        </p:spPr>
        <p:txBody>
          <a:bodyPr wrap="square" lIns="0" tIns="0" rIns="0" bIns="0" rtlCol="0" anchor="ctr"/>
          <a:lstStyle/>
          <a:p>
            <a:pPr marL="0" indent="0" algn="ctr">
              <a:buNone/>
            </a:pPr>
            <a:endParaRPr lang="en-US" sz="1300" dirty="0"/>
          </a:p>
        </p:txBody>
      </p:sp>
      <p:sp>
        <p:nvSpPr>
          <p:cNvPr id="4" name="Text 2"/>
          <p:cNvSpPr/>
          <p:nvPr/>
        </p:nvSpPr>
        <p:spPr>
          <a:xfrm>
            <a:off x="1014984" y="384048"/>
            <a:ext cx="6400800" cy="310896"/>
          </a:xfrm>
          <a:prstGeom prst="rect">
            <a:avLst/>
          </a:prstGeom>
          <a:noFill/>
        </p:spPr>
        <p:txBody>
          <a:bodyPr wrap="square" lIns="0" tIns="0" rIns="0" bIns="0" rtlCol="0" anchor="ctr"/>
          <a:lstStyle/>
          <a:p>
            <a:pPr marL="0" indent="0">
              <a:buNone/>
            </a:pPr>
            <a:r>
              <a:rPr lang="en-US" sz="1050" b="1" kern="0" spc="160" dirty="0">
                <a:solidFill>
                  <a:srgbClr val="8FA6B2"/>
                </a:solidFill>
                <a:latin typeface="Calibri" panose="020F0502020204030204" pitchFamily="34" charset="0"/>
                <a:ea typeface="Calibri" panose="020F0502020204030204" pitchFamily="34" charset="-122"/>
                <a:cs typeface="Calibri" panose="020F0502020204030204" pitchFamily="34" charset="-120"/>
              </a:rPr>
              <a:t>WHERE THE PROJECT STANDS TODAY</a:t>
            </a:r>
            <a:endParaRPr lang="en-US" sz="1050" dirty="0"/>
          </a:p>
        </p:txBody>
      </p:sp>
      <p:sp>
        <p:nvSpPr>
          <p:cNvPr id="5" name="Text 3"/>
          <p:cNvSpPr/>
          <p:nvPr/>
        </p:nvSpPr>
        <p:spPr>
          <a:xfrm>
            <a:off x="594360" y="841248"/>
            <a:ext cx="10972800" cy="658368"/>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is working, and what comes next</a:t>
            </a:r>
            <a:endParaRPr lang="en-US" sz="3000" dirty="0"/>
          </a:p>
        </p:txBody>
      </p:sp>
      <p:sp>
        <p:nvSpPr>
          <p:cNvPr id="6" name="Text 4"/>
          <p:cNvSpPr/>
          <p:nvPr/>
        </p:nvSpPr>
        <p:spPr>
          <a:xfrm>
            <a:off x="594360" y="1600200"/>
            <a:ext cx="5760720" cy="274320"/>
          </a:xfrm>
          <a:prstGeom prst="rect">
            <a:avLst/>
          </a:prstGeom>
          <a:noFill/>
        </p:spPr>
        <p:txBody>
          <a:bodyPr wrap="square" lIns="0" tIns="0" rIns="0" bIns="0" rtlCol="0" anchor="ctr"/>
          <a:lstStyle/>
          <a:p>
            <a:pPr marL="0" indent="0">
              <a:buNone/>
            </a:pPr>
            <a:r>
              <a:rPr lang="en-US" sz="1200" b="1" dirty="0">
                <a:solidFill>
                  <a:srgbClr val="12B886"/>
                </a:solidFill>
                <a:latin typeface="Calibri" panose="020F0502020204030204" pitchFamily="34" charset="0"/>
                <a:ea typeface="Calibri" panose="020F0502020204030204" pitchFamily="34" charset="-122"/>
                <a:cs typeface="Calibri" panose="020F0502020204030204" pitchFamily="34" charset="-120"/>
              </a:rPr>
              <a:t>Early results from the first end to end run</a:t>
            </a:r>
            <a:endParaRPr lang="en-US" sz="1200" dirty="0"/>
          </a:p>
        </p:txBody>
      </p:sp>
      <p:sp>
        <p:nvSpPr>
          <p:cNvPr id="7" name="Text 5"/>
          <p:cNvSpPr/>
          <p:nvPr/>
        </p:nvSpPr>
        <p:spPr>
          <a:xfrm>
            <a:off x="594360" y="1965960"/>
            <a:ext cx="1828800" cy="54864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1,797</a:t>
            </a:r>
            <a:endParaRPr lang="en-US" sz="2600" dirty="0"/>
          </a:p>
        </p:txBody>
      </p:sp>
      <p:sp>
        <p:nvSpPr>
          <p:cNvPr id="8" name="Text 6"/>
          <p:cNvSpPr/>
          <p:nvPr/>
        </p:nvSpPr>
        <p:spPr>
          <a:xfrm>
            <a:off x="594360" y="2542032"/>
            <a:ext cx="1828800" cy="64008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packages in the</a:t>
            </a:r>
            <a:endParaRPr lang="en-US" sz="1000" dirty="0"/>
          </a:p>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first dataset</a:t>
            </a:r>
            <a:endParaRPr lang="en-US" sz="1000" dirty="0"/>
          </a:p>
        </p:txBody>
      </p:sp>
      <p:sp>
        <p:nvSpPr>
          <p:cNvPr id="9" name="Text 7"/>
          <p:cNvSpPr/>
          <p:nvPr/>
        </p:nvSpPr>
        <p:spPr>
          <a:xfrm>
            <a:off x="2560320" y="1965960"/>
            <a:ext cx="1828800" cy="54864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0.95</a:t>
            </a:r>
            <a:endParaRPr lang="en-US" sz="2600" dirty="0"/>
          </a:p>
        </p:txBody>
      </p:sp>
      <p:sp>
        <p:nvSpPr>
          <p:cNvPr id="10" name="Text 8"/>
          <p:cNvSpPr/>
          <p:nvPr/>
        </p:nvSpPr>
        <p:spPr>
          <a:xfrm>
            <a:off x="2560320" y="2542032"/>
            <a:ext cx="1828800" cy="64008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F1 on that run</a:t>
            </a:r>
            <a:endParaRPr lang="en-US" sz="1000" dirty="0"/>
          </a:p>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rules engine got 0.57</a:t>
            </a:r>
            <a:endParaRPr lang="en-US" sz="1000" dirty="0"/>
          </a:p>
        </p:txBody>
      </p:sp>
      <p:sp>
        <p:nvSpPr>
          <p:cNvPr id="11" name="Text 9"/>
          <p:cNvSpPr/>
          <p:nvPr/>
        </p:nvSpPr>
        <p:spPr>
          <a:xfrm>
            <a:off x="4526280" y="1965960"/>
            <a:ext cx="1828800" cy="54864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 to 3</a:t>
            </a:r>
            <a:endParaRPr lang="en-US" sz="2600" dirty="0"/>
          </a:p>
        </p:txBody>
      </p:sp>
      <p:sp>
        <p:nvSpPr>
          <p:cNvPr id="12" name="Text 10"/>
          <p:cNvSpPr/>
          <p:nvPr/>
        </p:nvSpPr>
        <p:spPr>
          <a:xfrm>
            <a:off x="4526280" y="2542032"/>
            <a:ext cx="1828800" cy="64008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CVEs on our own</a:t>
            </a:r>
            <a:endParaRPr lang="en-US" sz="1000" dirty="0"/>
          </a:p>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test project</a:t>
            </a:r>
            <a:endParaRPr lang="en-US" sz="1000" dirty="0"/>
          </a:p>
        </p:txBody>
      </p:sp>
      <p:sp>
        <p:nvSpPr>
          <p:cNvPr id="13" name="Shape 11"/>
          <p:cNvSpPr/>
          <p:nvPr/>
        </p:nvSpPr>
        <p:spPr>
          <a:xfrm>
            <a:off x="594360" y="3291840"/>
            <a:ext cx="5760720" cy="1051560"/>
          </a:xfrm>
          <a:prstGeom prst="roundRect">
            <a:avLst>
              <a:gd name="adj" fmla="val 5217"/>
            </a:avLst>
          </a:prstGeom>
          <a:solidFill>
            <a:srgbClr val="0A1E29"/>
          </a:solidFill>
          <a:ln w="12700">
            <a:solidFill>
              <a:srgbClr val="1E3D4D"/>
            </a:solidFill>
            <a:prstDash val="solid"/>
          </a:ln>
        </p:spPr>
      </p:sp>
      <p:sp>
        <p:nvSpPr>
          <p:cNvPr id="14" name="Text 12"/>
          <p:cNvSpPr/>
          <p:nvPr/>
        </p:nvSpPr>
        <p:spPr>
          <a:xfrm>
            <a:off x="868680" y="3291840"/>
            <a:ext cx="5257800" cy="1051560"/>
          </a:xfrm>
          <a:prstGeom prst="rect">
            <a:avLst/>
          </a:prstGeom>
          <a:noFill/>
        </p:spPr>
        <p:txBody>
          <a:bodyPr wrap="square" lIns="0" tIns="0" rIns="0" bIns="0" rtlCol="0" anchor="ctr"/>
          <a:lstStyle/>
          <a:p>
            <a:pPr marL="0" indent="0">
              <a:buNone/>
            </a:pPr>
            <a:r>
              <a:rPr lang="en-US" sz="1100" i="1" dirty="0">
                <a:solidFill>
                  <a:srgbClr val="DCE7EC"/>
                </a:solidFill>
                <a:latin typeface="Calibri" panose="020F0502020204030204" pitchFamily="34" charset="0"/>
                <a:ea typeface="Calibri" panose="020F0502020204030204" pitchFamily="34" charset="-122"/>
                <a:cs typeface="Calibri" panose="020F0502020204030204" pitchFamily="34" charset="-120"/>
              </a:rPr>
              <a:t>These are first numbers on one dataset and one test project. They tell us the approach is worth continuing, not that the system is finished.</a:t>
            </a:r>
            <a:endParaRPr lang="en-US" sz="1100" dirty="0"/>
          </a:p>
        </p:txBody>
      </p:sp>
      <p:sp>
        <p:nvSpPr>
          <p:cNvPr id="15" name="Text 13"/>
          <p:cNvSpPr/>
          <p:nvPr/>
        </p:nvSpPr>
        <p:spPr>
          <a:xfrm>
            <a:off x="594360" y="4526280"/>
            <a:ext cx="576072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Still to do</a:t>
            </a:r>
            <a:endParaRPr lang="en-US" sz="1200" dirty="0"/>
          </a:p>
        </p:txBody>
      </p:sp>
      <p:sp>
        <p:nvSpPr>
          <p:cNvPr id="16" name="Text 14"/>
          <p:cNvSpPr/>
          <p:nvPr/>
        </p:nvSpPr>
        <p:spPr>
          <a:xfrm>
            <a:off x="594360" y="4846320"/>
            <a:ext cx="5760720" cy="1234440"/>
          </a:xfrm>
          <a:prstGeom prst="rect">
            <a:avLst/>
          </a:prstGeom>
          <a:noFill/>
        </p:spPr>
        <p:txBody>
          <a:bodyPr wrap="square" lIns="0" tIns="0" rIns="0" bIns="0" rtlCol="0" anchor="ctr"/>
          <a:lstStyle/>
          <a:p>
            <a:pPr marL="342900" indent="-342900">
              <a:spcAft>
                <a:spcPts val="500"/>
              </a:spcAft>
              <a:buSzPct val="100000"/>
              <a:buChar char="•"/>
            </a:pPr>
            <a:r>
              <a:rPr lang="en-US" sz="1050" dirty="0">
                <a:solidFill>
                  <a:srgbClr val="DCE7EC"/>
                </a:solidFill>
                <a:latin typeface="Calibri" panose="020F0502020204030204" pitchFamily="34" charset="0"/>
                <a:ea typeface="Calibri" panose="020F0502020204030204" pitchFamily="34" charset="-122"/>
                <a:cs typeface="Calibri" panose="020F0502020204030204" pitchFamily="34" charset="-120"/>
              </a:rPr>
              <a:t>npm reachability is import level only. Symbol level is the biggest remaining piece.</a:t>
            </a:r>
            <a:endParaRPr lang="en-US" sz="1050" dirty="0"/>
          </a:p>
          <a:p>
            <a:pPr marL="342900" indent="-342900">
              <a:spcAft>
                <a:spcPts val="500"/>
              </a:spcAft>
              <a:buSzPct val="100000"/>
              <a:buChar char="•"/>
            </a:pPr>
            <a:r>
              <a:rPr lang="en-US" sz="1050" dirty="0">
                <a:solidFill>
                  <a:srgbClr val="DCE7EC"/>
                </a:solidFill>
                <a:latin typeface="Calibri" panose="020F0502020204030204" pitchFamily="34" charset="0"/>
                <a:ea typeface="Calibri" panose="020F0502020204030204" pitchFamily="34" charset="-122"/>
                <a:cs typeface="Calibri" panose="020F0502020204030204" pitchFamily="34" charset="-120"/>
              </a:rPr>
              <a:t>Our vulnerable function list covers about 35 packages. It needs to be much larger.</a:t>
            </a:r>
            <a:endParaRPr lang="en-US" sz="1050" dirty="0"/>
          </a:p>
          <a:p>
            <a:pPr marL="342900" indent="-342900">
              <a:spcAft>
                <a:spcPts val="500"/>
              </a:spcAft>
              <a:buSzPct val="100000"/>
              <a:buChar char="•"/>
            </a:pPr>
            <a:r>
              <a:rPr lang="en-US" sz="1050" dirty="0">
                <a:solidFill>
                  <a:srgbClr val="DCE7EC"/>
                </a:solidFill>
                <a:latin typeface="Calibri" panose="020F0502020204030204" pitchFamily="34" charset="0"/>
                <a:ea typeface="Calibri" panose="020F0502020204030204" pitchFamily="34" charset="-122"/>
                <a:cs typeface="Calibri" panose="020F0502020204030204" pitchFamily="34" charset="-120"/>
              </a:rPr>
              <a:t>The model misses 55 of 898 malicious samples. We want to know why.</a:t>
            </a:r>
            <a:endParaRPr lang="en-US" sz="1050" dirty="0"/>
          </a:p>
        </p:txBody>
      </p:sp>
      <p:sp>
        <p:nvSpPr>
          <p:cNvPr id="17" name="Text 15"/>
          <p:cNvSpPr/>
          <p:nvPr/>
        </p:nvSpPr>
        <p:spPr>
          <a:xfrm>
            <a:off x="6720840" y="1600200"/>
            <a:ext cx="484632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Plan for the rest of the year</a:t>
            </a:r>
            <a:endParaRPr lang="en-US" sz="1200" dirty="0"/>
          </a:p>
        </p:txBody>
      </p:sp>
      <p:sp>
        <p:nvSpPr>
          <p:cNvPr id="18" name="Shape 16"/>
          <p:cNvSpPr/>
          <p:nvPr/>
        </p:nvSpPr>
        <p:spPr>
          <a:xfrm>
            <a:off x="6720840" y="2057400"/>
            <a:ext cx="256032" cy="256032"/>
          </a:xfrm>
          <a:prstGeom prst="ellipse">
            <a:avLst/>
          </a:prstGeom>
          <a:solidFill>
            <a:srgbClr val="12B886"/>
          </a:solidFill>
        </p:spPr>
      </p:sp>
      <p:sp>
        <p:nvSpPr>
          <p:cNvPr id="19" name="Shape 17"/>
          <p:cNvSpPr/>
          <p:nvPr/>
        </p:nvSpPr>
        <p:spPr>
          <a:xfrm>
            <a:off x="6830568" y="2313432"/>
            <a:ext cx="36576" cy="1024128"/>
          </a:xfrm>
          <a:prstGeom prst="rect">
            <a:avLst/>
          </a:prstGeom>
          <a:solidFill>
            <a:srgbClr val="1E3D4D"/>
          </a:solidFill>
        </p:spPr>
      </p:sp>
      <p:sp>
        <p:nvSpPr>
          <p:cNvPr id="20" name="Text 18"/>
          <p:cNvSpPr/>
          <p:nvPr/>
        </p:nvSpPr>
        <p:spPr>
          <a:xfrm>
            <a:off x="7132320" y="2011680"/>
            <a:ext cx="1097280" cy="274320"/>
          </a:xfrm>
          <a:prstGeom prst="rect">
            <a:avLst/>
          </a:prstGeom>
          <a:noFill/>
        </p:spPr>
        <p:txBody>
          <a:bodyPr wrap="square" lIns="0" tIns="0" rIns="0" bIns="0" rtlCol="0" anchor="ctr"/>
          <a:lstStyle/>
          <a:p>
            <a:pPr marL="0" indent="0">
              <a:buNone/>
            </a:pPr>
            <a:r>
              <a:rPr lang="en-US" sz="900" b="1" kern="0" spc="120" dirty="0">
                <a:solidFill>
                  <a:srgbClr val="12B886"/>
                </a:solidFill>
                <a:latin typeface="Calibri" panose="020F0502020204030204" pitchFamily="34" charset="0"/>
                <a:ea typeface="Calibri" panose="020F0502020204030204" pitchFamily="34" charset="-122"/>
                <a:cs typeface="Calibri" panose="020F0502020204030204" pitchFamily="34" charset="-120"/>
              </a:rPr>
              <a:t>NOW</a:t>
            </a:r>
            <a:endParaRPr lang="en-US" sz="900" dirty="0"/>
          </a:p>
        </p:txBody>
      </p:sp>
      <p:sp>
        <p:nvSpPr>
          <p:cNvPr id="21" name="Text 19"/>
          <p:cNvSpPr/>
          <p:nvPr/>
        </p:nvSpPr>
        <p:spPr>
          <a:xfrm>
            <a:off x="8229600" y="2011680"/>
            <a:ext cx="3291840" cy="274320"/>
          </a:xfrm>
          <a:prstGeom prst="rect">
            <a:avLst/>
          </a:prstGeom>
          <a:noFill/>
        </p:spPr>
        <p:txBody>
          <a:bodyPr wrap="square" lIns="0" tIns="0" rIns="0" bIns="0"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Review 1</a:t>
            </a:r>
            <a:endParaRPr lang="en-US" sz="1150" dirty="0"/>
          </a:p>
        </p:txBody>
      </p:sp>
      <p:sp>
        <p:nvSpPr>
          <p:cNvPr id="22" name="Text 20"/>
          <p:cNvSpPr/>
          <p:nvPr/>
        </p:nvSpPr>
        <p:spPr>
          <a:xfrm>
            <a:off x="7132320" y="2304288"/>
            <a:ext cx="4434840" cy="91440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Problem, literature, design and a working prototype of the core engine</a:t>
            </a:r>
            <a:endParaRPr lang="en-US" sz="1000" dirty="0"/>
          </a:p>
        </p:txBody>
      </p:sp>
      <p:sp>
        <p:nvSpPr>
          <p:cNvPr id="23" name="Shape 21"/>
          <p:cNvSpPr/>
          <p:nvPr/>
        </p:nvSpPr>
        <p:spPr>
          <a:xfrm>
            <a:off x="6720840" y="3383280"/>
            <a:ext cx="256032" cy="256032"/>
          </a:xfrm>
          <a:prstGeom prst="ellipse">
            <a:avLst/>
          </a:prstGeom>
          <a:solidFill>
            <a:srgbClr val="C88A1E"/>
          </a:solidFill>
        </p:spPr>
      </p:sp>
      <p:sp>
        <p:nvSpPr>
          <p:cNvPr id="24" name="Shape 22"/>
          <p:cNvSpPr/>
          <p:nvPr/>
        </p:nvSpPr>
        <p:spPr>
          <a:xfrm>
            <a:off x="6830568" y="3639312"/>
            <a:ext cx="36576" cy="1024128"/>
          </a:xfrm>
          <a:prstGeom prst="rect">
            <a:avLst/>
          </a:prstGeom>
          <a:solidFill>
            <a:srgbClr val="1E3D4D"/>
          </a:solidFill>
        </p:spPr>
      </p:sp>
      <p:sp>
        <p:nvSpPr>
          <p:cNvPr id="25" name="Text 23"/>
          <p:cNvSpPr/>
          <p:nvPr/>
        </p:nvSpPr>
        <p:spPr>
          <a:xfrm>
            <a:off x="7132320" y="3337560"/>
            <a:ext cx="1097280" cy="274320"/>
          </a:xfrm>
          <a:prstGeom prst="rect">
            <a:avLst/>
          </a:prstGeom>
          <a:noFill/>
        </p:spPr>
        <p:txBody>
          <a:bodyPr wrap="square" lIns="0" tIns="0" rIns="0" bIns="0" rtlCol="0" anchor="ctr"/>
          <a:lstStyle/>
          <a:p>
            <a:pPr marL="0" indent="0">
              <a:buNone/>
            </a:pPr>
            <a:r>
              <a:rPr lang="en-US" sz="900" b="1" kern="0" spc="120" dirty="0">
                <a:solidFill>
                  <a:srgbClr val="C88A1E"/>
                </a:solidFill>
                <a:latin typeface="Calibri" panose="020F0502020204030204" pitchFamily="34" charset="0"/>
                <a:ea typeface="Calibri" panose="020F0502020204030204" pitchFamily="34" charset="-122"/>
                <a:cs typeface="Calibri" panose="020F0502020204030204" pitchFamily="34" charset="-120"/>
              </a:rPr>
              <a:t>NEXT</a:t>
            </a:r>
            <a:endParaRPr lang="en-US" sz="900" dirty="0"/>
          </a:p>
        </p:txBody>
      </p:sp>
      <p:sp>
        <p:nvSpPr>
          <p:cNvPr id="26" name="Text 24"/>
          <p:cNvSpPr/>
          <p:nvPr/>
        </p:nvSpPr>
        <p:spPr>
          <a:xfrm>
            <a:off x="8229600" y="3337560"/>
            <a:ext cx="3291840" cy="274320"/>
          </a:xfrm>
          <a:prstGeom prst="rect">
            <a:avLst/>
          </a:prstGeom>
          <a:noFill/>
        </p:spPr>
        <p:txBody>
          <a:bodyPr wrap="square" lIns="0" tIns="0" rIns="0" bIns="0"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Review 2</a:t>
            </a:r>
            <a:endParaRPr lang="en-US" sz="1150" dirty="0"/>
          </a:p>
        </p:txBody>
      </p:sp>
      <p:sp>
        <p:nvSpPr>
          <p:cNvPr id="27" name="Text 25"/>
          <p:cNvSpPr/>
          <p:nvPr/>
        </p:nvSpPr>
        <p:spPr>
          <a:xfrm>
            <a:off x="7132320" y="3630168"/>
            <a:ext cx="4434840" cy="91440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Symbol level reachability for npm, a much larger vulnerable function list, and testing on real open source projects</a:t>
            </a:r>
            <a:endParaRPr lang="en-US" sz="1000" dirty="0"/>
          </a:p>
        </p:txBody>
      </p:sp>
      <p:sp>
        <p:nvSpPr>
          <p:cNvPr id="28" name="Shape 26"/>
          <p:cNvSpPr/>
          <p:nvPr/>
        </p:nvSpPr>
        <p:spPr>
          <a:xfrm>
            <a:off x="6720840" y="4709160"/>
            <a:ext cx="256032" cy="256032"/>
          </a:xfrm>
          <a:prstGeom prst="ellipse">
            <a:avLst/>
          </a:prstGeom>
          <a:solidFill>
            <a:srgbClr val="5A6B78"/>
          </a:solidFill>
        </p:spPr>
      </p:sp>
      <p:sp>
        <p:nvSpPr>
          <p:cNvPr id="29" name="Text 27"/>
          <p:cNvSpPr/>
          <p:nvPr/>
        </p:nvSpPr>
        <p:spPr>
          <a:xfrm>
            <a:off x="7132320" y="4663440"/>
            <a:ext cx="1097280" cy="274320"/>
          </a:xfrm>
          <a:prstGeom prst="rect">
            <a:avLst/>
          </a:prstGeom>
          <a:noFill/>
        </p:spPr>
        <p:txBody>
          <a:bodyPr wrap="square" lIns="0" tIns="0" rIns="0" bIns="0" rtlCol="0" anchor="ctr"/>
          <a:lstStyle/>
          <a:p>
            <a:pPr marL="0" indent="0">
              <a:buNone/>
            </a:pPr>
            <a:r>
              <a:rPr lang="en-US" sz="900" b="1" kern="0" spc="120" dirty="0">
                <a:solidFill>
                  <a:srgbClr val="5A6B78"/>
                </a:solidFill>
                <a:latin typeface="Calibri" panose="020F0502020204030204" pitchFamily="34" charset="0"/>
                <a:ea typeface="Calibri" panose="020F0502020204030204" pitchFamily="34" charset="-122"/>
                <a:cs typeface="Calibri" panose="020F0502020204030204" pitchFamily="34" charset="-120"/>
              </a:rPr>
              <a:t>THEN</a:t>
            </a:r>
            <a:endParaRPr lang="en-US" sz="900" dirty="0"/>
          </a:p>
        </p:txBody>
      </p:sp>
      <p:sp>
        <p:nvSpPr>
          <p:cNvPr id="30" name="Text 28"/>
          <p:cNvSpPr/>
          <p:nvPr/>
        </p:nvSpPr>
        <p:spPr>
          <a:xfrm>
            <a:off x="8229600" y="4663440"/>
            <a:ext cx="3291840" cy="274320"/>
          </a:xfrm>
          <a:prstGeom prst="rect">
            <a:avLst/>
          </a:prstGeom>
          <a:noFill/>
        </p:spPr>
        <p:txBody>
          <a:bodyPr wrap="square" lIns="0" tIns="0" rIns="0" bIns="0"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Review 3</a:t>
            </a:r>
            <a:endParaRPr lang="en-US" sz="1150" dirty="0"/>
          </a:p>
        </p:txBody>
      </p:sp>
      <p:sp>
        <p:nvSpPr>
          <p:cNvPr id="31" name="Text 29"/>
          <p:cNvSpPr/>
          <p:nvPr/>
        </p:nvSpPr>
        <p:spPr>
          <a:xfrm>
            <a:off x="7132320" y="4956048"/>
            <a:ext cx="4434840" cy="914400"/>
          </a:xfrm>
          <a:prstGeom prst="rect">
            <a:avLst/>
          </a:prstGeom>
          <a:noFill/>
        </p:spPr>
        <p:txBody>
          <a:bodyPr wrap="square" lIns="0" tIns="0" rIns="0" bIns="0" rtlCol="0" anchor="ctr"/>
          <a:lstStyle/>
          <a:p>
            <a:pPr marL="0" indent="0">
              <a:buNone/>
            </a:pPr>
            <a:r>
              <a:rPr lang="en-US" sz="1000" dirty="0">
                <a:solidFill>
                  <a:srgbClr val="8FA6B2"/>
                </a:solidFill>
                <a:latin typeface="Calibri" panose="020F0502020204030204" pitchFamily="34" charset="0"/>
                <a:ea typeface="Calibri" panose="020F0502020204030204" pitchFamily="34" charset="-122"/>
                <a:cs typeface="Calibri" panose="020F0502020204030204" pitchFamily="34" charset="-120"/>
              </a:rPr>
              <a:t>Run it inside CI so it checks every pull request, offline mode, and the final write up</a:t>
            </a:r>
            <a:endParaRPr lang="en-US" sz="1000" dirty="0"/>
          </a:p>
        </p:txBody>
      </p:sp>
      <p:sp>
        <p:nvSpPr>
          <p:cNvPr id="32" name="Text 30"/>
          <p:cNvSpPr/>
          <p:nvPr/>
        </p:nvSpPr>
        <p:spPr>
          <a:xfrm>
            <a:off x="11109960" y="6355080"/>
            <a:ext cx="457200" cy="274320"/>
          </a:xfrm>
          <a:prstGeom prst="rect">
            <a:avLst/>
          </a:prstGeom>
          <a:noFill/>
        </p:spPr>
        <p:txBody>
          <a:bodyPr wrap="square" lIns="0" tIns="0" rIns="0" bIns="0" rtlCol="0" anchor="ctr"/>
          <a:lstStyle/>
          <a:p>
            <a:pPr marL="0" indent="0" algn="r">
              <a:buNone/>
            </a:pPr>
            <a:r>
              <a:rPr lang="en-US" sz="900" dirty="0">
                <a:solidFill>
                  <a:srgbClr val="5A6B78"/>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236.15999999999994,&quot;left&quot;:558,&quot;top&quot;:168.48,&quot;width&quot;:352.8}"/>
</p:tagLst>
</file>

<file path=ppt/tags/tag2.xml><?xml version="1.0" encoding="utf-8"?>
<p:tagLst xmlns:p="http://schemas.openxmlformats.org/presentationml/2006/main">
  <p:tag name="KSO_WM_DIAGRAM_VIRTUALLY_FRAME" val="{&quot;height&quot;:236.15999999999994,&quot;left&quot;:558,&quot;top&quot;:168.48,&quot;width&quot;:352.8}"/>
</p:tagLst>
</file>

<file path=ppt/tags/tag3.xml><?xml version="1.0" encoding="utf-8"?>
<p:tagLst xmlns:p="http://schemas.openxmlformats.org/presentationml/2006/main">
  <p:tag name="KSO_WM_DIAGRAM_VIRTUALLY_FRAME" val="{&quot;height&quot;:236.15999999999994,&quot;left&quot;:558,&quot;top&quot;:168.48,&quot;width&quot;:352.8}"/>
</p:tagLst>
</file>

<file path=ppt/tags/tag4.xml><?xml version="1.0" encoding="utf-8"?>
<p:tagLst xmlns:p="http://schemas.openxmlformats.org/presentationml/2006/main">
  <p:tag name="KSO_WM_DIAGRAM_VIRTUALLY_FRAME" val="{&quot;height&quot;:236.15999999999994,&quot;left&quot;:558,&quot;top&quot;:168.48,&quot;width&quot;:352.8}"/>
</p:tagLst>
</file>

<file path=ppt/tags/tag5.xml><?xml version="1.0" encoding="utf-8"?>
<p:tagLst xmlns:p="http://schemas.openxmlformats.org/presentationml/2006/main">
  <p:tag name="KSO_WM_DIAGRAM_VIRTUALLY_FRAME" val="{&quot;height&quot;:236.15999999999994,&quot;left&quot;:558,&quot;top&quot;:168.48,&quot;width&quot;:352.8}"/>
</p:tagLst>
</file>

<file path=ppt/tags/tag6.xml><?xml version="1.0" encoding="utf-8"?>
<p:tagLst xmlns:p="http://schemas.openxmlformats.org/presentationml/2006/main">
  <p:tag name="KSO_WM_DIAGRAM_VIRTUALLY_FRAME" val="{&quot;height&quot;:236.15999999999994,&quot;left&quot;:558,&quot;top&quot;:168.48,&quot;width&quot;:352.8}"/>
</p:tagLst>
</file>

<file path=ppt/tags/tag7.xml><?xml version="1.0" encoding="utf-8"?>
<p:tagLst xmlns:p="http://schemas.openxmlformats.org/presentationml/2006/main">
  <p:tag name="KSO_WM_DIAGRAM_VIRTUALLY_FRAME" val="{&quot;height&quot;:236.15999999999994,&quot;left&quot;:558,&quot;top&quot;:168.48,&quot;width&quot;:352.8}"/>
</p:tagLst>
</file>

<file path=ppt/tags/tag8.xml><?xml version="1.0" encoding="utf-8"?>
<p:tagLst xmlns:p="http://schemas.openxmlformats.org/presentationml/2006/main">
  <p:tag name="KSO_WM_DIAGRAM_VIRTUALLY_FRAME" val="{&quot;height&quot;:236.15999999999994,&quot;left&quot;:558,&quot;top&quot;:168.48,&quot;width&quot;:352.8}"/>
</p:tagLst>
</file>

<file path=ppt/tags/tag9.xml><?xml version="1.0" encoding="utf-8"?>
<p:tagLst xmlns:p="http://schemas.openxmlformats.org/presentationml/2006/main">
  <p:tag name="KSO_WM_DIAGRAM_VIRTUALLY_FRAME" val="{&quot;height&quot;:236.15999999999994,&quot;left&quot;:558,&quot;top&quot;:168.48,&quot;width&quot;:352.8}"/>
</p:tagLst>
</file>

<file path=ppt/tags/tag10.xml><?xml version="1.0" encoding="utf-8"?>
<p:tagLst xmlns:p="http://schemas.openxmlformats.org/presentationml/2006/main">
  <p:tag name="KSO_WM_DIAGRAM_VIRTUALLY_FRAME" val="{&quot;height&quot;:236.15999999999994,&quot;left&quot;:558,&quot;top&quot;:168.48,&quot;width&quot;:352.8}"/>
</p:tagLst>
</file>

<file path=ppt/tags/tag11.xml><?xml version="1.0" encoding="utf-8"?>
<p:tagLst xmlns:p="http://schemas.openxmlformats.org/presentationml/2006/main">
  <p:tag name="KSO_WM_DIAGRAM_VIRTUALLY_FRAME" val="{&quot;height&quot;:236.15999999999994,&quot;left&quot;:558,&quot;top&quot;:168.48,&quot;width&quot;:352.8}"/>
</p:tagLst>
</file>

<file path=ppt/tags/tag12.xml><?xml version="1.0" encoding="utf-8"?>
<p:tagLst xmlns:p="http://schemas.openxmlformats.org/presentationml/2006/main">
  <p:tag name="KSO_WM_DIAGRAM_VIRTUALLY_FRAME" val="{&quot;height&quot;:332.64,&quot;left&quot;:46.8,&quot;top&quot;:133.2,&quot;width&quot;:619.2}"/>
</p:tagLst>
</file>

<file path=ppt/tags/tag13.xml><?xml version="1.0" encoding="utf-8"?>
<p:tagLst xmlns:p="http://schemas.openxmlformats.org/presentationml/2006/main">
  <p:tag name="KSO_WM_DIAGRAM_VIRTUALLY_FRAME" val="{&quot;height&quot;:332.64,&quot;left&quot;:46.8,&quot;top&quot;:133.2,&quot;width&quot;:619.2}"/>
</p:tagLst>
</file>

<file path=ppt/tags/tag14.xml><?xml version="1.0" encoding="utf-8"?>
<p:tagLst xmlns:p="http://schemas.openxmlformats.org/presentationml/2006/main">
  <p:tag name="KSO_WM_DIAGRAM_VIRTUALLY_FRAME" val="{&quot;height&quot;:332.64,&quot;left&quot;:46.8,&quot;top&quot;:133.2,&quot;width&quot;:619.2}"/>
</p:tagLst>
</file>

<file path=ppt/tags/tag15.xml><?xml version="1.0" encoding="utf-8"?>
<p:tagLst xmlns:p="http://schemas.openxmlformats.org/presentationml/2006/main">
  <p:tag name="KSO_WM_DIAGRAM_VIRTUALLY_FRAME" val="{&quot;height&quot;:332.64,&quot;left&quot;:46.8,&quot;top&quot;:133.2,&quot;width&quot;:619.2}"/>
</p:tagLst>
</file>

<file path=ppt/tags/tag16.xml><?xml version="1.0" encoding="utf-8"?>
<p:tagLst xmlns:p="http://schemas.openxmlformats.org/presentationml/2006/main">
  <p:tag name="KSO_WM_DIAGRAM_VIRTUALLY_FRAME" val="{&quot;height&quot;:332.64,&quot;left&quot;:46.8,&quot;top&quot;:133.2,&quot;width&quot;:619.2}"/>
</p:tagLst>
</file>

<file path=ppt/tags/tag17.xml><?xml version="1.0" encoding="utf-8"?>
<p:tagLst xmlns:p="http://schemas.openxmlformats.org/presentationml/2006/main">
  <p:tag name="KSO_WM_DIAGRAM_VIRTUALLY_FRAME" val="{&quot;height&quot;:332.64,&quot;left&quot;:46.8,&quot;top&quot;:133.2,&quot;width&quot;:619.2}"/>
</p:tagLst>
</file>

<file path=ppt/tags/tag18.xml><?xml version="1.0" encoding="utf-8"?>
<p:tagLst xmlns:p="http://schemas.openxmlformats.org/presentationml/2006/main">
  <p:tag name="KSO_WM_DIAGRAM_VIRTUALLY_FRAME" val="{&quot;height&quot;:332.64,&quot;left&quot;:46.8,&quot;top&quot;:133.2,&quot;width&quot;:619.2}"/>
</p:tagLst>
</file>

<file path=ppt/tags/tag19.xml><?xml version="1.0" encoding="utf-8"?>
<p:tagLst xmlns:p="http://schemas.openxmlformats.org/presentationml/2006/main">
  <p:tag name="KSO_WM_DIAGRAM_VIRTUALLY_FRAME" val="{&quot;height&quot;:332.64,&quot;left&quot;:46.8,&quot;top&quot;:133.2,&quot;width&quot;:619.2}"/>
</p:tagLst>
</file>

<file path=ppt/tags/tag20.xml><?xml version="1.0" encoding="utf-8"?>
<p:tagLst xmlns:p="http://schemas.openxmlformats.org/presentationml/2006/main">
  <p:tag name="KSO_WM_DIAGRAM_VIRTUALLY_FRAME" val="{&quot;height&quot;:332.64,&quot;left&quot;:46.8,&quot;top&quot;:133.2,&quot;width&quot;:619.2}"/>
</p:tagLst>
</file>

<file path=ppt/tags/tag21.xml><?xml version="1.0" encoding="utf-8"?>
<p:tagLst xmlns:p="http://schemas.openxmlformats.org/presentationml/2006/main">
  <p:tag name="KSO_WM_DIAGRAM_VIRTUALLY_FRAME" val="{&quot;height&quot;:332.64,&quot;left&quot;:46.8,&quot;top&quot;:133.2,&quot;width&quot;:619.2}"/>
</p:tagLst>
</file>

<file path=ppt/tags/tag22.xml><?xml version="1.0" encoding="utf-8"?>
<p:tagLst xmlns:p="http://schemas.openxmlformats.org/presentationml/2006/main">
  <p:tag name="KSO_WM_DIAGRAM_VIRTUALLY_FRAME" val="{&quot;height&quot;:332.64,&quot;left&quot;:46.8,&quot;top&quot;:133.2,&quot;width&quot;:619.2}"/>
</p:tagLst>
</file>

<file path=ppt/tags/tag23.xml><?xml version="1.0" encoding="utf-8"?>
<p:tagLst xmlns:p="http://schemas.openxmlformats.org/presentationml/2006/main">
  <p:tag name="KSO_WM_DIAGRAM_VIRTUALLY_FRAME" val="{&quot;height&quot;:332.64,&quot;left&quot;:46.8,&quot;top&quot;:133.2,&quot;width&quot;:619.2}"/>
</p:tagLst>
</file>

<file path=ppt/tags/tag24.xml><?xml version="1.0" encoding="utf-8"?>
<p:tagLst xmlns:p="http://schemas.openxmlformats.org/presentationml/2006/main">
  <p:tag name="KSO_WM_DIAGRAM_VIRTUALLY_FRAME" val="{&quot;height&quot;:332.64,&quot;left&quot;:46.8,&quot;top&quot;:133.2,&quot;width&quot;:619.2}"/>
</p:tagLst>
</file>

<file path=ppt/tags/tag25.xml><?xml version="1.0" encoding="utf-8"?>
<p:tagLst xmlns:p="http://schemas.openxmlformats.org/presentationml/2006/main">
  <p:tag name="KSO_WM_DIAGRAM_VIRTUALLY_FRAME" val="{&quot;height&quot;:332.64,&quot;left&quot;:46.8,&quot;top&quot;:133.2,&quot;width&quot;:619.2}"/>
</p:tagLst>
</file>

<file path=ppt/tags/tag26.xml><?xml version="1.0" encoding="utf-8"?>
<p:tagLst xmlns:p="http://schemas.openxmlformats.org/presentationml/2006/main">
  <p:tag name="KSO_WM_DIAGRAM_VIRTUALLY_FRAME" val="{&quot;height&quot;:332.64,&quot;left&quot;:46.8,&quot;top&quot;:133.2,&quot;width&quot;:619.2}"/>
</p:tagLst>
</file>

<file path=ppt/tags/tag27.xml><?xml version="1.0" encoding="utf-8"?>
<p:tagLst xmlns:p="http://schemas.openxmlformats.org/presentationml/2006/main">
  <p:tag name="KSO_WM_DIAGRAM_VIRTUALLY_FRAME" val="{&quot;height&quot;:332.64,&quot;left&quot;:46.8,&quot;top&quot;:133.2,&quot;width&quot;:619.2}"/>
</p:tagLst>
</file>

<file path=ppt/tags/tag28.xml><?xml version="1.0" encoding="utf-8"?>
<p:tagLst xmlns:p="http://schemas.openxmlformats.org/presentationml/2006/main">
  <p:tag name="KSO_WM_DIAGRAM_VIRTUALLY_FRAME" val="{&quot;height&quot;:332.64,&quot;left&quot;:46.8,&quot;top&quot;:133.2,&quot;width&quot;:619.2}"/>
</p:tagLst>
</file>

<file path=ppt/tags/tag29.xml><?xml version="1.0" encoding="utf-8"?>
<p:tagLst xmlns:p="http://schemas.openxmlformats.org/presentationml/2006/main">
  <p:tag name="KSO_WM_DIAGRAM_VIRTUALLY_FRAME" val="{&quot;height&quot;:332.64,&quot;left&quot;:46.8,&quot;top&quot;:133.2,&quot;width&quot;:619.2}"/>
</p:tagLst>
</file>

<file path=ppt/tags/tag30.xml><?xml version="1.0" encoding="utf-8"?>
<p:tagLst xmlns:p="http://schemas.openxmlformats.org/presentationml/2006/main">
  <p:tag name="KSO_WM_DIAGRAM_VIRTUALLY_FRAME" val="{&quot;height&quot;:332.64,&quot;left&quot;:46.8,&quot;top&quot;:133.2,&quot;width&quot;:619.2}"/>
</p:tagLst>
</file>

<file path=ppt/tags/tag31.xml><?xml version="1.0" encoding="utf-8"?>
<p:tagLst xmlns:p="http://schemas.openxmlformats.org/presentationml/2006/main">
  <p:tag name="KSO_WM_DIAGRAM_VIRTUALLY_FRAME" val="{&quot;height&quot;:332.64,&quot;left&quot;:46.8,&quot;top&quot;:133.2,&quot;width&quot;:619.2}"/>
</p:tagLst>
</file>

<file path=ppt/tags/tag32.xml><?xml version="1.0" encoding="utf-8"?>
<p:tagLst xmlns:p="http://schemas.openxmlformats.org/presentationml/2006/main">
  <p:tag name="KSO_WM_DIAGRAM_VIRTUALLY_FRAME" val="{&quot;height&quot;:332.64,&quot;left&quot;:46.8,&quot;top&quot;:133.2,&quot;width&quot;:619.2}"/>
</p:tagLst>
</file>

<file path=ppt/tags/tag33.xml><?xml version="1.0" encoding="utf-8"?>
<p:tagLst xmlns:p="http://schemas.openxmlformats.org/presentationml/2006/main">
  <p:tag name="KSO_WM_DIAGRAM_VIRTUALLY_FRAME" val="{&quot;height&quot;:332.64,&quot;left&quot;:46.8,&quot;top&quot;:133.2,&quot;width&quot;:619.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11619</Words>
  <Application>WPS Presentation</Application>
  <PresentationFormat>On-screen Show (16:9)</PresentationFormat>
  <Paragraphs>629</Paragraphs>
  <Slides>15</Slides>
  <Notes>15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vt:i4>
      </vt:variant>
    </vt:vector>
  </HeadingPairs>
  <TitlesOfParts>
    <vt:vector size="31" baseType="lpstr">
      <vt:lpstr>Arial</vt:lpstr>
      <vt:lpstr>SimSun</vt:lpstr>
      <vt:lpstr>Wingdings</vt:lpstr>
      <vt:lpstr>Calibri</vt:lpstr>
      <vt:lpstr>Calibri</vt:lpstr>
      <vt:lpstr>Calibri</vt:lpstr>
      <vt:lpstr>Cambria</vt:lpstr>
      <vt:lpstr>Cambria</vt:lpstr>
      <vt:lpstr>Cambria</vt:lpstr>
      <vt:lpstr>Calibri</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ChainGuard - Review 1</dc:title>
  <dc:creator>ChainGuard</dc:creator>
  <dc:subject>PptxGenJS Presentation</dc:subject>
  <cp:lastModifiedBy>UER</cp:lastModifiedBy>
  <cp:revision>3</cp:revision>
  <dcterms:created xsi:type="dcterms:W3CDTF">2026-08-18T15:13:00Z</dcterms:created>
  <dcterms:modified xsi:type="dcterms:W3CDTF">2026-08-19T06:15:56Z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D3EC64EDDAB3419584E3F4F3BC02BF11_12</vt:lpwstr>
  </property>
  <property fmtid="{D5CDD505-2E9C-101B-9397-08002B2CF9AE}" pid="3" name="KSOProductBuildVer">
    <vt:lpwstr>2057-12.2.0.23206</vt:lpwstr>
  </property>
</Properties>
</file>