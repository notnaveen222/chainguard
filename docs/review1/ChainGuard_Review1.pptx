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Papers</c:v>
                </c:pt>
              </c:strCache>
            </c:strRef>
          </c:tx>
          <c:spPr>
            <a:solidFill>
              <a:srgbClr val="0B7A5A"/>
            </a:solidFill>
            <a:effectLst/>
          </c:spPr>
          <c:invertIfNegative val="0"/>
          <c:dLbls>
            <c:numFmt formatCode="#,##0" sourceLinked="0"/>
            <c:txPr>
              <a:bodyPr/>
              <a:lstStyle/>
              <a:p>
                <a:pPr>
                  <a:defRPr b="0" i="0" strike="noStrike" sz="1100" u="none">
                    <a:solidFill>
                      <a:srgbClr val="1B2A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Threats and datasets</c:v>
                  </c:pt>
                  <c:pt idx="1">
                    <c:v>ML detection</c:v>
                  </c:pt>
                  <c:pt idx="2">
                    <c:v>LLM approaches</c:v>
                  </c:pt>
                  <c:pt idx="3">
                    <c:v>Reachability and SCA</c:v>
                  </c:pt>
                  <c:pt idx="4">
                    <c:v>SBOM and provenance</c:v>
                  </c:pt>
                </c:lvl>
              </c:multiLvlStrCache>
            </c:multiLvlStrRef>
          </c:cat>
          <c:val>
            <c:numRef>
              <c:f>Sheet1!$B$2:$B$6</c:f>
              <c:numCache>
                <c:formatCode>General</c:formatCode>
                <c:ptCount val="5"/>
                <c:pt idx="0">
                  <c:v>8</c:v>
                </c:pt>
                <c:pt idx="1">
                  <c:v>7</c:v>
                </c:pt>
                <c:pt idx="2">
                  <c:v>5</c:v>
                </c:pt>
                <c:pt idx="3">
                  <c:v>4</c:v>
                </c:pt>
                <c:pt idx="4">
                  <c:v>3</c:v>
                </c:pt>
              </c:numCache>
            </c:numRef>
          </c:val>
        </c:ser>
        <c:dLbls>
          <c:numFmt formatCode="#,##0" sourceLinked="0"/>
          <c:txPr>
            <a:bodyPr/>
            <a:lstStyle/>
            <a:p>
              <a:pPr>
                <a:defRPr b="0" i="0" strike="noStrike" sz="1100" u="none">
                  <a:solidFill>
                    <a:srgbClr val="1B2A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3"/>
                </a:solidFill>
                <a:latin typeface="Calibri"/>
              </a:defRPr>
            </a:pPr>
            <a:endParaRPr lang="en-US"/>
          </a:p>
        </c:txPr>
        <c:crossAx val="2094734552"/>
        <c:crosses val="autoZero"/>
        <c:auto val="1"/>
        <c:lblAlgn val="ctr"/>
        <c:noMultiLvlLbl val="1"/>
      </c:catAx>
      <c:valAx>
        <c:axId val="2094734552"/>
        <c:scaling>
          <c:orientation val="minMax"/>
          <c:max val="10"/>
        </c:scaling>
        <c:delete val="0"/>
        <c:axPos val="b"/>
        <c:majorGridlines>
          <c:spPr>
            <a:ln w="12700" cap="flat">
              <a:solidFill>
                <a:srgbClr val="E2EA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B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line: we scan a dependency tree, flag packages that are actually malicious, and cut the CVE list down to the ones the application can really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most of the code you ship, you did not write. And it runs with your privileges at install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one of these as the story. event-stream is the easiest to explain: a maintainer got tired, handed the project over, and the new owner added a wallet stealer.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these are different kinds of problem. A is detection, B is prioritisation. Most tools do one or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 safe rule in the box is worth saying out loud. If we cannot tell, we report it. A false alarm costs ten minutes, a miss ships a vulnerability.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the 2026 papers: they are real, verified through the arXiv API before citing.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ask which paper is closest: Samaana 2024. We differ by covering npm too, by using co-occurrence signals, and by adding the whole reachability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G2 is the strongest one to talk about. Reachability was recommended in 2019 and a 2025 review still lists false positives as a top barrier. Six years, same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once. Then point out the two branches at the bottom are the two halves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combination idea is the one to emphasise. Individually these behaviours are everywhere. Together in one file they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call path and say it out loud. Four hops, three files. This is the artifact that convinces people it is real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wins marks. Volunteering the leakage problem before anyone asks shows you understand what a good result actually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each depends only on the one below. The right hand column matters: we process malicious files, so the scanner has to defend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22 out. Point at the four groups and say which one you would open first if a panel member asked to see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weaknesses yourself before anyone asks. A panel trusts a student who knows the limits of their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8"/>
        </a:solidFill>
      </p:bgPr>
    </p:bg>
    <p:spTree>
      <p:nvGrpSpPr>
        <p:cNvPr id="1" name=""/>
        <p:cNvGrpSpPr/>
        <p:nvPr/>
      </p:nvGrpSpPr>
      <p:grpSpPr>
        <a:xfrm>
          <a:off x="0" y="0"/>
          <a:ext cx="0" cy="0"/>
          <a:chOff x="0" y="0"/>
          <a:chExt cx="0" cy="0"/>
        </a:xfrm>
      </p:grpSpPr>
      <p:sp>
        <p:nvSpPr>
          <p:cNvPr id="2" name="Text 0"/>
          <p:cNvSpPr/>
          <p:nvPr/>
        </p:nvSpPr>
        <p:spPr>
          <a:xfrm>
            <a:off x="594360" y="1371600"/>
            <a:ext cx="9144000" cy="274320"/>
          </a:xfrm>
          <a:prstGeom prst="rect">
            <a:avLst/>
          </a:prstGeom>
          <a:noFill/>
          <a:ln/>
        </p:spPr>
        <p:txBody>
          <a:bodyPr wrap="square" lIns="0" tIns="0" rIns="0" bIns="0" rtlCol="0" anchor="ctr"/>
          <a:lstStyle/>
          <a:p>
            <a:pPr indent="0" marL="0">
              <a:buNone/>
            </a:pPr>
            <a:r>
              <a:rPr lang="en-US" sz="1100" b="1" spc="220" kern="0" dirty="0">
                <a:solidFill>
                  <a:srgbClr val="12B886"/>
                </a:solidFill>
                <a:latin typeface="Calibri" pitchFamily="34" charset="0"/>
                <a:ea typeface="Calibri" pitchFamily="34" charset="-122"/>
                <a:cs typeface="Calibri" pitchFamily="34" charset="-120"/>
              </a:rPr>
              <a:t>FINAL YEAR PROJECT   |   REVIEW 1</a:t>
            </a:r>
            <a:endParaRPr lang="en-US" sz="1100" dirty="0"/>
          </a:p>
        </p:txBody>
      </p:sp>
      <p:sp>
        <p:nvSpPr>
          <p:cNvPr id="3" name="Text 1"/>
          <p:cNvSpPr/>
          <p:nvPr/>
        </p:nvSpPr>
        <p:spPr>
          <a:xfrm>
            <a:off x="594360" y="1783080"/>
            <a:ext cx="10058400" cy="10515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ChainGuard</a:t>
            </a:r>
            <a:endParaRPr lang="en-US" sz="5400" dirty="0"/>
          </a:p>
        </p:txBody>
      </p:sp>
      <p:sp>
        <p:nvSpPr>
          <p:cNvPr id="4" name="Text 2"/>
          <p:cNvSpPr/>
          <p:nvPr/>
        </p:nvSpPr>
        <p:spPr>
          <a:xfrm>
            <a:off x="594360" y="2788920"/>
            <a:ext cx="10058400" cy="411480"/>
          </a:xfrm>
          <a:prstGeom prst="rect">
            <a:avLst/>
          </a:prstGeom>
          <a:noFill/>
          <a:ln/>
        </p:spPr>
        <p:txBody>
          <a:bodyPr wrap="square" lIns="0" tIns="0" rIns="0" bIns="0" rtlCol="0" anchor="ctr"/>
          <a:lstStyle/>
          <a:p>
            <a:pPr indent="0" marL="0">
              <a:buNone/>
            </a:pPr>
            <a:r>
              <a:rPr lang="en-US" sz="2100" dirty="0">
                <a:solidFill>
                  <a:srgbClr val="DCE7EC"/>
                </a:solidFill>
                <a:latin typeface="Cambria" pitchFamily="34" charset="0"/>
                <a:ea typeface="Cambria" pitchFamily="34" charset="-122"/>
                <a:cs typeface="Cambria" pitchFamily="34" charset="-120"/>
              </a:rPr>
              <a:t>AI-Powered Software Supply Chain Security</a:t>
            </a:r>
            <a:endParaRPr lang="en-US" sz="2100" dirty="0"/>
          </a:p>
        </p:txBody>
      </p:sp>
      <p:sp>
        <p:nvSpPr>
          <p:cNvPr id="5" name="Text 3"/>
          <p:cNvSpPr/>
          <p:nvPr/>
        </p:nvSpPr>
        <p:spPr>
          <a:xfrm>
            <a:off x="594360" y="3200400"/>
            <a:ext cx="10058400" cy="365760"/>
          </a:xfrm>
          <a:prstGeom prst="rect">
            <a:avLst/>
          </a:prstGeom>
          <a:noFill/>
          <a:ln/>
        </p:spPr>
        <p:txBody>
          <a:bodyPr wrap="square" lIns="0" tIns="0" rIns="0" bIns="0" rtlCol="0" anchor="ctr"/>
          <a:lstStyle/>
          <a:p>
            <a:pPr indent="0" marL="0">
              <a:buNone/>
            </a:pPr>
            <a:r>
              <a:rPr lang="en-US" sz="1400" dirty="0">
                <a:solidFill>
                  <a:srgbClr val="8FA6B2"/>
                </a:solidFill>
                <a:latin typeface="Calibri" pitchFamily="34" charset="0"/>
                <a:ea typeface="Calibri" pitchFamily="34" charset="-122"/>
                <a:cs typeface="Calibri" pitchFamily="34" charset="-120"/>
              </a:rPr>
              <a:t>Malicious Package Detection and Vulnerability Reachability Analysis</a:t>
            </a:r>
            <a:endParaRPr lang="en-US" sz="1400" dirty="0"/>
          </a:p>
        </p:txBody>
      </p:sp>
      <p:sp>
        <p:nvSpPr>
          <p:cNvPr id="6" name="Text 4"/>
          <p:cNvSpPr/>
          <p:nvPr/>
        </p:nvSpPr>
        <p:spPr>
          <a:xfrm>
            <a:off x="594360" y="4343400"/>
            <a:ext cx="2560320" cy="329184"/>
          </a:xfrm>
          <a:prstGeom prst="rect">
            <a:avLst/>
          </a:prstGeom>
          <a:noFill/>
          <a:ln/>
        </p:spPr>
        <p:txBody>
          <a:bodyPr wrap="square" lIns="0" tIns="0" rIns="0" bIns="0" rtlCol="0" anchor="ctr"/>
          <a:lstStyle/>
          <a:p>
            <a:pPr indent="0" marL="0">
              <a:buNone/>
            </a:pPr>
            <a:r>
              <a:rPr lang="en-US" sz="1500" b="1" dirty="0">
                <a:solidFill>
                  <a:srgbClr val="12B886"/>
                </a:solidFill>
                <a:latin typeface="Calibri" pitchFamily="34" charset="0"/>
                <a:ea typeface="Calibri" pitchFamily="34" charset="-122"/>
                <a:cs typeface="Calibri" pitchFamily="34" charset="-120"/>
              </a:rPr>
              <a:t>01</a:t>
            </a:r>
            <a:endParaRPr lang="en-US" sz="1500" dirty="0"/>
          </a:p>
        </p:txBody>
      </p:sp>
      <p:sp>
        <p:nvSpPr>
          <p:cNvPr id="7" name="Text 5"/>
          <p:cNvSpPr/>
          <p:nvPr/>
        </p:nvSpPr>
        <p:spPr>
          <a:xfrm>
            <a:off x="594360" y="4663440"/>
            <a:ext cx="2560320" cy="329184"/>
          </a:xfrm>
          <a:prstGeom prst="rect">
            <a:avLst/>
          </a:prstGeom>
          <a:noFill/>
          <a:ln/>
        </p:spPr>
        <p:txBody>
          <a:bodyPr wrap="square" lIns="0" tIns="0" rIns="0" bIns="0" rtlCol="0" anchor="ctr"/>
          <a:lstStyle/>
          <a:p>
            <a:pPr indent="0" marL="0">
              <a:buNone/>
            </a:pPr>
            <a:r>
              <a:rPr lang="en-US" sz="1250" dirty="0">
                <a:solidFill>
                  <a:srgbClr val="DCE7EC"/>
                </a:solidFill>
                <a:latin typeface="Calibri" pitchFamily="34" charset="0"/>
                <a:ea typeface="Calibri" pitchFamily="34" charset="-122"/>
                <a:cs typeface="Calibri" pitchFamily="34" charset="-120"/>
              </a:rPr>
              <a:t>Domain and Problem</a:t>
            </a:r>
            <a:endParaRPr lang="en-US" sz="1250" dirty="0"/>
          </a:p>
        </p:txBody>
      </p:sp>
      <p:sp>
        <p:nvSpPr>
          <p:cNvPr id="8" name="Text 6"/>
          <p:cNvSpPr/>
          <p:nvPr/>
        </p:nvSpPr>
        <p:spPr>
          <a:xfrm>
            <a:off x="3383280" y="4343400"/>
            <a:ext cx="2560320" cy="329184"/>
          </a:xfrm>
          <a:prstGeom prst="rect">
            <a:avLst/>
          </a:prstGeom>
          <a:noFill/>
          <a:ln/>
        </p:spPr>
        <p:txBody>
          <a:bodyPr wrap="square" lIns="0" tIns="0" rIns="0" bIns="0" rtlCol="0" anchor="ctr"/>
          <a:lstStyle/>
          <a:p>
            <a:pPr indent="0" marL="0">
              <a:buNone/>
            </a:pPr>
            <a:r>
              <a:rPr lang="en-US" sz="1500" b="1" dirty="0">
                <a:solidFill>
                  <a:srgbClr val="12B886"/>
                </a:solidFill>
                <a:latin typeface="Calibri" pitchFamily="34" charset="0"/>
                <a:ea typeface="Calibri" pitchFamily="34" charset="-122"/>
                <a:cs typeface="Calibri" pitchFamily="34" charset="-120"/>
              </a:rPr>
              <a:t>02</a:t>
            </a:r>
            <a:endParaRPr lang="en-US" sz="1500" dirty="0"/>
          </a:p>
        </p:txBody>
      </p:sp>
      <p:sp>
        <p:nvSpPr>
          <p:cNvPr id="9" name="Text 7"/>
          <p:cNvSpPr/>
          <p:nvPr/>
        </p:nvSpPr>
        <p:spPr>
          <a:xfrm>
            <a:off x="3383280" y="4663440"/>
            <a:ext cx="2560320" cy="329184"/>
          </a:xfrm>
          <a:prstGeom prst="rect">
            <a:avLst/>
          </a:prstGeom>
          <a:noFill/>
          <a:ln/>
        </p:spPr>
        <p:txBody>
          <a:bodyPr wrap="square" lIns="0" tIns="0" rIns="0" bIns="0" rtlCol="0" anchor="ctr"/>
          <a:lstStyle/>
          <a:p>
            <a:pPr indent="0" marL="0">
              <a:buNone/>
            </a:pPr>
            <a:r>
              <a:rPr lang="en-US" sz="1250" dirty="0">
                <a:solidFill>
                  <a:srgbClr val="DCE7EC"/>
                </a:solidFill>
                <a:latin typeface="Calibri" pitchFamily="34" charset="0"/>
                <a:ea typeface="Calibri" pitchFamily="34" charset="-122"/>
                <a:cs typeface="Calibri" pitchFamily="34" charset="-120"/>
              </a:rPr>
              <a:t>Literature Review</a:t>
            </a:r>
            <a:endParaRPr lang="en-US" sz="1250" dirty="0"/>
          </a:p>
        </p:txBody>
      </p:sp>
      <p:sp>
        <p:nvSpPr>
          <p:cNvPr id="10" name="Text 8"/>
          <p:cNvSpPr/>
          <p:nvPr/>
        </p:nvSpPr>
        <p:spPr>
          <a:xfrm>
            <a:off x="6172200" y="4343400"/>
            <a:ext cx="2560320" cy="329184"/>
          </a:xfrm>
          <a:prstGeom prst="rect">
            <a:avLst/>
          </a:prstGeom>
          <a:noFill/>
          <a:ln/>
        </p:spPr>
        <p:txBody>
          <a:bodyPr wrap="square" lIns="0" tIns="0" rIns="0" bIns="0" rtlCol="0" anchor="ctr"/>
          <a:lstStyle/>
          <a:p>
            <a:pPr indent="0" marL="0">
              <a:buNone/>
            </a:pPr>
            <a:r>
              <a:rPr lang="en-US" sz="1500" b="1" dirty="0">
                <a:solidFill>
                  <a:srgbClr val="12B886"/>
                </a:solidFill>
                <a:latin typeface="Calibri" pitchFamily="34" charset="0"/>
                <a:ea typeface="Calibri" pitchFamily="34" charset="-122"/>
                <a:cs typeface="Calibri" pitchFamily="34" charset="-120"/>
              </a:rPr>
              <a:t>03</a:t>
            </a:r>
            <a:endParaRPr lang="en-US" sz="1500" dirty="0"/>
          </a:p>
        </p:txBody>
      </p:sp>
      <p:sp>
        <p:nvSpPr>
          <p:cNvPr id="11" name="Text 9"/>
          <p:cNvSpPr/>
          <p:nvPr/>
        </p:nvSpPr>
        <p:spPr>
          <a:xfrm>
            <a:off x="6172200" y="4663440"/>
            <a:ext cx="2560320" cy="329184"/>
          </a:xfrm>
          <a:prstGeom prst="rect">
            <a:avLst/>
          </a:prstGeom>
          <a:noFill/>
          <a:ln/>
        </p:spPr>
        <p:txBody>
          <a:bodyPr wrap="square" lIns="0" tIns="0" rIns="0" bIns="0" rtlCol="0" anchor="ctr"/>
          <a:lstStyle/>
          <a:p>
            <a:pPr indent="0" marL="0">
              <a:buNone/>
            </a:pPr>
            <a:r>
              <a:rPr lang="en-US" sz="1250" dirty="0">
                <a:solidFill>
                  <a:srgbClr val="DCE7EC"/>
                </a:solidFill>
                <a:latin typeface="Calibri" pitchFamily="34" charset="0"/>
                <a:ea typeface="Calibri" pitchFamily="34" charset="-122"/>
                <a:cs typeface="Calibri" pitchFamily="34" charset="-120"/>
              </a:rPr>
              <a:t>Proposed Methodology</a:t>
            </a:r>
            <a:endParaRPr lang="en-US" sz="1250" dirty="0"/>
          </a:p>
        </p:txBody>
      </p:sp>
      <p:sp>
        <p:nvSpPr>
          <p:cNvPr id="12" name="Text 10"/>
          <p:cNvSpPr/>
          <p:nvPr/>
        </p:nvSpPr>
        <p:spPr>
          <a:xfrm>
            <a:off x="8961120" y="4343400"/>
            <a:ext cx="2560320" cy="329184"/>
          </a:xfrm>
          <a:prstGeom prst="rect">
            <a:avLst/>
          </a:prstGeom>
          <a:noFill/>
          <a:ln/>
        </p:spPr>
        <p:txBody>
          <a:bodyPr wrap="square" lIns="0" tIns="0" rIns="0" bIns="0" rtlCol="0" anchor="ctr"/>
          <a:lstStyle/>
          <a:p>
            <a:pPr indent="0" marL="0">
              <a:buNone/>
            </a:pPr>
            <a:r>
              <a:rPr lang="en-US" sz="1500" b="1" dirty="0">
                <a:solidFill>
                  <a:srgbClr val="12B886"/>
                </a:solidFill>
                <a:latin typeface="Calibri" pitchFamily="34" charset="0"/>
                <a:ea typeface="Calibri" pitchFamily="34" charset="-122"/>
                <a:cs typeface="Calibri" pitchFamily="34" charset="-120"/>
              </a:rPr>
              <a:t>04</a:t>
            </a:r>
            <a:endParaRPr lang="en-US" sz="1500" dirty="0"/>
          </a:p>
        </p:txBody>
      </p:sp>
      <p:sp>
        <p:nvSpPr>
          <p:cNvPr id="13" name="Text 11"/>
          <p:cNvSpPr/>
          <p:nvPr/>
        </p:nvSpPr>
        <p:spPr>
          <a:xfrm>
            <a:off x="8961120" y="4663440"/>
            <a:ext cx="2560320" cy="329184"/>
          </a:xfrm>
          <a:prstGeom prst="rect">
            <a:avLst/>
          </a:prstGeom>
          <a:noFill/>
          <a:ln/>
        </p:spPr>
        <p:txBody>
          <a:bodyPr wrap="square" lIns="0" tIns="0" rIns="0" bIns="0" rtlCol="0" anchor="ctr"/>
          <a:lstStyle/>
          <a:p>
            <a:pPr indent="0" marL="0">
              <a:buNone/>
            </a:pPr>
            <a:r>
              <a:rPr lang="en-US" sz="1250" dirty="0">
                <a:solidFill>
                  <a:srgbClr val="DCE7EC"/>
                </a:solidFill>
                <a:latin typeface="Calibri" pitchFamily="34" charset="0"/>
                <a:ea typeface="Calibri" pitchFamily="34" charset="-122"/>
                <a:cs typeface="Calibri" pitchFamily="34" charset="-120"/>
              </a:rPr>
              <a:t>Module and System Design</a:t>
            </a:r>
            <a:endParaRPr lang="en-US" sz="1250" dirty="0"/>
          </a:p>
        </p:txBody>
      </p:sp>
      <p:sp>
        <p:nvSpPr>
          <p:cNvPr id="14" name="Text 12"/>
          <p:cNvSpPr/>
          <p:nvPr/>
        </p:nvSpPr>
        <p:spPr>
          <a:xfrm>
            <a:off x="594360" y="5806440"/>
            <a:ext cx="10424160" cy="365760"/>
          </a:xfrm>
          <a:prstGeom prst="rect">
            <a:avLst/>
          </a:prstGeom>
          <a:noFill/>
          <a:ln/>
        </p:spPr>
        <p:txBody>
          <a:bodyPr wrap="square" lIns="0" tIns="0" rIns="0" bIns="0" rtlCol="0" anchor="ctr"/>
          <a:lstStyle/>
          <a:p>
            <a:pPr indent="0" marL="0">
              <a:buNone/>
            </a:pPr>
            <a:r>
              <a:rPr lang="en-US" sz="1200" i="1" dirty="0">
                <a:solidFill>
                  <a:srgbClr val="8FA6B2"/>
                </a:solidFill>
                <a:latin typeface="Calibri" pitchFamily="34" charset="0"/>
                <a:ea typeface="Calibri" pitchFamily="34" charset="-122"/>
                <a:cs typeface="Calibri" pitchFamily="34" charset="-120"/>
              </a:rPr>
              <a:t>Scans a project, finds packages that are actually malicious, and works out which known vulnerabilities the code can really reach.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a:ln/>
        </p:spPr>
      </p:sp>
      <p:sp>
        <p:nvSpPr>
          <p:cNvPr id="3" name="Text 1"/>
          <p:cNvSpPr/>
          <p:nvPr/>
        </p:nvSpPr>
        <p:spPr>
          <a:xfrm>
            <a:off x="59436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p:nvPr/>
        </p:nvSpPr>
        <p:spPr>
          <a:xfrm>
            <a:off x="1014984" y="384048"/>
            <a:ext cx="5486400" cy="310896"/>
          </a:xfrm>
          <a:prstGeom prst="rect">
            <a:avLst/>
          </a:prstGeom>
          <a:noFill/>
          <a:ln/>
        </p:spPr>
        <p:txBody>
          <a:bodyPr wrap="square" lIns="0" tIns="0" rIns="0" bIns="0" rtlCol="0" anchor="ctr"/>
          <a:lstStyle/>
          <a:p>
            <a:pPr indent="0" marL="0">
              <a:buNone/>
            </a:pPr>
            <a:r>
              <a:rPr lang="en-US" sz="1050" b="1" spc="160" kern="0" dirty="0">
                <a:solidFill>
                  <a:srgbClr val="5A6B78"/>
                </a:solidFill>
                <a:latin typeface="Calibri" pitchFamily="34" charset="0"/>
                <a:ea typeface="Calibri" pitchFamily="34" charset="-122"/>
                <a:cs typeface="Calibri" pitchFamily="34" charset="-120"/>
              </a:rPr>
              <a:t>DOMAIN AND PROBLEM STATEMENT</a:t>
            </a:r>
            <a:endParaRPr lang="en-US" sz="1050" dirty="0"/>
          </a:p>
        </p:txBody>
      </p:sp>
      <p:sp>
        <p:nvSpPr>
          <p:cNvPr id="5" name="Text 3"/>
          <p:cNvSpPr/>
          <p:nvPr/>
        </p:nvSpPr>
        <p:spPr>
          <a:xfrm>
            <a:off x="594360" y="841248"/>
            <a:ext cx="10972800" cy="658368"/>
          </a:xfrm>
          <a:prstGeom prst="rect">
            <a:avLst/>
          </a:prstGeom>
          <a:noFill/>
          <a:ln/>
        </p:spPr>
        <p:txBody>
          <a:bodyPr wrap="square" lIns="0" tIns="0" rIns="0" bIns="0" rtlCol="0" anchor="ctr"/>
          <a:lstStyle/>
          <a:p>
            <a:pPr indent="0" marL="0">
              <a:buNone/>
            </a:pPr>
            <a:r>
              <a:rPr lang="en-US" sz="3000" b="1" dirty="0">
                <a:solidFill>
                  <a:srgbClr val="1B2A33"/>
                </a:solidFill>
                <a:latin typeface="Cambria" pitchFamily="34" charset="0"/>
                <a:ea typeface="Cambria" pitchFamily="34" charset="-122"/>
                <a:cs typeface="Cambria" pitchFamily="34" charset="-120"/>
              </a:rPr>
              <a:t>Nobody writes their whole application any more</a:t>
            </a:r>
            <a:endParaRPr lang="en-US" sz="3000" dirty="0"/>
          </a:p>
        </p:txBody>
      </p:sp>
      <p:sp>
        <p:nvSpPr>
          <p:cNvPr id="6" name="Shape 4"/>
          <p:cNvSpPr/>
          <p:nvPr/>
        </p:nvSpPr>
        <p:spPr>
          <a:xfrm>
            <a:off x="594360" y="1691640"/>
            <a:ext cx="4663440" cy="1115568"/>
          </a:xfrm>
          <a:prstGeom prst="roundRect">
            <a:avLst>
              <a:gd name="adj" fmla="val 4918"/>
            </a:avLst>
          </a:prstGeom>
          <a:solidFill>
            <a:srgbClr val="EEF3F5"/>
          </a:solidFill>
          <a:ln w="12700">
            <a:solidFill>
              <a:srgbClr val="E2EAEE"/>
            </a:solidFill>
            <a:prstDash val="solid"/>
          </a:ln>
        </p:spPr>
      </p:sp>
      <p:sp>
        <p:nvSpPr>
          <p:cNvPr id="7" name="Text 5"/>
          <p:cNvSpPr/>
          <p:nvPr/>
        </p:nvSpPr>
        <p:spPr>
          <a:xfrm>
            <a:off x="850392" y="1819656"/>
            <a:ext cx="1828800" cy="548640"/>
          </a:xfrm>
          <a:prstGeom prst="rect">
            <a:avLst/>
          </a:prstGeom>
          <a:noFill/>
          <a:ln/>
        </p:spPr>
        <p:txBody>
          <a:bodyPr wrap="square" lIns="0" tIns="0" rIns="0" bIns="0" rtlCol="0" anchor="ctr"/>
          <a:lstStyle/>
          <a:p>
            <a:pPr indent="0" marL="0">
              <a:buNone/>
            </a:pPr>
            <a:r>
              <a:rPr lang="en-US" sz="3000" b="1" dirty="0">
                <a:solidFill>
                  <a:srgbClr val="0B7A5A"/>
                </a:solidFill>
                <a:latin typeface="Cambria" pitchFamily="34" charset="0"/>
                <a:ea typeface="Cambria" pitchFamily="34" charset="-122"/>
                <a:cs typeface="Cambria" pitchFamily="34" charset="-120"/>
              </a:rPr>
              <a:t>1,000+</a:t>
            </a:r>
            <a:endParaRPr lang="en-US" sz="3000" dirty="0"/>
          </a:p>
        </p:txBody>
      </p:sp>
      <p:sp>
        <p:nvSpPr>
          <p:cNvPr id="8" name="Text 6"/>
          <p:cNvSpPr/>
          <p:nvPr/>
        </p:nvSpPr>
        <p:spPr>
          <a:xfrm>
            <a:off x="2697480" y="1819656"/>
            <a:ext cx="2377440" cy="868680"/>
          </a:xfrm>
          <a:prstGeom prst="rect">
            <a:avLst/>
          </a:prstGeom>
          <a:noFill/>
          <a:ln/>
        </p:spPr>
        <p:txBody>
          <a:bodyPr wrap="square" lIns="0" tIns="0" rIns="0" bIns="0" rtlCol="0" anchor="ctr"/>
          <a:lstStyle/>
          <a:p>
            <a:pPr indent="0" marL="0">
              <a:buNone/>
            </a:pPr>
            <a:r>
              <a:rPr lang="en-US" sz="1200" dirty="0">
                <a:solidFill>
                  <a:srgbClr val="1B2A33"/>
                </a:solidFill>
                <a:latin typeface="Calibri" pitchFamily="34" charset="0"/>
                <a:ea typeface="Calibri" pitchFamily="34" charset="-122"/>
                <a:cs typeface="Calibri" pitchFamily="34" charset="-120"/>
              </a:rPr>
              <a:t>packages installed by</a:t>
            </a:r>
            <a:endParaRPr lang="en-US" sz="1200" dirty="0"/>
          </a:p>
          <a:p>
            <a:pPr indent="0" marL="0">
              <a:buNone/>
            </a:pPr>
            <a:r>
              <a:rPr lang="en-US" sz="1200" dirty="0">
                <a:solidFill>
                  <a:srgbClr val="1B2A33"/>
                </a:solidFill>
                <a:latin typeface="Calibri" pitchFamily="34" charset="0"/>
                <a:ea typeface="Calibri" pitchFamily="34" charset="-122"/>
                <a:cs typeface="Calibri" pitchFamily="34" charset="-120"/>
              </a:rPr>
              <a:t>a typical Node project</a:t>
            </a:r>
            <a:endParaRPr lang="en-US" sz="1200" dirty="0"/>
          </a:p>
        </p:txBody>
      </p:sp>
      <p:sp>
        <p:nvSpPr>
          <p:cNvPr id="9" name="Shape 7"/>
          <p:cNvSpPr/>
          <p:nvPr/>
        </p:nvSpPr>
        <p:spPr>
          <a:xfrm>
            <a:off x="594360" y="2990088"/>
            <a:ext cx="4663440" cy="1115568"/>
          </a:xfrm>
          <a:prstGeom prst="roundRect">
            <a:avLst>
              <a:gd name="adj" fmla="val 4918"/>
            </a:avLst>
          </a:prstGeom>
          <a:solidFill>
            <a:srgbClr val="EEF3F5"/>
          </a:solidFill>
          <a:ln w="12700">
            <a:solidFill>
              <a:srgbClr val="E2EAEE"/>
            </a:solidFill>
            <a:prstDash val="solid"/>
          </a:ln>
        </p:spPr>
      </p:sp>
      <p:sp>
        <p:nvSpPr>
          <p:cNvPr id="10" name="Text 8"/>
          <p:cNvSpPr/>
          <p:nvPr/>
        </p:nvSpPr>
        <p:spPr>
          <a:xfrm>
            <a:off x="850392" y="3118104"/>
            <a:ext cx="1828800" cy="548640"/>
          </a:xfrm>
          <a:prstGeom prst="rect">
            <a:avLst/>
          </a:prstGeom>
          <a:noFill/>
          <a:ln/>
        </p:spPr>
        <p:txBody>
          <a:bodyPr wrap="square" lIns="0" tIns="0" rIns="0" bIns="0" rtlCol="0" anchor="ctr"/>
          <a:lstStyle/>
          <a:p>
            <a:pPr indent="0" marL="0">
              <a:buNone/>
            </a:pPr>
            <a:r>
              <a:rPr lang="en-US" sz="3000" b="1" dirty="0">
                <a:solidFill>
                  <a:srgbClr val="0B7A5A"/>
                </a:solidFill>
                <a:latin typeface="Cambria" pitchFamily="34" charset="0"/>
                <a:ea typeface="Cambria" pitchFamily="34" charset="-122"/>
                <a:cs typeface="Cambria" pitchFamily="34" charset="-120"/>
              </a:rPr>
              <a:t>200-400</a:t>
            </a:r>
            <a:endParaRPr lang="en-US" sz="3000" dirty="0"/>
          </a:p>
        </p:txBody>
      </p:sp>
      <p:sp>
        <p:nvSpPr>
          <p:cNvPr id="11" name="Text 9"/>
          <p:cNvSpPr/>
          <p:nvPr/>
        </p:nvSpPr>
        <p:spPr>
          <a:xfrm>
            <a:off x="2697480" y="3118104"/>
            <a:ext cx="2377440" cy="868680"/>
          </a:xfrm>
          <a:prstGeom prst="rect">
            <a:avLst/>
          </a:prstGeom>
          <a:noFill/>
          <a:ln/>
        </p:spPr>
        <p:txBody>
          <a:bodyPr wrap="square" lIns="0" tIns="0" rIns="0" bIns="0" rtlCol="0" anchor="ctr"/>
          <a:lstStyle/>
          <a:p>
            <a:pPr indent="0" marL="0">
              <a:buNone/>
            </a:pPr>
            <a:r>
              <a:rPr lang="en-US" sz="1200" dirty="0">
                <a:solidFill>
                  <a:srgbClr val="1B2A33"/>
                </a:solidFill>
                <a:latin typeface="Calibri" pitchFamily="34" charset="0"/>
                <a:ea typeface="Calibri" pitchFamily="34" charset="-122"/>
                <a:cs typeface="Calibri" pitchFamily="34" charset="-120"/>
              </a:rPr>
              <a:t>packages installed by</a:t>
            </a:r>
            <a:endParaRPr lang="en-US" sz="1200" dirty="0"/>
          </a:p>
          <a:p>
            <a:pPr indent="0" marL="0">
              <a:buNone/>
            </a:pPr>
            <a:r>
              <a:rPr lang="en-US" sz="1200" dirty="0">
                <a:solidFill>
                  <a:srgbClr val="1B2A33"/>
                </a:solidFill>
                <a:latin typeface="Calibri" pitchFamily="34" charset="0"/>
                <a:ea typeface="Calibri" pitchFamily="34" charset="-122"/>
                <a:cs typeface="Calibri" pitchFamily="34" charset="-120"/>
              </a:rPr>
              <a:t>a typical Python project</a:t>
            </a:r>
            <a:endParaRPr lang="en-US" sz="1200" dirty="0"/>
          </a:p>
        </p:txBody>
      </p:sp>
      <p:sp>
        <p:nvSpPr>
          <p:cNvPr id="12" name="Shape 10"/>
          <p:cNvSpPr/>
          <p:nvPr/>
        </p:nvSpPr>
        <p:spPr>
          <a:xfrm>
            <a:off x="594360" y="4288536"/>
            <a:ext cx="4663440" cy="1115568"/>
          </a:xfrm>
          <a:prstGeom prst="roundRect">
            <a:avLst>
              <a:gd name="adj" fmla="val 4918"/>
            </a:avLst>
          </a:prstGeom>
          <a:solidFill>
            <a:srgbClr val="EEF3F5"/>
          </a:solidFill>
          <a:ln w="12700">
            <a:solidFill>
              <a:srgbClr val="E2EAEE"/>
            </a:solidFill>
            <a:prstDash val="solid"/>
          </a:ln>
        </p:spPr>
      </p:sp>
      <p:sp>
        <p:nvSpPr>
          <p:cNvPr id="13" name="Text 11"/>
          <p:cNvSpPr/>
          <p:nvPr/>
        </p:nvSpPr>
        <p:spPr>
          <a:xfrm>
            <a:off x="850392" y="4416552"/>
            <a:ext cx="1828800" cy="548640"/>
          </a:xfrm>
          <a:prstGeom prst="rect">
            <a:avLst/>
          </a:prstGeom>
          <a:noFill/>
          <a:ln/>
        </p:spPr>
        <p:txBody>
          <a:bodyPr wrap="square" lIns="0" tIns="0" rIns="0" bIns="0" rtlCol="0" anchor="ctr"/>
          <a:lstStyle/>
          <a:p>
            <a:pPr indent="0" marL="0">
              <a:buNone/>
            </a:pPr>
            <a:r>
              <a:rPr lang="en-US" sz="3000" b="1" dirty="0">
                <a:solidFill>
                  <a:srgbClr val="0B7A5A"/>
                </a:solidFill>
                <a:latin typeface="Cambria" pitchFamily="34" charset="0"/>
                <a:ea typeface="Cambria" pitchFamily="34" charset="-122"/>
                <a:cs typeface="Cambria" pitchFamily="34" charset="-120"/>
              </a:rPr>
              <a:t>Full</a:t>
            </a:r>
            <a:endParaRPr lang="en-US" sz="3000" dirty="0"/>
          </a:p>
        </p:txBody>
      </p:sp>
      <p:sp>
        <p:nvSpPr>
          <p:cNvPr id="14" name="Text 12"/>
          <p:cNvSpPr/>
          <p:nvPr/>
        </p:nvSpPr>
        <p:spPr>
          <a:xfrm>
            <a:off x="2697480" y="4416552"/>
            <a:ext cx="2377440" cy="868680"/>
          </a:xfrm>
          <a:prstGeom prst="rect">
            <a:avLst/>
          </a:prstGeom>
          <a:noFill/>
          <a:ln/>
        </p:spPr>
        <p:txBody>
          <a:bodyPr wrap="square" lIns="0" tIns="0" rIns="0" bIns="0" rtlCol="0" anchor="ctr"/>
          <a:lstStyle/>
          <a:p>
            <a:pPr indent="0" marL="0">
              <a:buNone/>
            </a:pPr>
            <a:r>
              <a:rPr lang="en-US" sz="1200" dirty="0">
                <a:solidFill>
                  <a:srgbClr val="1B2A33"/>
                </a:solidFill>
                <a:latin typeface="Calibri" pitchFamily="34" charset="0"/>
                <a:ea typeface="Calibri" pitchFamily="34" charset="-122"/>
                <a:cs typeface="Calibri" pitchFamily="34" charset="-120"/>
              </a:rPr>
              <a:t>privileges each one gets</a:t>
            </a:r>
            <a:endParaRPr lang="en-US" sz="1200" dirty="0"/>
          </a:p>
          <a:p>
            <a:pPr indent="0" marL="0">
              <a:buNone/>
            </a:pPr>
            <a:r>
              <a:rPr lang="en-US" sz="1200" dirty="0">
                <a:solidFill>
                  <a:srgbClr val="1B2A33"/>
                </a:solidFill>
                <a:latin typeface="Calibri" pitchFamily="34" charset="0"/>
                <a:ea typeface="Calibri" pitchFamily="34" charset="-122"/>
                <a:cs typeface="Calibri" pitchFamily="34" charset="-120"/>
              </a:rPr>
              <a:t>on your machine</a:t>
            </a:r>
            <a:endParaRPr lang="en-US" sz="1200" dirty="0"/>
          </a:p>
        </p:txBody>
      </p:sp>
      <p:sp>
        <p:nvSpPr>
          <p:cNvPr id="15" name="Text 13"/>
          <p:cNvSpPr/>
          <p:nvPr/>
        </p:nvSpPr>
        <p:spPr>
          <a:xfrm>
            <a:off x="5806440" y="1691640"/>
            <a:ext cx="5760720" cy="329184"/>
          </a:xfrm>
          <a:prstGeom prst="rect">
            <a:avLst/>
          </a:prstGeom>
          <a:noFill/>
          <a:ln/>
        </p:spPr>
        <p:txBody>
          <a:bodyPr wrap="square" lIns="0" tIns="0" rIns="0" bIns="0" rtlCol="0" anchor="ctr"/>
          <a:lstStyle/>
          <a:p>
            <a:pPr indent="0" marL="0">
              <a:buNone/>
            </a:pPr>
            <a:r>
              <a:rPr lang="en-US" sz="1300" b="1" spc="80" kern="0" dirty="0">
                <a:solidFill>
                  <a:srgbClr val="1B2A33"/>
                </a:solidFill>
                <a:latin typeface="Calibri" pitchFamily="34" charset="0"/>
                <a:ea typeface="Calibri" pitchFamily="34" charset="-122"/>
                <a:cs typeface="Calibri" pitchFamily="34" charset="-120"/>
              </a:rPr>
              <a:t>Why it is easy to attack</a:t>
            </a:r>
            <a:endParaRPr lang="en-US" sz="1300" dirty="0"/>
          </a:p>
        </p:txBody>
      </p:sp>
      <p:sp>
        <p:nvSpPr>
          <p:cNvPr id="16" name="Shape 14"/>
          <p:cNvSpPr/>
          <p:nvPr/>
        </p:nvSpPr>
        <p:spPr>
          <a:xfrm>
            <a:off x="5806440" y="2139696"/>
            <a:ext cx="237744" cy="237744"/>
          </a:xfrm>
          <a:prstGeom prst="ellipse">
            <a:avLst/>
          </a:prstGeom>
          <a:solidFill>
            <a:srgbClr val="12B886"/>
          </a:solidFill>
          <a:ln/>
        </p:spPr>
      </p:sp>
      <p:sp>
        <p:nvSpPr>
          <p:cNvPr id="17" name="Text 15"/>
          <p:cNvSpPr/>
          <p:nvPr/>
        </p:nvSpPr>
        <p:spPr>
          <a:xfrm>
            <a:off x="6172200" y="2103120"/>
            <a:ext cx="5394960" cy="292608"/>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Code runs when you install</a:t>
            </a:r>
            <a:endParaRPr lang="en-US" sz="1250" dirty="0"/>
          </a:p>
        </p:txBody>
      </p:sp>
      <p:sp>
        <p:nvSpPr>
          <p:cNvPr id="18" name="Text 16"/>
          <p:cNvSpPr/>
          <p:nvPr/>
        </p:nvSpPr>
        <p:spPr>
          <a:xfrm>
            <a:off x="6172200" y="2386584"/>
            <a:ext cx="5394960" cy="566928"/>
          </a:xfrm>
          <a:prstGeom prst="rect">
            <a:avLst/>
          </a:prstGeom>
          <a:noFill/>
          <a:ln/>
        </p:spPr>
        <p:txBody>
          <a:bodyPr wrap="square" lIns="0" tIns="0" rIns="0" bIns="0" rtlCol="0" anchor="ctr"/>
          <a:lstStyle/>
          <a:p>
            <a:pPr indent="0" marL="0">
              <a:buNone/>
            </a:pPr>
            <a:r>
              <a:rPr lang="en-US" sz="1100" dirty="0">
                <a:solidFill>
                  <a:srgbClr val="5A6B78"/>
                </a:solidFill>
                <a:latin typeface="Calibri" pitchFamily="34" charset="0"/>
                <a:ea typeface="Calibri" pitchFamily="34" charset="-122"/>
                <a:cs typeface="Calibri" pitchFamily="34" charset="-120"/>
              </a:rPr>
              <a:t>npm postinstall hooks and Python setup.py execute before you have run anything yourself.</a:t>
            </a:r>
            <a:endParaRPr lang="en-US" sz="1100" dirty="0"/>
          </a:p>
        </p:txBody>
      </p:sp>
      <p:sp>
        <p:nvSpPr>
          <p:cNvPr id="19" name="Shape 17"/>
          <p:cNvSpPr/>
          <p:nvPr/>
        </p:nvSpPr>
        <p:spPr>
          <a:xfrm>
            <a:off x="5806440" y="3136392"/>
            <a:ext cx="237744" cy="237744"/>
          </a:xfrm>
          <a:prstGeom prst="ellipse">
            <a:avLst/>
          </a:prstGeom>
          <a:solidFill>
            <a:srgbClr val="12B886"/>
          </a:solidFill>
          <a:ln/>
        </p:spPr>
      </p:sp>
      <p:sp>
        <p:nvSpPr>
          <p:cNvPr id="20" name="Text 18"/>
          <p:cNvSpPr/>
          <p:nvPr/>
        </p:nvSpPr>
        <p:spPr>
          <a:xfrm>
            <a:off x="6172200" y="3099816"/>
            <a:ext cx="5394960" cy="292608"/>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You inherit every dependency</a:t>
            </a:r>
            <a:endParaRPr lang="en-US" sz="1250" dirty="0"/>
          </a:p>
        </p:txBody>
      </p:sp>
      <p:sp>
        <p:nvSpPr>
          <p:cNvPr id="21" name="Text 19"/>
          <p:cNvSpPr/>
          <p:nvPr/>
        </p:nvSpPr>
        <p:spPr>
          <a:xfrm>
            <a:off x="6172200" y="3383280"/>
            <a:ext cx="5394960" cy="566928"/>
          </a:xfrm>
          <a:prstGeom prst="rect">
            <a:avLst/>
          </a:prstGeom>
          <a:noFill/>
          <a:ln/>
        </p:spPr>
        <p:txBody>
          <a:bodyPr wrap="square" lIns="0" tIns="0" rIns="0" bIns="0" rtlCol="0" anchor="ctr"/>
          <a:lstStyle/>
          <a:p>
            <a:pPr indent="0" marL="0">
              <a:buNone/>
            </a:pPr>
            <a:r>
              <a:rPr lang="en-US" sz="1100" dirty="0">
                <a:solidFill>
                  <a:srgbClr val="5A6B78"/>
                </a:solidFill>
                <a:latin typeface="Calibri" pitchFamily="34" charset="0"/>
                <a:ea typeface="Calibri" pitchFamily="34" charset="-122"/>
                <a:cs typeface="Calibri" pitchFamily="34" charset="-120"/>
              </a:rPr>
              <a:t>Trusting one package means trusting its whole tree, and every maintainer in it.</a:t>
            </a:r>
            <a:endParaRPr lang="en-US" sz="1100" dirty="0"/>
          </a:p>
        </p:txBody>
      </p:sp>
      <p:sp>
        <p:nvSpPr>
          <p:cNvPr id="22" name="Shape 20"/>
          <p:cNvSpPr/>
          <p:nvPr/>
        </p:nvSpPr>
        <p:spPr>
          <a:xfrm>
            <a:off x="5806440" y="4133088"/>
            <a:ext cx="237744" cy="237744"/>
          </a:xfrm>
          <a:prstGeom prst="ellipse">
            <a:avLst/>
          </a:prstGeom>
          <a:solidFill>
            <a:srgbClr val="12B886"/>
          </a:solidFill>
          <a:ln/>
        </p:spPr>
      </p:sp>
      <p:sp>
        <p:nvSpPr>
          <p:cNvPr id="23" name="Text 21"/>
          <p:cNvSpPr/>
          <p:nvPr/>
        </p:nvSpPr>
        <p:spPr>
          <a:xfrm>
            <a:off x="6172200" y="4096512"/>
            <a:ext cx="5394960" cy="292608"/>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Anyone can publish</a:t>
            </a:r>
            <a:endParaRPr lang="en-US" sz="1250" dirty="0"/>
          </a:p>
        </p:txBody>
      </p:sp>
      <p:sp>
        <p:nvSpPr>
          <p:cNvPr id="24" name="Text 22"/>
          <p:cNvSpPr/>
          <p:nvPr/>
        </p:nvSpPr>
        <p:spPr>
          <a:xfrm>
            <a:off x="6172200" y="4379976"/>
            <a:ext cx="5394960" cy="566928"/>
          </a:xfrm>
          <a:prstGeom prst="rect">
            <a:avLst/>
          </a:prstGeom>
          <a:noFill/>
          <a:ln/>
        </p:spPr>
        <p:txBody>
          <a:bodyPr wrap="square" lIns="0" tIns="0" rIns="0" bIns="0" rtlCol="0" anchor="ctr"/>
          <a:lstStyle/>
          <a:p>
            <a:pPr indent="0" marL="0">
              <a:buNone/>
            </a:pPr>
            <a:r>
              <a:rPr lang="en-US" sz="1100" dirty="0">
                <a:solidFill>
                  <a:srgbClr val="5A6B78"/>
                </a:solidFill>
                <a:latin typeface="Calibri" pitchFamily="34" charset="0"/>
                <a:ea typeface="Calibri" pitchFamily="34" charset="-122"/>
                <a:cs typeface="Calibri" pitchFamily="34" charset="-120"/>
              </a:rPr>
              <a:t>No review. Names are handed out first come, first served.</a:t>
            </a:r>
            <a:endParaRPr lang="en-US" sz="1100" dirty="0"/>
          </a:p>
        </p:txBody>
      </p:sp>
      <p:sp>
        <p:nvSpPr>
          <p:cNvPr id="25" name="Shape 23"/>
          <p:cNvSpPr/>
          <p:nvPr/>
        </p:nvSpPr>
        <p:spPr>
          <a:xfrm>
            <a:off x="5806440" y="5129784"/>
            <a:ext cx="237744" cy="237744"/>
          </a:xfrm>
          <a:prstGeom prst="ellipse">
            <a:avLst/>
          </a:prstGeom>
          <a:solidFill>
            <a:srgbClr val="12B886"/>
          </a:solidFill>
          <a:ln/>
        </p:spPr>
      </p:sp>
      <p:sp>
        <p:nvSpPr>
          <p:cNvPr id="26" name="Text 24"/>
          <p:cNvSpPr/>
          <p:nvPr/>
        </p:nvSpPr>
        <p:spPr>
          <a:xfrm>
            <a:off x="6172200" y="5093208"/>
            <a:ext cx="5394960" cy="292608"/>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Names are easy to confuse</a:t>
            </a:r>
            <a:endParaRPr lang="en-US" sz="1250" dirty="0"/>
          </a:p>
        </p:txBody>
      </p:sp>
      <p:sp>
        <p:nvSpPr>
          <p:cNvPr id="27" name="Text 25"/>
          <p:cNvSpPr/>
          <p:nvPr/>
        </p:nvSpPr>
        <p:spPr>
          <a:xfrm>
            <a:off x="6172200" y="5376672"/>
            <a:ext cx="5394960" cy="566928"/>
          </a:xfrm>
          <a:prstGeom prst="rect">
            <a:avLst/>
          </a:prstGeom>
          <a:noFill/>
          <a:ln/>
        </p:spPr>
        <p:txBody>
          <a:bodyPr wrap="square" lIns="0" tIns="0" rIns="0" bIns="0" rtlCol="0" anchor="ctr"/>
          <a:lstStyle/>
          <a:p>
            <a:pPr indent="0" marL="0">
              <a:buNone/>
            </a:pPr>
            <a:r>
              <a:rPr lang="en-US" sz="1100" dirty="0">
                <a:solidFill>
                  <a:srgbClr val="5A6B78"/>
                </a:solidFill>
                <a:latin typeface="Calibri" pitchFamily="34" charset="0"/>
                <a:ea typeface="Calibri" pitchFamily="34" charset="-122"/>
                <a:cs typeface="Calibri" pitchFamily="34" charset="-120"/>
              </a:rPr>
              <a:t>Very few people spot the difference between python-dateutil and python-dateutils.</a:t>
            </a:r>
            <a:endParaRPr lang="en-US" sz="1100" dirty="0"/>
          </a:p>
        </p:txBody>
      </p:sp>
      <p:sp>
        <p:nvSpPr>
          <p:cNvPr id="28" name="Text 26"/>
          <p:cNvSpPr/>
          <p:nvPr/>
        </p:nvSpPr>
        <p:spPr>
          <a:xfrm>
            <a:off x="11109960" y="6355080"/>
            <a:ext cx="457200" cy="274320"/>
          </a:xfrm>
          <a:prstGeom prst="rect">
            <a:avLst/>
          </a:prstGeom>
          <a:noFill/>
          <a:ln/>
        </p:spPr>
        <p:txBody>
          <a:bodyPr wrap="square" lIns="0" tIns="0" rIns="0" bIns="0"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a:ln/>
        </p:spPr>
      </p:sp>
      <p:sp>
        <p:nvSpPr>
          <p:cNvPr id="3" name="Text 1"/>
          <p:cNvSpPr/>
          <p:nvPr/>
        </p:nvSpPr>
        <p:spPr>
          <a:xfrm>
            <a:off x="59436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p:nvPr/>
        </p:nvSpPr>
        <p:spPr>
          <a:xfrm>
            <a:off x="1014984" y="384048"/>
            <a:ext cx="5486400" cy="310896"/>
          </a:xfrm>
          <a:prstGeom prst="rect">
            <a:avLst/>
          </a:prstGeom>
          <a:noFill/>
          <a:ln/>
        </p:spPr>
        <p:txBody>
          <a:bodyPr wrap="square" lIns="0" tIns="0" rIns="0" bIns="0" rtlCol="0" anchor="ctr"/>
          <a:lstStyle/>
          <a:p>
            <a:pPr indent="0" marL="0">
              <a:buNone/>
            </a:pPr>
            <a:r>
              <a:rPr lang="en-US" sz="1050" b="1" spc="160" kern="0" dirty="0">
                <a:solidFill>
                  <a:srgbClr val="5A6B78"/>
                </a:solidFill>
                <a:latin typeface="Calibri" pitchFamily="34" charset="0"/>
                <a:ea typeface="Calibri" pitchFamily="34" charset="-122"/>
                <a:cs typeface="Calibri" pitchFamily="34" charset="-120"/>
              </a:rPr>
              <a:t>DOMAIN AND PROBLEM STATEMENT</a:t>
            </a:r>
            <a:endParaRPr lang="en-US" sz="1050" dirty="0"/>
          </a:p>
        </p:txBody>
      </p:sp>
      <p:sp>
        <p:nvSpPr>
          <p:cNvPr id="5" name="Text 3"/>
          <p:cNvSpPr/>
          <p:nvPr/>
        </p:nvSpPr>
        <p:spPr>
          <a:xfrm>
            <a:off x="594360" y="841248"/>
            <a:ext cx="10972800" cy="658368"/>
          </a:xfrm>
          <a:prstGeom prst="rect">
            <a:avLst/>
          </a:prstGeom>
          <a:noFill/>
          <a:ln/>
        </p:spPr>
        <p:txBody>
          <a:bodyPr wrap="square" lIns="0" tIns="0" rIns="0" bIns="0" rtlCol="0" anchor="ctr"/>
          <a:lstStyle/>
          <a:p>
            <a:pPr indent="0" marL="0">
              <a:buNone/>
            </a:pPr>
            <a:r>
              <a:rPr lang="en-US" sz="3000" b="1" dirty="0">
                <a:solidFill>
                  <a:srgbClr val="1B2A33"/>
                </a:solidFill>
                <a:latin typeface="Cambria" pitchFamily="34" charset="0"/>
                <a:ea typeface="Cambria" pitchFamily="34" charset="-122"/>
                <a:cs typeface="Cambria" pitchFamily="34" charset="-120"/>
              </a:rPr>
              <a:t>This keeps happening to real projects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972800" cy="914400"/>
        </p:xfrm>
        <a:graphic>
          <a:graphicData uri="http://schemas.openxmlformats.org/drawingml/2006/table">
            <a:tbl>
              <a:tblPr/>
              <a:tblGrid>
                <a:gridCol w="1920240"/>
                <a:gridCol w="777240"/>
                <a:gridCol w="4114800"/>
                <a:gridCol w="4160520"/>
              </a:tblGrid>
              <a:tr h="475488">
                <a:tc>
                  <a:txBody>
                    <a:bodyPr/>
                    <a:lstStyle/>
                    <a:p>
                      <a:pPr indent="0" marL="0">
                        <a:buNone/>
                      </a:pPr>
                      <a:r>
                        <a:rPr lang="en-US" sz="1150" b="1" dirty="0">
                          <a:solidFill>
                            <a:srgbClr val="1B2A33"/>
                          </a:solidFill>
                          <a:latin typeface="Calibri" pitchFamily="34" charset="0"/>
                          <a:ea typeface="Calibri" pitchFamily="34" charset="-122"/>
                          <a:cs typeface="Calibri" pitchFamily="34" charset="-120"/>
                        </a:rPr>
                        <a:t>Package</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b="1" dirty="0">
                          <a:solidFill>
                            <a:srgbClr val="1B2A33"/>
                          </a:solidFill>
                          <a:latin typeface="Calibri" pitchFamily="34" charset="0"/>
                          <a:ea typeface="Calibri" pitchFamily="34" charset="-122"/>
                          <a:cs typeface="Calibri" pitchFamily="34" charset="-120"/>
                        </a:rPr>
                        <a:t>Year</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b="1" dirty="0">
                          <a:solidFill>
                            <a:srgbClr val="1B2A33"/>
                          </a:solidFill>
                          <a:latin typeface="Calibri" pitchFamily="34" charset="0"/>
                          <a:ea typeface="Calibri" pitchFamily="34" charset="-122"/>
                          <a:cs typeface="Calibri" pitchFamily="34" charset="-120"/>
                        </a:rPr>
                        <a:t>How it got in</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b="1" dirty="0">
                          <a:solidFill>
                            <a:srgbClr val="1B2A33"/>
                          </a:solidFill>
                          <a:latin typeface="Calibri" pitchFamily="34" charset="0"/>
                          <a:ea typeface="Calibri" pitchFamily="34" charset="-122"/>
                          <a:cs typeface="Calibri" pitchFamily="34" charset="-120"/>
                        </a:rPr>
                        <a:t>What it did</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event-stream</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2018</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Maintainer handed it to a stranger</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Stole Bitcoin wallets. 2M a week.</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ua-parser-js</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2021</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Maintainer account was compromised</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Cryptominer and password stealer</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ctx</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2022</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Abandoned package name was taken over</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Sent AWS keys to the attacker</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torchtriton</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2022</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Dependency confusion against PyTorch</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Uploaded SSH keys and /etc/passwd</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XZ Utils</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2024</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Two years of social engineering</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150" dirty="0">
                          <a:solidFill>
                            <a:srgbClr val="1B2A33"/>
                          </a:solidFill>
                          <a:latin typeface="Calibri" pitchFamily="34" charset="0"/>
                          <a:ea typeface="Calibri" pitchFamily="34" charset="-122"/>
                          <a:cs typeface="Calibri" pitchFamily="34" charset="-120"/>
                        </a:rPr>
                        <a:t>Almost backdoored SSH everywhere</a:t>
                      </a:r>
                      <a:endParaRPr lang="en-US" sz="115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bl>
          </a:graphicData>
        </a:graphic>
      </p:graphicFrame>
      <p:sp>
        <p:nvSpPr>
          <p:cNvPr id="7" name="Shape 4"/>
          <p:cNvSpPr/>
          <p:nvPr/>
        </p:nvSpPr>
        <p:spPr>
          <a:xfrm>
            <a:off x="594360" y="5074920"/>
            <a:ext cx="10972800" cy="841248"/>
          </a:xfrm>
          <a:prstGeom prst="roundRect">
            <a:avLst>
              <a:gd name="adj" fmla="val 6522"/>
            </a:avLst>
          </a:prstGeom>
          <a:solidFill>
            <a:srgbClr val="EEF3F5"/>
          </a:solidFill>
          <a:ln w="12700">
            <a:solidFill>
              <a:srgbClr val="E2EAEE"/>
            </a:solidFill>
            <a:prstDash val="solid"/>
          </a:ln>
        </p:spPr>
      </p:sp>
      <p:sp>
        <p:nvSpPr>
          <p:cNvPr id="8" name="Text 5"/>
          <p:cNvSpPr/>
          <p:nvPr/>
        </p:nvSpPr>
        <p:spPr>
          <a:xfrm>
            <a:off x="868680" y="5074920"/>
            <a:ext cx="10424160" cy="841248"/>
          </a:xfrm>
          <a:prstGeom prst="rect">
            <a:avLst/>
          </a:prstGeom>
          <a:noFill/>
          <a:ln/>
        </p:spPr>
        <p:txBody>
          <a:bodyPr wrap="square" lIns="0" tIns="0" rIns="0" bIns="0" rtlCol="0" anchor="ctr"/>
          <a:lstStyle/>
          <a:p>
            <a:pPr indent="0" marL="0">
              <a:buNone/>
            </a:pPr>
            <a:r>
              <a:rPr lang="en-US" sz="1300" dirty="0">
                <a:solidFill>
                  <a:srgbClr val="1B2A33"/>
                </a:solidFill>
                <a:latin typeface="Calibri" pitchFamily="34" charset="0"/>
                <a:ea typeface="Calibri" pitchFamily="34" charset="-122"/>
                <a:cs typeface="Calibri" pitchFamily="34" charset="-120"/>
              </a:rPr>
              <a:t>None of these were clever zero days. They were the normal way the ecosystem works, turned against the people using it.</a:t>
            </a:r>
            <a:endParaRPr lang="en-US" sz="1300" dirty="0"/>
          </a:p>
        </p:txBody>
      </p:sp>
      <p:sp>
        <p:nvSpPr>
          <p:cNvPr id="9" name="Text 6"/>
          <p:cNvSpPr/>
          <p:nvPr/>
        </p:nvSpPr>
        <p:spPr>
          <a:xfrm>
            <a:off x="11109960" y="6355080"/>
            <a:ext cx="457200" cy="274320"/>
          </a:xfrm>
          <a:prstGeom prst="rect">
            <a:avLst/>
          </a:prstGeom>
          <a:noFill/>
          <a:ln/>
        </p:spPr>
        <p:txBody>
          <a:bodyPr wrap="square" lIns="0" tIns="0" rIns="0" bIns="0"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a:ln/>
        </p:spPr>
      </p:sp>
      <p:sp>
        <p:nvSpPr>
          <p:cNvPr id="3" name="Text 1"/>
          <p:cNvSpPr/>
          <p:nvPr/>
        </p:nvSpPr>
        <p:spPr>
          <a:xfrm>
            <a:off x="59436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p:nvPr/>
        </p:nvSpPr>
        <p:spPr>
          <a:xfrm>
            <a:off x="1014984" y="384048"/>
            <a:ext cx="5486400" cy="310896"/>
          </a:xfrm>
          <a:prstGeom prst="rect">
            <a:avLst/>
          </a:prstGeom>
          <a:noFill/>
          <a:ln/>
        </p:spPr>
        <p:txBody>
          <a:bodyPr wrap="square" lIns="0" tIns="0" rIns="0" bIns="0" rtlCol="0" anchor="ctr"/>
          <a:lstStyle/>
          <a:p>
            <a:pPr indent="0" marL="0">
              <a:buNone/>
            </a:pPr>
            <a:r>
              <a:rPr lang="en-US" sz="1050" b="1" spc="160" kern="0" dirty="0">
                <a:solidFill>
                  <a:srgbClr val="5A6B78"/>
                </a:solidFill>
                <a:latin typeface="Calibri" pitchFamily="34" charset="0"/>
                <a:ea typeface="Calibri" pitchFamily="34" charset="-122"/>
                <a:cs typeface="Calibri" pitchFamily="34" charset="-120"/>
              </a:rPr>
              <a:t>DOMAIN AND PROBLEM STATEMENT</a:t>
            </a:r>
            <a:endParaRPr lang="en-US" sz="1050" dirty="0"/>
          </a:p>
        </p:txBody>
      </p:sp>
      <p:sp>
        <p:nvSpPr>
          <p:cNvPr id="5" name="Text 3"/>
          <p:cNvSpPr/>
          <p:nvPr/>
        </p:nvSpPr>
        <p:spPr>
          <a:xfrm>
            <a:off x="594360" y="841248"/>
            <a:ext cx="10972800" cy="658368"/>
          </a:xfrm>
          <a:prstGeom prst="rect">
            <a:avLst/>
          </a:prstGeom>
          <a:noFill/>
          <a:ln/>
        </p:spPr>
        <p:txBody>
          <a:bodyPr wrap="square" lIns="0" tIns="0" rIns="0" bIns="0" rtlCol="0" anchor="ctr"/>
          <a:lstStyle/>
          <a:p>
            <a:pPr indent="0" marL="0">
              <a:buNone/>
            </a:pPr>
            <a:r>
              <a:rPr lang="en-US" sz="3000" b="1" dirty="0">
                <a:solidFill>
                  <a:srgbClr val="1B2A33"/>
                </a:solidFill>
                <a:latin typeface="Cambria" pitchFamily="34" charset="0"/>
                <a:ea typeface="Cambria" pitchFamily="34" charset="-122"/>
                <a:cs typeface="Cambria" pitchFamily="34" charset="-120"/>
              </a:rPr>
              <a:t>Two different problems, and both are unsolved</a:t>
            </a:r>
            <a:endParaRPr lang="en-US" sz="3000" dirty="0"/>
          </a:p>
        </p:txBody>
      </p:sp>
      <p:sp>
        <p:nvSpPr>
          <p:cNvPr id="6" name="Shape 4"/>
          <p:cNvSpPr/>
          <p:nvPr/>
        </p:nvSpPr>
        <p:spPr>
          <a:xfrm>
            <a:off x="594360" y="1645920"/>
            <a:ext cx="5166360" cy="4160520"/>
          </a:xfrm>
          <a:prstGeom prst="roundRect">
            <a:avLst>
              <a:gd name="adj" fmla="val 1319"/>
            </a:avLst>
          </a:prstGeom>
          <a:solidFill>
            <a:srgbClr val="FFFFFF"/>
          </a:solidFill>
          <a:ln w="12700">
            <a:solidFill>
              <a:srgbClr val="E2EAEE"/>
            </a:solidFill>
            <a:prstDash val="solid"/>
          </a:ln>
        </p:spPr>
      </p:sp>
      <p:sp>
        <p:nvSpPr>
          <p:cNvPr id="7" name="Text 5"/>
          <p:cNvSpPr/>
          <p:nvPr/>
        </p:nvSpPr>
        <p:spPr>
          <a:xfrm>
            <a:off x="914400" y="1828800"/>
            <a:ext cx="2743200" cy="256032"/>
          </a:xfrm>
          <a:prstGeom prst="rect">
            <a:avLst/>
          </a:prstGeom>
          <a:noFill/>
          <a:ln/>
        </p:spPr>
        <p:txBody>
          <a:bodyPr wrap="square" lIns="0" tIns="0" rIns="0" bIns="0" rtlCol="0" anchor="ctr"/>
          <a:lstStyle/>
          <a:p>
            <a:pPr indent="0" marL="0">
              <a:buNone/>
            </a:pPr>
            <a:r>
              <a:rPr lang="en-US" sz="1050" b="1" spc="180" kern="0" dirty="0">
                <a:solidFill>
                  <a:srgbClr val="D64545"/>
                </a:solidFill>
                <a:latin typeface="Calibri" pitchFamily="34" charset="0"/>
                <a:ea typeface="Calibri" pitchFamily="34" charset="-122"/>
                <a:cs typeface="Calibri" pitchFamily="34" charset="-120"/>
              </a:rPr>
              <a:t>PROBLEM A</a:t>
            </a:r>
            <a:endParaRPr lang="en-US" sz="1050" dirty="0"/>
          </a:p>
        </p:txBody>
      </p:sp>
      <p:sp>
        <p:nvSpPr>
          <p:cNvPr id="8" name="Text 6"/>
          <p:cNvSpPr/>
          <p:nvPr/>
        </p:nvSpPr>
        <p:spPr>
          <a:xfrm>
            <a:off x="914400" y="2121408"/>
            <a:ext cx="4526280" cy="685800"/>
          </a:xfrm>
          <a:prstGeom prst="rect">
            <a:avLst/>
          </a:prstGeom>
          <a:noFill/>
          <a:ln/>
        </p:spPr>
        <p:txBody>
          <a:bodyPr wrap="square" lIns="0" tIns="0" rIns="0" bIns="0" rtlCol="0" anchor="ctr"/>
          <a:lstStyle/>
          <a:p>
            <a:pPr indent="0" marL="0">
              <a:buNone/>
            </a:pPr>
            <a:r>
              <a:rPr lang="en-US" sz="1700" b="1" dirty="0">
                <a:solidFill>
                  <a:srgbClr val="1B2A33"/>
                </a:solidFill>
                <a:latin typeface="Cambria" pitchFamily="34" charset="0"/>
                <a:ea typeface="Cambria" pitchFamily="34" charset="-122"/>
                <a:cs typeface="Cambria" pitchFamily="34" charset="-120"/>
              </a:rPr>
              <a:t>Some packages are malicious on purpose</a:t>
            </a:r>
            <a:endParaRPr lang="en-US" sz="1700" dirty="0"/>
          </a:p>
        </p:txBody>
      </p:sp>
      <p:sp>
        <p:nvSpPr>
          <p:cNvPr id="9" name="Text 7"/>
          <p:cNvSpPr/>
          <p:nvPr/>
        </p:nvSpPr>
        <p:spPr>
          <a:xfrm>
            <a:off x="914400" y="2880360"/>
            <a:ext cx="4526280" cy="182880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1B2A33"/>
                </a:solidFill>
                <a:latin typeface="Calibri" pitchFamily="34" charset="0"/>
                <a:ea typeface="Calibri" pitchFamily="34" charset="-122"/>
                <a:cs typeface="Calibri" pitchFamily="34" charset="-120"/>
              </a:rPr>
              <a:t>The payload usually runs at install time and steals credentials, wallets or SSH keys.</a:t>
            </a:r>
            <a:endParaRPr lang="en-US" sz="1200" dirty="0"/>
          </a:p>
          <a:p>
            <a:pPr marL="342900" indent="-342900">
              <a:spcAft>
                <a:spcPts val="800"/>
              </a:spcAft>
              <a:buSzPct val="100000"/>
              <a:buChar char="•"/>
            </a:pPr>
            <a:r>
              <a:rPr lang="en-US" sz="1200" dirty="0">
                <a:solidFill>
                  <a:srgbClr val="1B2A33"/>
                </a:solidFill>
                <a:latin typeface="Calibri" pitchFamily="34" charset="0"/>
                <a:ea typeface="Calibri" pitchFamily="34" charset="-122"/>
                <a:cs typeface="Calibri" pitchFamily="34" charset="-120"/>
              </a:rPr>
              <a:t>Antivirus does not help. Every malicious package is brand new, and most are taken down within days.</a:t>
            </a:r>
            <a:endParaRPr lang="en-US" sz="1200" dirty="0"/>
          </a:p>
          <a:p>
            <a:pPr marL="342900" indent="-342900">
              <a:spcAft>
                <a:spcPts val="800"/>
              </a:spcAft>
              <a:buSzPct val="100000"/>
              <a:buChar char="•"/>
            </a:pPr>
            <a:r>
              <a:rPr lang="en-US" sz="1200" dirty="0">
                <a:solidFill>
                  <a:srgbClr val="1B2A33"/>
                </a:solidFill>
                <a:latin typeface="Calibri" pitchFamily="34" charset="0"/>
                <a:ea typeface="Calibri" pitchFamily="34" charset="-122"/>
                <a:cs typeface="Calibri" pitchFamily="34" charset="-120"/>
              </a:rPr>
              <a:t>By the time a signature exists, the damage is done.</a:t>
            </a:r>
            <a:endParaRPr lang="en-US" sz="1200" dirty="0"/>
          </a:p>
        </p:txBody>
      </p:sp>
      <p:sp>
        <p:nvSpPr>
          <p:cNvPr id="10" name="Text 8"/>
          <p:cNvSpPr/>
          <p:nvPr/>
        </p:nvSpPr>
        <p:spPr>
          <a:xfrm>
            <a:off x="914400" y="4956048"/>
            <a:ext cx="4526280" cy="640080"/>
          </a:xfrm>
          <a:prstGeom prst="rect">
            <a:avLst/>
          </a:prstGeom>
          <a:noFill/>
          <a:ln/>
        </p:spPr>
        <p:txBody>
          <a:bodyPr wrap="square" lIns="0" tIns="0" rIns="0" bIns="0" rtlCol="0" anchor="ctr"/>
          <a:lstStyle/>
          <a:p>
            <a:pPr indent="0" marL="0">
              <a:buNone/>
            </a:pPr>
            <a:r>
              <a:rPr lang="en-US" sz="1150" i="1" dirty="0">
                <a:solidFill>
                  <a:srgbClr val="0B7A5A"/>
                </a:solidFill>
                <a:latin typeface="Calibri" pitchFamily="34" charset="0"/>
                <a:ea typeface="Calibri" pitchFamily="34" charset="-122"/>
                <a:cs typeface="Calibri" pitchFamily="34" charset="-120"/>
              </a:rPr>
              <a:t>So detection has to work from behaviour, not from a list of known bad files.</a:t>
            </a:r>
            <a:endParaRPr lang="en-US" sz="1150" dirty="0"/>
          </a:p>
        </p:txBody>
      </p:sp>
      <p:sp>
        <p:nvSpPr>
          <p:cNvPr id="11" name="Shape 9"/>
          <p:cNvSpPr/>
          <p:nvPr/>
        </p:nvSpPr>
        <p:spPr>
          <a:xfrm>
            <a:off x="6400800" y="1645920"/>
            <a:ext cx="5166360" cy="4160520"/>
          </a:xfrm>
          <a:prstGeom prst="roundRect">
            <a:avLst>
              <a:gd name="adj" fmla="val 1319"/>
            </a:avLst>
          </a:prstGeom>
          <a:solidFill>
            <a:srgbClr val="FFFFFF"/>
          </a:solidFill>
          <a:ln w="12700">
            <a:solidFill>
              <a:srgbClr val="E2EAEE"/>
            </a:solidFill>
            <a:prstDash val="solid"/>
          </a:ln>
        </p:spPr>
      </p:sp>
      <p:sp>
        <p:nvSpPr>
          <p:cNvPr id="12" name="Text 10"/>
          <p:cNvSpPr/>
          <p:nvPr/>
        </p:nvSpPr>
        <p:spPr>
          <a:xfrm>
            <a:off x="6720840" y="1828800"/>
            <a:ext cx="2743200" cy="256032"/>
          </a:xfrm>
          <a:prstGeom prst="rect">
            <a:avLst/>
          </a:prstGeom>
          <a:noFill/>
          <a:ln/>
        </p:spPr>
        <p:txBody>
          <a:bodyPr wrap="square" lIns="0" tIns="0" rIns="0" bIns="0" rtlCol="0" anchor="ctr"/>
          <a:lstStyle/>
          <a:p>
            <a:pPr indent="0" marL="0">
              <a:buNone/>
            </a:pPr>
            <a:r>
              <a:rPr lang="en-US" sz="1050" b="1" spc="180" kern="0" dirty="0">
                <a:solidFill>
                  <a:srgbClr val="C88A1E"/>
                </a:solidFill>
                <a:latin typeface="Calibri" pitchFamily="34" charset="0"/>
                <a:ea typeface="Calibri" pitchFamily="34" charset="-122"/>
                <a:cs typeface="Calibri" pitchFamily="34" charset="-120"/>
              </a:rPr>
              <a:t>PROBLEM B</a:t>
            </a:r>
            <a:endParaRPr lang="en-US" sz="1050" dirty="0"/>
          </a:p>
        </p:txBody>
      </p:sp>
      <p:sp>
        <p:nvSpPr>
          <p:cNvPr id="13" name="Text 11"/>
          <p:cNvSpPr/>
          <p:nvPr/>
        </p:nvSpPr>
        <p:spPr>
          <a:xfrm>
            <a:off x="6720840" y="2121408"/>
            <a:ext cx="4526280" cy="685800"/>
          </a:xfrm>
          <a:prstGeom prst="rect">
            <a:avLst/>
          </a:prstGeom>
          <a:noFill/>
          <a:ln/>
        </p:spPr>
        <p:txBody>
          <a:bodyPr wrap="square" lIns="0" tIns="0" rIns="0" bIns="0" rtlCol="0" anchor="ctr"/>
          <a:lstStyle/>
          <a:p>
            <a:pPr indent="0" marL="0">
              <a:buNone/>
            </a:pPr>
            <a:r>
              <a:rPr lang="en-US" sz="1700" b="1" dirty="0">
                <a:solidFill>
                  <a:srgbClr val="1B2A33"/>
                </a:solidFill>
                <a:latin typeface="Cambria" pitchFamily="34" charset="0"/>
                <a:ea typeface="Cambria" pitchFamily="34" charset="-122"/>
                <a:cs typeface="Cambria" pitchFamily="34" charset="-120"/>
              </a:rPr>
              <a:t>Vulnerability reports are too noisy to use</a:t>
            </a:r>
            <a:endParaRPr lang="en-US" sz="1700" dirty="0"/>
          </a:p>
        </p:txBody>
      </p:sp>
      <p:sp>
        <p:nvSpPr>
          <p:cNvPr id="14" name="Text 12"/>
          <p:cNvSpPr/>
          <p:nvPr/>
        </p:nvSpPr>
        <p:spPr>
          <a:xfrm>
            <a:off x="6720840" y="2880360"/>
            <a:ext cx="4526280" cy="182880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1B2A33"/>
                </a:solidFill>
                <a:latin typeface="Calibri" pitchFamily="34" charset="0"/>
                <a:ea typeface="Calibri" pitchFamily="34" charset="-122"/>
                <a:cs typeface="Calibri" pitchFamily="34" charset="-120"/>
              </a:rPr>
              <a:t>Scanners match versions against a CVE database and report every hit. A real project gets 150 to 300 findings.</a:t>
            </a:r>
            <a:endParaRPr lang="en-US" sz="1200" dirty="0"/>
          </a:p>
          <a:p>
            <a:pPr marL="342900" indent="-342900">
              <a:spcAft>
                <a:spcPts val="800"/>
              </a:spcAft>
              <a:buSzPct val="100000"/>
              <a:buChar char="•"/>
            </a:pPr>
            <a:r>
              <a:rPr lang="en-US" sz="1200" dirty="0">
                <a:solidFill>
                  <a:srgbClr val="1B2A33"/>
                </a:solidFill>
                <a:latin typeface="Calibri" pitchFamily="34" charset="0"/>
                <a:ea typeface="Calibri" pitchFamily="34" charset="-122"/>
                <a:cs typeface="Calibri" pitchFamily="34" charset="-120"/>
              </a:rPr>
              <a:t>Nobody can triage 300 items, so most teams triage none of them.</a:t>
            </a:r>
            <a:endParaRPr lang="en-US" sz="1200" dirty="0"/>
          </a:p>
          <a:p>
            <a:pPr marL="342900" indent="-342900">
              <a:spcAft>
                <a:spcPts val="800"/>
              </a:spcAft>
              <a:buSzPct val="100000"/>
              <a:buChar char="•"/>
            </a:pPr>
            <a:r>
              <a:rPr lang="en-US" sz="1200" dirty="0">
                <a:solidFill>
                  <a:srgbClr val="1B2A33"/>
                </a:solidFill>
                <a:latin typeface="Calibri" pitchFamily="34" charset="0"/>
                <a:ea typeface="Calibri" pitchFamily="34" charset="-122"/>
                <a:cs typeface="Calibri" pitchFamily="34" charset="-120"/>
              </a:rPr>
              <a:t>Under 5% of those CVEs are in code the application actually calls.</a:t>
            </a:r>
            <a:endParaRPr lang="en-US" sz="1200" dirty="0"/>
          </a:p>
        </p:txBody>
      </p:sp>
      <p:sp>
        <p:nvSpPr>
          <p:cNvPr id="15" name="Text 13"/>
          <p:cNvSpPr/>
          <p:nvPr/>
        </p:nvSpPr>
        <p:spPr>
          <a:xfrm>
            <a:off x="6720840" y="4956048"/>
            <a:ext cx="4526280" cy="640080"/>
          </a:xfrm>
          <a:prstGeom prst="rect">
            <a:avLst/>
          </a:prstGeom>
          <a:noFill/>
          <a:ln/>
        </p:spPr>
        <p:txBody>
          <a:bodyPr wrap="square" lIns="0" tIns="0" rIns="0" bIns="0" rtlCol="0" anchor="ctr"/>
          <a:lstStyle/>
          <a:p>
            <a:pPr indent="0" marL="0">
              <a:buNone/>
            </a:pPr>
            <a:r>
              <a:rPr lang="en-US" sz="1150" i="1" dirty="0">
                <a:solidFill>
                  <a:srgbClr val="0B7A5A"/>
                </a:solidFill>
                <a:latin typeface="Calibri" pitchFamily="34" charset="0"/>
                <a:ea typeface="Calibri" pitchFamily="34" charset="-122"/>
                <a:cs typeface="Calibri" pitchFamily="34" charset="-120"/>
              </a:rPr>
              <a:t>So the job is not finding more issues. It is working out which ones matter.</a:t>
            </a:r>
            <a:endParaRPr lang="en-US" sz="1150" dirty="0"/>
          </a:p>
        </p:txBody>
      </p:sp>
      <p:sp>
        <p:nvSpPr>
          <p:cNvPr id="16" name="Text 14"/>
          <p:cNvSpPr/>
          <p:nvPr/>
        </p:nvSpPr>
        <p:spPr>
          <a:xfrm>
            <a:off x="11109960" y="6355080"/>
            <a:ext cx="457200" cy="274320"/>
          </a:xfrm>
          <a:prstGeom prst="rect">
            <a:avLst/>
          </a:prstGeom>
          <a:noFill/>
          <a:ln/>
        </p:spPr>
        <p:txBody>
          <a:bodyPr wrap="square" lIns="0" tIns="0" rIns="0" bIns="0"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A38"/>
        </a:solidFill>
      </p:bgPr>
    </p:bg>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a:ln/>
        </p:spPr>
      </p:sp>
      <p:sp>
        <p:nvSpPr>
          <p:cNvPr id="3" name="Text 1"/>
          <p:cNvSpPr/>
          <p:nvPr/>
        </p:nvSpPr>
        <p:spPr>
          <a:xfrm>
            <a:off x="59436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p:nvPr/>
        </p:nvSpPr>
        <p:spPr>
          <a:xfrm>
            <a:off x="1014984" y="384048"/>
            <a:ext cx="5486400" cy="310896"/>
          </a:xfrm>
          <a:prstGeom prst="rect">
            <a:avLst/>
          </a:prstGeom>
          <a:noFill/>
          <a:ln/>
        </p:spPr>
        <p:txBody>
          <a:bodyPr wrap="square" lIns="0" tIns="0" rIns="0" bIns="0" rtlCol="0" anchor="ctr"/>
          <a:lstStyle/>
          <a:p>
            <a:pPr indent="0" marL="0">
              <a:buNone/>
            </a:pPr>
            <a:r>
              <a:rPr lang="en-US" sz="1050" b="1" spc="160" kern="0" dirty="0">
                <a:solidFill>
                  <a:srgbClr val="8FA6B2"/>
                </a:solidFill>
                <a:latin typeface="Calibri" pitchFamily="34" charset="0"/>
                <a:ea typeface="Calibri" pitchFamily="34" charset="-122"/>
                <a:cs typeface="Calibri" pitchFamily="34" charset="-120"/>
              </a:rPr>
              <a:t>DOMAIN AND PROBLEM STATEMENT</a:t>
            </a:r>
            <a:endParaRPr lang="en-US" sz="1050" dirty="0"/>
          </a:p>
        </p:txBody>
      </p:sp>
      <p:sp>
        <p:nvSpPr>
          <p:cNvPr id="5" name="Text 3"/>
          <p:cNvSpPr/>
          <p:nvPr/>
        </p:nvSpPr>
        <p:spPr>
          <a:xfrm>
            <a:off x="594360" y="841248"/>
            <a:ext cx="1097280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we set out to build</a:t>
            </a:r>
            <a:endParaRPr lang="en-US" sz="3000" dirty="0"/>
          </a:p>
        </p:txBody>
      </p:sp>
      <p:sp>
        <p:nvSpPr>
          <p:cNvPr id="6" name="Shape 4"/>
          <p:cNvSpPr/>
          <p:nvPr/>
        </p:nvSpPr>
        <p:spPr>
          <a:xfrm>
            <a:off x="594360" y="1645920"/>
            <a:ext cx="6035040" cy="3611880"/>
          </a:xfrm>
          <a:prstGeom prst="roundRect">
            <a:avLst>
              <a:gd name="adj" fmla="val 1519"/>
            </a:avLst>
          </a:prstGeom>
          <a:solidFill>
            <a:srgbClr val="0A1E29"/>
          </a:solidFill>
          <a:ln w="12700">
            <a:solidFill>
              <a:srgbClr val="1E3D4D"/>
            </a:solidFill>
            <a:prstDash val="solid"/>
          </a:ln>
        </p:spPr>
      </p:sp>
      <p:sp>
        <p:nvSpPr>
          <p:cNvPr id="7" name="Text 5"/>
          <p:cNvSpPr/>
          <p:nvPr/>
        </p:nvSpPr>
        <p:spPr>
          <a:xfrm>
            <a:off x="914400" y="1828800"/>
            <a:ext cx="4572000" cy="256032"/>
          </a:xfrm>
          <a:prstGeom prst="rect">
            <a:avLst/>
          </a:prstGeom>
          <a:noFill/>
          <a:ln/>
        </p:spPr>
        <p:txBody>
          <a:bodyPr wrap="square" lIns="0" tIns="0" rIns="0" bIns="0" rtlCol="0" anchor="ctr"/>
          <a:lstStyle/>
          <a:p>
            <a:pPr indent="0" marL="0">
              <a:buNone/>
            </a:pPr>
            <a:r>
              <a:rPr lang="en-US" sz="1050" b="1" spc="180" kern="0" dirty="0">
                <a:solidFill>
                  <a:srgbClr val="12B886"/>
                </a:solidFill>
                <a:latin typeface="Calibri" pitchFamily="34" charset="0"/>
                <a:ea typeface="Calibri" pitchFamily="34" charset="-122"/>
                <a:cs typeface="Calibri" pitchFamily="34" charset="-120"/>
              </a:rPr>
              <a:t>PROBLEM STATEMENT</a:t>
            </a:r>
            <a:endParaRPr lang="en-US" sz="1050" dirty="0"/>
          </a:p>
        </p:txBody>
      </p:sp>
      <p:sp>
        <p:nvSpPr>
          <p:cNvPr id="8" name="Text 6"/>
          <p:cNvSpPr/>
          <p:nvPr/>
        </p:nvSpPr>
        <p:spPr>
          <a:xfrm>
            <a:off x="914400" y="2176272"/>
            <a:ext cx="5394960" cy="2926080"/>
          </a:xfrm>
          <a:prstGeom prst="rect">
            <a:avLst/>
          </a:prstGeom>
          <a:noFill/>
          <a:ln/>
        </p:spPr>
        <p:txBody>
          <a:bodyPr wrap="square" lIns="0" tIns="0" rIns="0" bIns="0" rtlCol="0" anchor="ctr"/>
          <a:lstStyle/>
          <a:p>
            <a:pPr indent="0" marL="0">
              <a:lnSpc>
                <a:spcPts val="1700"/>
              </a:lnSpc>
              <a:buNone/>
            </a:pPr>
            <a:r>
              <a:rPr lang="en-US" sz="1200" b="1" dirty="0">
                <a:solidFill>
                  <a:srgbClr val="DCE7EC"/>
                </a:solidFill>
                <a:latin typeface="Calibri" pitchFamily="34" charset="0"/>
                <a:ea typeface="Calibri" pitchFamily="34" charset="-122"/>
                <a:cs typeface="Calibri" pitchFamily="34" charset="-120"/>
              </a:rPr>
              <a:t>Given a project and the full set of packages it installs:</a:t>
            </a:r>
            <a:endParaRPr lang="en-US" sz="1200" dirty="0"/>
          </a:p>
          <a:p>
            <a:pPr indent="0" marL="0">
              <a:lnSpc>
                <a:spcPts val="1700"/>
              </a:lnSpc>
              <a:buNone/>
            </a:pPr>
            <a:r>
              <a:rPr lang="en-US" sz="1200" dirty="0">
                <a:solidFill>
                  <a:srgbClr val="DCE7EC"/>
                </a:solidFill>
                <a:latin typeface="Calibri" pitchFamily="34" charset="0"/>
                <a:ea typeface="Calibri" pitchFamily="34" charset="-122"/>
                <a:cs typeface="Calibri" pitchFamily="34" charset="-120"/>
              </a:rPr>
              <a:t>
</a:t>
            </a:r>
            <a:endParaRPr lang="en-US" sz="1200" dirty="0"/>
          </a:p>
          <a:p>
            <a:pPr indent="0" marL="0">
              <a:lnSpc>
                <a:spcPts val="1700"/>
              </a:lnSpc>
              <a:buNone/>
            </a:pPr>
            <a:r>
              <a:rPr lang="en-US" sz="1200" dirty="0">
                <a:solidFill>
                  <a:srgbClr val="DCE7EC"/>
                </a:solidFill>
                <a:latin typeface="Calibri" pitchFamily="34" charset="0"/>
                <a:ea typeface="Calibri" pitchFamily="34" charset="-122"/>
                <a:cs typeface="Calibri" pitchFamily="34" charset="-120"/>
              </a:rPr>
              <a:t>A.  Decide whether each package is malicious, without ever running it, and show the evidence behind the decision.</a:t>
            </a:r>
            <a:endParaRPr lang="en-US" sz="1200" dirty="0"/>
          </a:p>
          <a:p>
            <a:pPr indent="0" marL="0">
              <a:lnSpc>
                <a:spcPts val="1700"/>
              </a:lnSpc>
              <a:buNone/>
            </a:pPr>
            <a:r>
              <a:rPr lang="en-US" sz="1200" dirty="0">
                <a:solidFill>
                  <a:srgbClr val="DCE7EC"/>
                </a:solidFill>
                <a:latin typeface="Calibri" pitchFamily="34" charset="0"/>
                <a:ea typeface="Calibri" pitchFamily="34" charset="-122"/>
                <a:cs typeface="Calibri" pitchFamily="34" charset="-120"/>
              </a:rPr>
              <a:t>
</a:t>
            </a:r>
            <a:endParaRPr lang="en-US" sz="1200" dirty="0"/>
          </a:p>
          <a:p>
            <a:pPr indent="0" marL="0">
              <a:lnSpc>
                <a:spcPts val="1700"/>
              </a:lnSpc>
              <a:buNone/>
            </a:pPr>
            <a:r>
              <a:rPr lang="en-US" sz="1200" dirty="0">
                <a:solidFill>
                  <a:srgbClr val="DCE7EC"/>
                </a:solidFill>
                <a:latin typeface="Calibri" pitchFamily="34" charset="0"/>
                <a:ea typeface="Calibri" pitchFamily="34" charset="-122"/>
                <a:cs typeface="Calibri" pitchFamily="34" charset="-120"/>
              </a:rPr>
              <a:t>B.  For every known vulnerability, decide whether the application can actually reach the vulnerable function, and show the call path that proves it.</a:t>
            </a:r>
            <a:endParaRPr lang="en-US" sz="1200" dirty="0"/>
          </a:p>
          <a:p>
            <a:pPr indent="0" marL="0">
              <a:lnSpc>
                <a:spcPts val="1700"/>
              </a:lnSpc>
              <a:buNone/>
            </a:pPr>
            <a:r>
              <a:rPr lang="en-US" sz="1200" dirty="0">
                <a:solidFill>
                  <a:srgbClr val="DCE7EC"/>
                </a:solidFill>
                <a:latin typeface="Calibri" pitchFamily="34" charset="0"/>
                <a:ea typeface="Calibri" pitchFamily="34" charset="-122"/>
                <a:cs typeface="Calibri" pitchFamily="34" charset="-120"/>
              </a:rPr>
              <a:t>
</a:t>
            </a:r>
            <a:endParaRPr lang="en-US" sz="1200" dirty="0"/>
          </a:p>
          <a:p>
            <a:pPr indent="0" marL="0">
              <a:lnSpc>
                <a:spcPts val="1700"/>
              </a:lnSpc>
              <a:buNone/>
            </a:pPr>
            <a:r>
              <a:rPr lang="en-US" sz="1200" i="1" dirty="0">
                <a:solidFill>
                  <a:srgbClr val="DCE7EC"/>
                </a:solidFill>
                <a:latin typeface="Calibri" pitchFamily="34" charset="0"/>
                <a:ea typeface="Calibri" pitchFamily="34" charset="-122"/>
                <a:cs typeface="Calibri" pitchFamily="34" charset="-120"/>
              </a:rPr>
              <a:t>When we are not sure in B, we report it as reachable. Missing a real vulnerability is far worse than raising one extra alert.</a:t>
            </a:r>
            <a:endParaRPr lang="en-US" sz="1200" dirty="0"/>
          </a:p>
        </p:txBody>
      </p:sp>
      <p:sp>
        <p:nvSpPr>
          <p:cNvPr id="9" name="Text 7"/>
          <p:cNvSpPr/>
          <p:nvPr/>
        </p:nvSpPr>
        <p:spPr>
          <a:xfrm>
            <a:off x="7086600" y="1737360"/>
            <a:ext cx="45720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Objectives</a:t>
            </a:r>
            <a:endParaRPr lang="en-US" sz="1300" dirty="0"/>
          </a:p>
        </p:txBody>
      </p:sp>
      <p:sp>
        <p:nvSpPr>
          <p:cNvPr id="10" name="Text 8"/>
          <p:cNvSpPr/>
          <p:nvPr/>
        </p:nvSpPr>
        <p:spPr>
          <a:xfrm>
            <a:off x="7086600" y="2176272"/>
            <a:ext cx="274320" cy="274320"/>
          </a:xfrm>
          <a:prstGeom prst="rect">
            <a:avLst/>
          </a:prstGeom>
          <a:noFill/>
          <a:ln/>
        </p:spPr>
        <p:txBody>
          <a:bodyPr wrap="square" lIns="0" tIns="0" rIns="0" bIns="0" rtlCol="0" anchor="ctr"/>
          <a:lstStyle/>
          <a:p>
            <a:pPr indent="0" marL="0">
              <a:buNone/>
            </a:pPr>
            <a:r>
              <a:rPr lang="en-US" sz="1200" b="1" dirty="0">
                <a:solidFill>
                  <a:srgbClr val="12B886"/>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7424928" y="2148840"/>
            <a:ext cx="4114800" cy="603504"/>
          </a:xfrm>
          <a:prstGeom prst="rect">
            <a:avLst/>
          </a:prstGeom>
          <a:noFill/>
          <a:ln/>
        </p:spPr>
        <p:txBody>
          <a:bodyPr wrap="square" lIns="0" tIns="0" rIns="0" bIns="0" rtlCol="0" anchor="ctr"/>
          <a:lstStyle/>
          <a:p>
            <a:pPr indent="0" marL="0">
              <a:buNone/>
            </a:pPr>
            <a:r>
              <a:rPr lang="en-US" sz="1150" dirty="0">
                <a:solidFill>
                  <a:srgbClr val="DCE7EC"/>
                </a:solidFill>
                <a:latin typeface="Calibri" pitchFamily="34" charset="0"/>
                <a:ea typeface="Calibri" pitchFamily="34" charset="-122"/>
                <a:cs typeface="Calibri" pitchFamily="34" charset="-120"/>
              </a:rPr>
              <a:t>Pull apart Python and JavaScript packages without running them</a:t>
            </a:r>
            <a:endParaRPr lang="en-US" sz="1150" dirty="0"/>
          </a:p>
        </p:txBody>
      </p:sp>
      <p:sp>
        <p:nvSpPr>
          <p:cNvPr id="12" name="Text 10"/>
          <p:cNvSpPr/>
          <p:nvPr/>
        </p:nvSpPr>
        <p:spPr>
          <a:xfrm>
            <a:off x="7086600" y="2834640"/>
            <a:ext cx="274320" cy="274320"/>
          </a:xfrm>
          <a:prstGeom prst="rect">
            <a:avLst/>
          </a:prstGeom>
          <a:noFill/>
          <a:ln/>
        </p:spPr>
        <p:txBody>
          <a:bodyPr wrap="square" lIns="0" tIns="0" rIns="0" bIns="0" rtlCol="0" anchor="ctr"/>
          <a:lstStyle/>
          <a:p>
            <a:pPr indent="0" marL="0">
              <a:buNone/>
            </a:pPr>
            <a:r>
              <a:rPr lang="en-US" sz="1200" b="1" dirty="0">
                <a:solidFill>
                  <a:srgbClr val="12B886"/>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7424928" y="2807208"/>
            <a:ext cx="4114800" cy="603504"/>
          </a:xfrm>
          <a:prstGeom prst="rect">
            <a:avLst/>
          </a:prstGeom>
          <a:noFill/>
          <a:ln/>
        </p:spPr>
        <p:txBody>
          <a:bodyPr wrap="square" lIns="0" tIns="0" rIns="0" bIns="0" rtlCol="0" anchor="ctr"/>
          <a:lstStyle/>
          <a:p>
            <a:pPr indent="0" marL="0">
              <a:buNone/>
            </a:pPr>
            <a:r>
              <a:rPr lang="en-US" sz="1150" dirty="0">
                <a:solidFill>
                  <a:srgbClr val="DCE7EC"/>
                </a:solidFill>
                <a:latin typeface="Calibri" pitchFamily="34" charset="0"/>
                <a:ea typeface="Calibri" pitchFamily="34" charset="-122"/>
                <a:cs typeface="Calibri" pitchFamily="34" charset="-120"/>
              </a:rPr>
              <a:t>Train a classifier on real malware and real libraries, and test it properly</a:t>
            </a:r>
            <a:endParaRPr lang="en-US" sz="1150" dirty="0"/>
          </a:p>
        </p:txBody>
      </p:sp>
      <p:sp>
        <p:nvSpPr>
          <p:cNvPr id="14" name="Text 12"/>
          <p:cNvSpPr/>
          <p:nvPr/>
        </p:nvSpPr>
        <p:spPr>
          <a:xfrm>
            <a:off x="7086600" y="3493008"/>
            <a:ext cx="274320" cy="274320"/>
          </a:xfrm>
          <a:prstGeom prst="rect">
            <a:avLst/>
          </a:prstGeom>
          <a:noFill/>
          <a:ln/>
        </p:spPr>
        <p:txBody>
          <a:bodyPr wrap="square" lIns="0" tIns="0" rIns="0" bIns="0" rtlCol="0" anchor="ctr"/>
          <a:lstStyle/>
          <a:p>
            <a:pPr indent="0" marL="0">
              <a:buNone/>
            </a:pPr>
            <a:r>
              <a:rPr lang="en-US" sz="1200" b="1" dirty="0">
                <a:solidFill>
                  <a:srgbClr val="12B886"/>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7424928" y="3465576"/>
            <a:ext cx="4114800" cy="603504"/>
          </a:xfrm>
          <a:prstGeom prst="rect">
            <a:avLst/>
          </a:prstGeom>
          <a:noFill/>
          <a:ln/>
        </p:spPr>
        <p:txBody>
          <a:bodyPr wrap="square" lIns="0" tIns="0" rIns="0" bIns="0" rtlCol="0" anchor="ctr"/>
          <a:lstStyle/>
          <a:p>
            <a:pPr indent="0" marL="0">
              <a:buNone/>
            </a:pPr>
            <a:r>
              <a:rPr lang="en-US" sz="1150" dirty="0">
                <a:solidFill>
                  <a:srgbClr val="DCE7EC"/>
                </a:solidFill>
                <a:latin typeface="Calibri" pitchFamily="34" charset="0"/>
                <a:ea typeface="Calibri" pitchFamily="34" charset="-122"/>
                <a:cs typeface="Calibri" pitchFamily="34" charset="-120"/>
              </a:rPr>
              <a:t>Build a call graph that separates vulnerabilities that matter from ones that do not</a:t>
            </a:r>
            <a:endParaRPr lang="en-US" sz="1150" dirty="0"/>
          </a:p>
        </p:txBody>
      </p:sp>
      <p:sp>
        <p:nvSpPr>
          <p:cNvPr id="16" name="Text 14"/>
          <p:cNvSpPr/>
          <p:nvPr/>
        </p:nvSpPr>
        <p:spPr>
          <a:xfrm>
            <a:off x="7086600" y="4151376"/>
            <a:ext cx="274320" cy="274320"/>
          </a:xfrm>
          <a:prstGeom prst="rect">
            <a:avLst/>
          </a:prstGeom>
          <a:noFill/>
          <a:ln/>
        </p:spPr>
        <p:txBody>
          <a:bodyPr wrap="square" lIns="0" tIns="0" rIns="0" bIns="0" rtlCol="0" anchor="ctr"/>
          <a:lstStyle/>
          <a:p>
            <a:pPr indent="0" marL="0">
              <a:buNone/>
            </a:pPr>
            <a:r>
              <a:rPr lang="en-US" sz="1200" b="1" dirty="0">
                <a:solidFill>
                  <a:srgbClr val="12B886"/>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7424928" y="4123944"/>
            <a:ext cx="4114800" cy="603504"/>
          </a:xfrm>
          <a:prstGeom prst="rect">
            <a:avLst/>
          </a:prstGeom>
          <a:noFill/>
          <a:ln/>
        </p:spPr>
        <p:txBody>
          <a:bodyPr wrap="square" lIns="0" tIns="0" rIns="0" bIns="0" rtlCol="0" anchor="ctr"/>
          <a:lstStyle/>
          <a:p>
            <a:pPr indent="0" marL="0">
              <a:buNone/>
            </a:pPr>
            <a:r>
              <a:rPr lang="en-US" sz="1150" dirty="0">
                <a:solidFill>
                  <a:srgbClr val="DCE7EC"/>
                </a:solidFill>
                <a:latin typeface="Calibri" pitchFamily="34" charset="0"/>
                <a:ea typeface="Calibri" pitchFamily="34" charset="-122"/>
                <a:cs typeface="Calibri" pitchFamily="34" charset="-120"/>
              </a:rPr>
              <a:t>Measure how much noise the reachability step actually removes</a:t>
            </a:r>
            <a:endParaRPr lang="en-US" sz="1150" dirty="0"/>
          </a:p>
        </p:txBody>
      </p:sp>
      <p:sp>
        <p:nvSpPr>
          <p:cNvPr id="18" name="Text 16"/>
          <p:cNvSpPr/>
          <p:nvPr/>
        </p:nvSpPr>
        <p:spPr>
          <a:xfrm>
            <a:off x="7086600" y="4809744"/>
            <a:ext cx="274320" cy="274320"/>
          </a:xfrm>
          <a:prstGeom prst="rect">
            <a:avLst/>
          </a:prstGeom>
          <a:noFill/>
          <a:ln/>
        </p:spPr>
        <p:txBody>
          <a:bodyPr wrap="square" lIns="0" tIns="0" rIns="0" bIns="0" rtlCol="0" anchor="ctr"/>
          <a:lstStyle/>
          <a:p>
            <a:pPr indent="0" marL="0">
              <a:buNone/>
            </a:pPr>
            <a:r>
              <a:rPr lang="en-US" sz="1200" b="1" dirty="0">
                <a:solidFill>
                  <a:srgbClr val="12B886"/>
                </a:solidFill>
                <a:latin typeface="Calibri" pitchFamily="34" charset="0"/>
                <a:ea typeface="Calibri" pitchFamily="34" charset="-122"/>
                <a:cs typeface="Calibri" pitchFamily="34" charset="-120"/>
              </a:rPr>
              <a:t>5</a:t>
            </a:r>
            <a:endParaRPr lang="en-US" sz="1200" dirty="0"/>
          </a:p>
        </p:txBody>
      </p:sp>
      <p:sp>
        <p:nvSpPr>
          <p:cNvPr id="19" name="Text 17"/>
          <p:cNvSpPr/>
          <p:nvPr/>
        </p:nvSpPr>
        <p:spPr>
          <a:xfrm>
            <a:off x="7424928" y="4782312"/>
            <a:ext cx="4114800" cy="603504"/>
          </a:xfrm>
          <a:prstGeom prst="rect">
            <a:avLst/>
          </a:prstGeom>
          <a:noFill/>
          <a:ln/>
        </p:spPr>
        <p:txBody>
          <a:bodyPr wrap="square" lIns="0" tIns="0" rIns="0" bIns="0" rtlCol="0" anchor="ctr"/>
          <a:lstStyle/>
          <a:p>
            <a:pPr indent="0" marL="0">
              <a:buNone/>
            </a:pPr>
            <a:r>
              <a:rPr lang="en-US" sz="1150" dirty="0">
                <a:solidFill>
                  <a:srgbClr val="DCE7EC"/>
                </a:solidFill>
                <a:latin typeface="Calibri" pitchFamily="34" charset="0"/>
                <a:ea typeface="Calibri" pitchFamily="34" charset="-122"/>
                <a:cs typeface="Calibri" pitchFamily="34" charset="-120"/>
              </a:rPr>
              <a:t>Ship it as something usable: an API, a dashboard and a command line tool</a:t>
            </a:r>
            <a:endParaRPr lang="en-US" sz="1150" dirty="0"/>
          </a:p>
        </p:txBody>
      </p:sp>
      <p:sp>
        <p:nvSpPr>
          <p:cNvPr id="20" name="Text 18"/>
          <p:cNvSpPr/>
          <p:nvPr/>
        </p:nvSpPr>
        <p:spPr>
          <a:xfrm>
            <a:off x="11109960" y="6355080"/>
            <a:ext cx="457200" cy="274320"/>
          </a:xfrm>
          <a:prstGeom prst="rect">
            <a:avLst/>
          </a:prstGeom>
          <a:noFill/>
          <a:ln/>
        </p:spPr>
        <p:txBody>
          <a:bodyPr wrap="square" lIns="0" tIns="0" rIns="0" bIns="0"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a:ln/>
        </p:spPr>
      </p:sp>
      <p:sp>
        <p:nvSpPr>
          <p:cNvPr id="3" name="Text 1"/>
          <p:cNvSpPr/>
          <p:nvPr/>
        </p:nvSpPr>
        <p:spPr>
          <a:xfrm>
            <a:off x="59436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p:nvPr/>
        </p:nvSpPr>
        <p:spPr>
          <a:xfrm>
            <a:off x="1014984" y="384048"/>
            <a:ext cx="5486400" cy="310896"/>
          </a:xfrm>
          <a:prstGeom prst="rect">
            <a:avLst/>
          </a:prstGeom>
          <a:noFill/>
          <a:ln/>
        </p:spPr>
        <p:txBody>
          <a:bodyPr wrap="square" lIns="0" tIns="0" rIns="0" bIns="0" rtlCol="0" anchor="ctr"/>
          <a:lstStyle/>
          <a:p>
            <a:pPr indent="0" marL="0">
              <a:buNone/>
            </a:pPr>
            <a:r>
              <a:rPr lang="en-US" sz="1050" b="1" spc="160" kern="0" dirty="0">
                <a:solidFill>
                  <a:srgbClr val="5A6B78"/>
                </a:solidFill>
                <a:latin typeface="Calibri" pitchFamily="34" charset="0"/>
                <a:ea typeface="Calibri" pitchFamily="34" charset="-122"/>
                <a:cs typeface="Calibri" pitchFamily="34" charset="-120"/>
              </a:rPr>
              <a:t>LITERATURE REVIEW</a:t>
            </a:r>
            <a:endParaRPr lang="en-US" sz="1050" dirty="0"/>
          </a:p>
        </p:txBody>
      </p:sp>
      <p:sp>
        <p:nvSpPr>
          <p:cNvPr id="5" name="Text 3"/>
          <p:cNvSpPr/>
          <p:nvPr/>
        </p:nvSpPr>
        <p:spPr>
          <a:xfrm>
            <a:off x="594360" y="841248"/>
            <a:ext cx="10972800" cy="658368"/>
          </a:xfrm>
          <a:prstGeom prst="rect">
            <a:avLst/>
          </a:prstGeom>
          <a:noFill/>
          <a:ln/>
        </p:spPr>
        <p:txBody>
          <a:bodyPr wrap="square" lIns="0" tIns="0" rIns="0" bIns="0" rtlCol="0" anchor="ctr"/>
          <a:lstStyle/>
          <a:p>
            <a:pPr indent="0" marL="0">
              <a:buNone/>
            </a:pPr>
            <a:r>
              <a:rPr lang="en-US" sz="3000" b="1" dirty="0">
                <a:solidFill>
                  <a:srgbClr val="1B2A33"/>
                </a:solidFill>
                <a:latin typeface="Cambria" pitchFamily="34" charset="0"/>
                <a:ea typeface="Cambria" pitchFamily="34" charset="-122"/>
                <a:cs typeface="Cambria" pitchFamily="34" charset="-120"/>
              </a:rPr>
              <a:t>We read 27 papers, 24 of them from 2023 onwards</a:t>
            </a:r>
            <a:endParaRPr lang="en-US" sz="3000" dirty="0"/>
          </a:p>
        </p:txBody>
      </p:sp>
      <p:graphicFrame>
        <p:nvGraphicFramePr>
          <p:cNvPr id="6" name="Chart 0" descr=""/>
          <p:cNvGraphicFramePr/>
          <p:nvPr/>
        </p:nvGraphicFramePr>
        <p:xfrm>
          <a:off x="594360" y="1645920"/>
          <a:ext cx="6035040" cy="32918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949440" y="1691640"/>
            <a:ext cx="4617720" cy="320040"/>
          </a:xfrm>
          <a:prstGeom prst="rect">
            <a:avLst/>
          </a:prstGeom>
          <a:noFill/>
          <a:ln/>
        </p:spPr>
        <p:txBody>
          <a:bodyPr wrap="square" lIns="0" tIns="0" rIns="0" bIns="0" rtlCol="0" anchor="ctr"/>
          <a:lstStyle/>
          <a:p>
            <a:pPr indent="0" marL="0">
              <a:buNone/>
            </a:pPr>
            <a:r>
              <a:rPr lang="en-US" sz="1300" b="1" dirty="0">
                <a:solidFill>
                  <a:srgbClr val="1B2A33"/>
                </a:solidFill>
                <a:latin typeface="Calibri" pitchFamily="34" charset="0"/>
                <a:ea typeface="Calibri" pitchFamily="34" charset="-122"/>
                <a:cs typeface="Calibri" pitchFamily="34" charset="-120"/>
              </a:rPr>
              <a:t>What the field agrees on</a:t>
            </a:r>
            <a:endParaRPr lang="en-US" sz="1300" dirty="0"/>
          </a:p>
        </p:txBody>
      </p:sp>
      <p:sp>
        <p:nvSpPr>
          <p:cNvPr id="8" name="Text 5"/>
          <p:cNvSpPr/>
          <p:nvPr/>
        </p:nvSpPr>
        <p:spPr>
          <a:xfrm>
            <a:off x="6949440" y="2103120"/>
            <a:ext cx="4617720" cy="274320"/>
          </a:xfrm>
          <a:prstGeom prst="rect">
            <a:avLst/>
          </a:prstGeom>
          <a:noFill/>
          <a:ln/>
        </p:spPr>
        <p:txBody>
          <a:bodyPr wrap="square" lIns="0" tIns="0" rIns="0" bIns="0" rtlCol="0" anchor="ctr"/>
          <a:lstStyle/>
          <a:p>
            <a:pPr indent="0" marL="0">
              <a:buNone/>
            </a:pPr>
            <a:r>
              <a:rPr lang="en-US" sz="1200" b="1" dirty="0">
                <a:solidFill>
                  <a:srgbClr val="0B7A5A"/>
                </a:solidFill>
                <a:latin typeface="Calibri" pitchFamily="34" charset="0"/>
                <a:ea typeface="Calibri" pitchFamily="34" charset="-122"/>
                <a:cs typeface="Calibri" pitchFamily="34" charset="-120"/>
              </a:rPr>
              <a:t>Everyone moved to behaviour</a:t>
            </a:r>
            <a:endParaRPr lang="en-US" sz="1200" dirty="0"/>
          </a:p>
        </p:txBody>
      </p:sp>
      <p:sp>
        <p:nvSpPr>
          <p:cNvPr id="9" name="Text 6"/>
          <p:cNvSpPr/>
          <p:nvPr/>
        </p:nvSpPr>
        <p:spPr>
          <a:xfrm>
            <a:off x="6949440" y="2368296"/>
            <a:ext cx="4617720" cy="658368"/>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Signature matching is gone. Detectors now look at what a package does, not what it looks like.</a:t>
            </a:r>
            <a:endParaRPr lang="en-US" sz="1050" dirty="0"/>
          </a:p>
        </p:txBody>
      </p:sp>
      <p:sp>
        <p:nvSpPr>
          <p:cNvPr id="10" name="Text 7"/>
          <p:cNvSpPr/>
          <p:nvPr/>
        </p:nvSpPr>
        <p:spPr>
          <a:xfrm>
            <a:off x="6949440" y="3063240"/>
            <a:ext cx="4617720" cy="274320"/>
          </a:xfrm>
          <a:prstGeom prst="rect">
            <a:avLst/>
          </a:prstGeom>
          <a:noFill/>
          <a:ln/>
        </p:spPr>
        <p:txBody>
          <a:bodyPr wrap="square" lIns="0" tIns="0" rIns="0" bIns="0" rtlCol="0" anchor="ctr"/>
          <a:lstStyle/>
          <a:p>
            <a:pPr indent="0" marL="0">
              <a:buNone/>
            </a:pPr>
            <a:r>
              <a:rPr lang="en-US" sz="1200" b="1" dirty="0">
                <a:solidFill>
                  <a:srgbClr val="0B7A5A"/>
                </a:solidFill>
                <a:latin typeface="Calibri" pitchFamily="34" charset="0"/>
                <a:ea typeface="Calibri" pitchFamily="34" charset="-122"/>
                <a:cs typeface="Calibri" pitchFamily="34" charset="-120"/>
              </a:rPr>
              <a:t>Three approaches, one trade off</a:t>
            </a:r>
            <a:endParaRPr lang="en-US" sz="1200" dirty="0"/>
          </a:p>
        </p:txBody>
      </p:sp>
      <p:sp>
        <p:nvSpPr>
          <p:cNvPr id="11" name="Text 8"/>
          <p:cNvSpPr/>
          <p:nvPr/>
        </p:nvSpPr>
        <p:spPr>
          <a:xfrm>
            <a:off x="6949440" y="3328416"/>
            <a:ext cx="4617720" cy="658368"/>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Static ML is cheap and measurable. Sandboxes see more but get evaded. LLMs generalise well but are slow and hard to score.</a:t>
            </a:r>
            <a:endParaRPr lang="en-US" sz="1050" dirty="0"/>
          </a:p>
        </p:txBody>
      </p:sp>
      <p:sp>
        <p:nvSpPr>
          <p:cNvPr id="12" name="Text 9"/>
          <p:cNvSpPr/>
          <p:nvPr/>
        </p:nvSpPr>
        <p:spPr>
          <a:xfrm>
            <a:off x="6949440" y="4023360"/>
            <a:ext cx="4617720" cy="274320"/>
          </a:xfrm>
          <a:prstGeom prst="rect">
            <a:avLst/>
          </a:prstGeom>
          <a:noFill/>
          <a:ln/>
        </p:spPr>
        <p:txBody>
          <a:bodyPr wrap="square" lIns="0" tIns="0" rIns="0" bIns="0" rtlCol="0" anchor="ctr"/>
          <a:lstStyle/>
          <a:p>
            <a:pPr indent="0" marL="0">
              <a:buNone/>
            </a:pPr>
            <a:r>
              <a:rPr lang="en-US" sz="1200" b="1" dirty="0">
                <a:solidFill>
                  <a:srgbClr val="0B7A5A"/>
                </a:solidFill>
                <a:latin typeface="Calibri" pitchFamily="34" charset="0"/>
                <a:ea typeface="Calibri" pitchFamily="34" charset="-122"/>
                <a:cs typeface="Calibri" pitchFamily="34" charset="-120"/>
              </a:rPr>
              <a:t>Attackers are hiding better</a:t>
            </a:r>
            <a:endParaRPr lang="en-US" sz="1200" dirty="0"/>
          </a:p>
        </p:txBody>
      </p:sp>
      <p:sp>
        <p:nvSpPr>
          <p:cNvPr id="13" name="Text 10"/>
          <p:cNvSpPr/>
          <p:nvPr/>
        </p:nvSpPr>
        <p:spPr>
          <a:xfrm>
            <a:off x="6949440" y="4288536"/>
            <a:ext cx="4617720" cy="658368"/>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Use of evasion tricks grew 3.8 times between 2020 and 2025.</a:t>
            </a:r>
            <a:endParaRPr lang="en-US" sz="1050" dirty="0"/>
          </a:p>
        </p:txBody>
      </p:sp>
      <p:sp>
        <p:nvSpPr>
          <p:cNvPr id="14" name="Text 11"/>
          <p:cNvSpPr/>
          <p:nvPr/>
        </p:nvSpPr>
        <p:spPr>
          <a:xfrm>
            <a:off x="6949440" y="4983480"/>
            <a:ext cx="4617720" cy="274320"/>
          </a:xfrm>
          <a:prstGeom prst="rect">
            <a:avLst/>
          </a:prstGeom>
          <a:noFill/>
          <a:ln/>
        </p:spPr>
        <p:txBody>
          <a:bodyPr wrap="square" lIns="0" tIns="0" rIns="0" bIns="0" rtlCol="0" anchor="ctr"/>
          <a:lstStyle/>
          <a:p>
            <a:pPr indent="0" marL="0">
              <a:buNone/>
            </a:pPr>
            <a:r>
              <a:rPr lang="en-US" sz="1200" b="1" dirty="0">
                <a:solidFill>
                  <a:srgbClr val="0B7A5A"/>
                </a:solidFill>
                <a:latin typeface="Calibri" pitchFamily="34" charset="0"/>
                <a:ea typeface="Calibri" pitchFamily="34" charset="-122"/>
                <a:cs typeface="Calibri" pitchFamily="34" charset="-120"/>
              </a:rPr>
              <a:t>Datasets are the bottleneck</a:t>
            </a:r>
            <a:endParaRPr lang="en-US" sz="1200" dirty="0"/>
          </a:p>
        </p:txBody>
      </p:sp>
      <p:sp>
        <p:nvSpPr>
          <p:cNvPr id="15" name="Text 12"/>
          <p:cNvSpPr/>
          <p:nvPr/>
        </p:nvSpPr>
        <p:spPr>
          <a:xfrm>
            <a:off x="6949440" y="5248656"/>
            <a:ext cx="4617720" cy="658368"/>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The most cited dataset still has only 174 samples.</a:t>
            </a:r>
            <a:endParaRPr lang="en-US" sz="1050" dirty="0"/>
          </a:p>
        </p:txBody>
      </p:sp>
      <p:sp>
        <p:nvSpPr>
          <p:cNvPr id="16" name="Shape 13"/>
          <p:cNvSpPr/>
          <p:nvPr/>
        </p:nvSpPr>
        <p:spPr>
          <a:xfrm>
            <a:off x="594360" y="5212080"/>
            <a:ext cx="6035040" cy="658368"/>
          </a:xfrm>
          <a:prstGeom prst="roundRect">
            <a:avLst>
              <a:gd name="adj" fmla="val 8333"/>
            </a:avLst>
          </a:prstGeom>
          <a:solidFill>
            <a:srgbClr val="EEF3F5"/>
          </a:solidFill>
          <a:ln w="12700">
            <a:solidFill>
              <a:srgbClr val="E2EAEE"/>
            </a:solidFill>
            <a:prstDash val="solid"/>
          </a:ln>
        </p:spPr>
      </p:sp>
      <p:sp>
        <p:nvSpPr>
          <p:cNvPr id="17" name="Text 14"/>
          <p:cNvSpPr/>
          <p:nvPr/>
        </p:nvSpPr>
        <p:spPr>
          <a:xfrm>
            <a:off x="850392" y="5212080"/>
            <a:ext cx="5532120" cy="658368"/>
          </a:xfrm>
          <a:prstGeom prst="rect">
            <a:avLst/>
          </a:prstGeom>
          <a:noFill/>
          <a:ln/>
        </p:spPr>
        <p:txBody>
          <a:bodyPr wrap="square" lIns="0" tIns="0" rIns="0" bIns="0" rtlCol="0" anchor="ctr"/>
          <a:lstStyle/>
          <a:p>
            <a:pPr indent="0" marL="0">
              <a:buNone/>
            </a:pPr>
            <a:r>
              <a:rPr lang="en-US" sz="1100" i="1" dirty="0">
                <a:solidFill>
                  <a:srgbClr val="1B2A33"/>
                </a:solidFill>
                <a:latin typeface="Calibri" pitchFamily="34" charset="0"/>
                <a:ea typeface="Calibri" pitchFamily="34" charset="-122"/>
                <a:cs typeface="Calibri" pitchFamily="34" charset="-120"/>
              </a:rPr>
              <a:t>Every paper was checked against the arXiv API for title, authors and date before we cited it.</a:t>
            </a:r>
            <a:endParaRPr lang="en-US" sz="1100" dirty="0"/>
          </a:p>
        </p:txBody>
      </p:sp>
      <p:sp>
        <p:nvSpPr>
          <p:cNvPr id="18" name="Text 15"/>
          <p:cNvSpPr/>
          <p:nvPr/>
        </p:nvSpPr>
        <p:spPr>
          <a:xfrm>
            <a:off x="11109960" y="6355080"/>
            <a:ext cx="457200" cy="274320"/>
          </a:xfrm>
          <a:prstGeom prst="rect">
            <a:avLst/>
          </a:prstGeom>
          <a:noFill/>
          <a:ln/>
        </p:spPr>
        <p:txBody>
          <a:bodyPr wrap="square" lIns="0" tIns="0" rIns="0" bIns="0"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a:ln/>
        </p:spPr>
      </p:sp>
      <p:sp>
        <p:nvSpPr>
          <p:cNvPr id="3" name="Text 1"/>
          <p:cNvSpPr/>
          <p:nvPr/>
        </p:nvSpPr>
        <p:spPr>
          <a:xfrm>
            <a:off x="59436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p:nvPr/>
        </p:nvSpPr>
        <p:spPr>
          <a:xfrm>
            <a:off x="1014984" y="384048"/>
            <a:ext cx="5486400" cy="310896"/>
          </a:xfrm>
          <a:prstGeom prst="rect">
            <a:avLst/>
          </a:prstGeom>
          <a:noFill/>
          <a:ln/>
        </p:spPr>
        <p:txBody>
          <a:bodyPr wrap="square" lIns="0" tIns="0" rIns="0" bIns="0" rtlCol="0" anchor="ctr"/>
          <a:lstStyle/>
          <a:p>
            <a:pPr indent="0" marL="0">
              <a:buNone/>
            </a:pPr>
            <a:r>
              <a:rPr lang="en-US" sz="1050" b="1" spc="160" kern="0" dirty="0">
                <a:solidFill>
                  <a:srgbClr val="5A6B78"/>
                </a:solidFill>
                <a:latin typeface="Calibri" pitchFamily="34" charset="0"/>
                <a:ea typeface="Calibri" pitchFamily="34" charset="-122"/>
                <a:cs typeface="Calibri" pitchFamily="34" charset="-120"/>
              </a:rPr>
              <a:t>LITERATURE REVIEW</a:t>
            </a:r>
            <a:endParaRPr lang="en-US" sz="1050" dirty="0"/>
          </a:p>
        </p:txBody>
      </p:sp>
      <p:sp>
        <p:nvSpPr>
          <p:cNvPr id="5" name="Text 3"/>
          <p:cNvSpPr/>
          <p:nvPr/>
        </p:nvSpPr>
        <p:spPr>
          <a:xfrm>
            <a:off x="594360" y="841248"/>
            <a:ext cx="10972800" cy="658368"/>
          </a:xfrm>
          <a:prstGeom prst="rect">
            <a:avLst/>
          </a:prstGeom>
          <a:noFill/>
          <a:ln/>
        </p:spPr>
        <p:txBody>
          <a:bodyPr wrap="square" lIns="0" tIns="0" rIns="0" bIns="0" rtlCol="0" anchor="ctr"/>
          <a:lstStyle/>
          <a:p>
            <a:pPr indent="0" marL="0">
              <a:buNone/>
            </a:pPr>
            <a:r>
              <a:rPr lang="en-US" sz="3000" b="1" dirty="0">
                <a:solidFill>
                  <a:srgbClr val="1B2A33"/>
                </a:solidFill>
                <a:latin typeface="Cambria" pitchFamily="34" charset="0"/>
                <a:ea typeface="Cambria" pitchFamily="34" charset="-122"/>
                <a:cs typeface="Cambria" pitchFamily="34" charset="-120"/>
              </a:rPr>
              <a:t>The papers that shaped our design</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 y="1645920"/>
          <a:ext cx="10972800" cy="914400"/>
        </p:xfrm>
        <a:graphic>
          <a:graphicData uri="http://schemas.openxmlformats.org/drawingml/2006/table">
            <a:tbl>
              <a:tblPr/>
              <a:tblGrid>
                <a:gridCol w="3200400"/>
                <a:gridCol w="3931920"/>
                <a:gridCol w="3840480"/>
              </a:tblGrid>
              <a:tr h="548640">
                <a:tc>
                  <a:txBody>
                    <a:bodyPr/>
                    <a:lstStyle/>
                    <a:p>
                      <a:pPr indent="0" marL="0">
                        <a:buNone/>
                      </a:pPr>
                      <a:r>
                        <a:rPr lang="en-US" sz="1000" b="1" dirty="0">
                          <a:solidFill>
                            <a:srgbClr val="1B2A33"/>
                          </a:solidFill>
                          <a:latin typeface="Calibri" pitchFamily="34" charset="0"/>
                          <a:ea typeface="Calibri" pitchFamily="34" charset="-122"/>
                          <a:cs typeface="Calibri" pitchFamily="34" charset="-120"/>
                        </a:rPr>
                        <a:t>Paper</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000" b="1" dirty="0">
                          <a:solidFill>
                            <a:srgbClr val="1B2A33"/>
                          </a:solidFill>
                          <a:latin typeface="Calibri" pitchFamily="34" charset="0"/>
                          <a:ea typeface="Calibri" pitchFamily="34" charset="-122"/>
                          <a:cs typeface="Calibri" pitchFamily="34" charset="-120"/>
                        </a:rPr>
                        <a:t>What it gave us</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000" b="1" dirty="0">
                          <a:solidFill>
                            <a:srgbClr val="1B2A33"/>
                          </a:solidFill>
                          <a:latin typeface="Calibri" pitchFamily="34" charset="0"/>
                          <a:ea typeface="Calibri" pitchFamily="34" charset="-122"/>
                          <a:cs typeface="Calibri" pitchFamily="34" charset="-120"/>
                        </a:rPr>
                        <a:t>Where it stops</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548640">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Ohm et al. 2020</a:t>
                      </a:r>
                      <a:endParaRPr lang="en-US" sz="1000" dirty="0">
                        <a:latin typeface="Calibri" charset="0"/>
                        <a:ea typeface="Calibri" charset="0"/>
                        <a:cs typeface="Calibri" charset="0"/>
                      </a:endParaRPr>
                    </a:p>
                    <a:p>
                      <a:pPr indent="0" marL="0">
                        <a:buNone/>
                      </a:pPr>
                      <a:r>
                        <a:rPr lang="en-US" sz="1000" dirty="0">
                          <a:solidFill>
                            <a:srgbClr val="1B2A33"/>
                          </a:solidFill>
                          <a:latin typeface="Calibri" pitchFamily="34" charset="0"/>
                          <a:ea typeface="Calibri" pitchFamily="34" charset="-122"/>
                          <a:cs typeface="Calibri" pitchFamily="34" charset="-120"/>
                        </a:rPr>
                        <a:t>Backstabber’s Knife Collection</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The first real dataset of supply chain attacks. Showed install hooks are the main way payloads run.</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Only 174 samples, and it predates the recent jump in volume.</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548640">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Zimmermann et al. 2019</a:t>
                      </a:r>
                      <a:endParaRPr lang="en-US" sz="1000" dirty="0">
                        <a:latin typeface="Calibri" charset="0"/>
                        <a:ea typeface="Calibri" charset="0"/>
                        <a:cs typeface="Calibri" charset="0"/>
                      </a:endParaRPr>
                    </a:p>
                    <a:p>
                      <a:pPr indent="0" marL="0">
                        <a:buNone/>
                      </a:pPr>
                      <a:r>
                        <a:rPr lang="en-US" sz="1000" dirty="0">
                          <a:solidFill>
                            <a:srgbClr val="1B2A33"/>
                          </a:solidFill>
                          <a:latin typeface="Calibri" pitchFamily="34" charset="0"/>
                          <a:ea typeface="Calibri" pitchFamily="34" charset="-122"/>
                          <a:cs typeface="Calibri" pitchFamily="34" charset="-120"/>
                        </a:rPr>
                        <a:t>Small World with High Risks</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Measured how far trust spreads. A few npm accounts can reach most of the ecosystem.</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Describes the structure. Does not detect anything.</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548640">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Samaana et al. 2024</a:t>
                      </a:r>
                      <a:endParaRPr lang="en-US" sz="1000" dirty="0">
                        <a:latin typeface="Calibri" charset="0"/>
                        <a:ea typeface="Calibri" charset="0"/>
                        <a:cs typeface="Calibri" charset="0"/>
                      </a:endParaRPr>
                    </a:p>
                    <a:p>
                      <a:pPr indent="0" marL="0">
                        <a:buNone/>
                      </a:pPr>
                      <a:r>
                        <a:rPr lang="en-US" sz="1000" dirty="0">
                          <a:solidFill>
                            <a:srgbClr val="1B2A33"/>
                          </a:solidFill>
                          <a:latin typeface="Calibri" pitchFamily="34" charset="0"/>
                          <a:ea typeface="Calibri" pitchFamily="34" charset="-122"/>
                          <a:cs typeface="Calibri" pitchFamily="34" charset="-120"/>
                        </a:rPr>
                        <a:t>ML for malicious PyPI packages</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Closest work to ours. Classical ML over static features.</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PyPI only, and no reachability. Notes that edit distance alone gives poor typosquat results.</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548640">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Zahan et al. 2024</a:t>
                      </a:r>
                      <a:endParaRPr lang="en-US" sz="1000" dirty="0">
                        <a:latin typeface="Calibri" charset="0"/>
                        <a:ea typeface="Calibri" charset="0"/>
                        <a:cs typeface="Calibri" charset="0"/>
                      </a:endParaRPr>
                    </a:p>
                    <a:p>
                      <a:pPr indent="0" marL="0">
                        <a:buNone/>
                      </a:pPr>
                      <a:r>
                        <a:rPr lang="en-US" sz="1000" dirty="0">
                          <a:solidFill>
                            <a:srgbClr val="1B2A33"/>
                          </a:solidFill>
                          <a:latin typeface="Calibri" pitchFamily="34" charset="0"/>
                          <a:ea typeface="Calibri" pitchFamily="34" charset="-122"/>
                          <a:cs typeface="Calibri" pitchFamily="34" charset="-120"/>
                        </a:rPr>
                        <a:t>LLMs to detect npm malware</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Showed LLMs can spot malicious packages.</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Slow, costly, and hard to report stable precision and recall.</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548640">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Foo et al. 2019</a:t>
                      </a:r>
                      <a:endParaRPr lang="en-US" sz="1000" dirty="0">
                        <a:latin typeface="Calibri" charset="0"/>
                        <a:ea typeface="Calibri" charset="0"/>
                        <a:cs typeface="Calibri" charset="0"/>
                      </a:endParaRPr>
                    </a:p>
                    <a:p>
                      <a:pPr indent="0" marL="0">
                        <a:buNone/>
                      </a:pPr>
                      <a:r>
                        <a:rPr lang="en-US" sz="1000" dirty="0">
                          <a:solidFill>
                            <a:srgbClr val="1B2A33"/>
                          </a:solidFill>
                          <a:latin typeface="Calibri" pitchFamily="34" charset="0"/>
                          <a:ea typeface="Calibri" pitchFamily="34" charset="-122"/>
                          <a:cs typeface="Calibri" pitchFamily="34" charset="-120"/>
                        </a:rPr>
                        <a:t>Dynamics of Software Composition Analysis</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Named reachability as the way to kill false positives in SCA.</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No implementation was released.</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r h="548640">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O’Donoghue et al. 2025</a:t>
                      </a:r>
                      <a:endParaRPr lang="en-US" sz="1000" dirty="0">
                        <a:latin typeface="Calibri" charset="0"/>
                        <a:ea typeface="Calibri" charset="0"/>
                        <a:cs typeface="Calibri" charset="0"/>
                      </a:endParaRPr>
                    </a:p>
                    <a:p>
                      <a:pPr indent="0" marL="0">
                        <a:buNone/>
                      </a:pPr>
                      <a:r>
                        <a:rPr lang="en-US" sz="1000" dirty="0">
                          <a:solidFill>
                            <a:srgbClr val="1B2A33"/>
                          </a:solidFill>
                          <a:latin typeface="Calibri" pitchFamily="34" charset="0"/>
                          <a:ea typeface="Calibri" pitchFamily="34" charset="-122"/>
                          <a:cs typeface="Calibri" pitchFamily="34" charset="-120"/>
                        </a:rPr>
                        <a:t>SBOM systematic review</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Reviewed 40 studies. False positives are still a top barrier.</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c>
                  <a:txBody>
                    <a:bodyPr/>
                    <a:lstStyle/>
                    <a:p>
                      <a:pPr indent="0" marL="0">
                        <a:buNone/>
                      </a:pPr>
                      <a:r>
                        <a:rPr lang="en-US" sz="1000" dirty="0">
                          <a:solidFill>
                            <a:srgbClr val="1B2A33"/>
                          </a:solidFill>
                          <a:latin typeface="Calibri" pitchFamily="34" charset="0"/>
                          <a:ea typeface="Calibri" pitchFamily="34" charset="-122"/>
                          <a:cs typeface="Calibri" pitchFamily="34" charset="-120"/>
                        </a:rPr>
                        <a:t>Confirms the problem is open. Does not solve it.</a:t>
                      </a:r>
                      <a:endParaRPr lang="en-US" sz="1000" dirty="0">
                        <a:latin typeface="Calibri" charset="0"/>
                        <a:ea typeface="Calibri" charset="0"/>
                        <a:cs typeface="Calibri" charset="0"/>
                      </a:endParaRPr>
                    </a:p>
                  </a:txBody>
                  <a:tcPr marL="109728" marR="109728" marT="54864" marB="54864" anchor="ctr">
                    <a:lnL w="12700" cap="flat" cmpd="sng" algn="ctr">
                      <a:solidFill>
                        <a:srgbClr val="E2EAEE"/>
                      </a:solidFill>
                      <a:prstDash val="solid"/>
                      <a:round/>
                      <a:headEnd type="none" w="med" len="med"/>
                      <a:tailEnd type="none" w="med" len="med"/>
                    </a:lnL>
                    <a:lnR w="12700" cap="flat" cmpd="sng" algn="ctr">
                      <a:solidFill>
                        <a:srgbClr val="E2EAEE"/>
                      </a:solidFill>
                      <a:prstDash val="solid"/>
                      <a:round/>
                      <a:headEnd type="none" w="med" len="med"/>
                      <a:tailEnd type="none" w="med" len="med"/>
                    </a:lnR>
                    <a:lnT w="12700" cap="flat" cmpd="sng" algn="ctr">
                      <a:solidFill>
                        <a:srgbClr val="E2EAEE"/>
                      </a:solidFill>
                      <a:prstDash val="solid"/>
                      <a:round/>
                      <a:headEnd type="none" w="med" len="med"/>
                      <a:tailEnd type="none" w="med" len="med"/>
                    </a:lnT>
                    <a:lnB w="12700" cap="flat" cmpd="sng" algn="ctr">
                      <a:solidFill>
                        <a:srgbClr val="E2EAEE"/>
                      </a:solidFill>
                      <a:prstDash val="solid"/>
                      <a:round/>
                      <a:headEnd type="none" w="med" len="med"/>
                      <a:tailEnd type="none" w="med" len="med"/>
                    </a:lnB>
                    <a:solidFill>
                      <a:srgbClr val="FFFFFF"/>
                    </a:solidFill>
                  </a:tcPr>
                </a:tc>
              </a:tr>
            </a:tbl>
          </a:graphicData>
        </a:graphic>
      </p:graphicFrame>
      <p:sp>
        <p:nvSpPr>
          <p:cNvPr id="7" name="Text 4"/>
          <p:cNvSpPr/>
          <p:nvPr/>
        </p:nvSpPr>
        <p:spPr>
          <a:xfrm>
            <a:off x="11109960" y="6355080"/>
            <a:ext cx="457200" cy="274320"/>
          </a:xfrm>
          <a:prstGeom prst="rect">
            <a:avLst/>
          </a:prstGeom>
          <a:noFill/>
          <a:ln/>
        </p:spPr>
        <p:txBody>
          <a:bodyPr wrap="square" lIns="0" tIns="0" rIns="0" bIns="0"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a:ln/>
        </p:spPr>
      </p:sp>
      <p:sp>
        <p:nvSpPr>
          <p:cNvPr id="3" name="Text 1"/>
          <p:cNvSpPr/>
          <p:nvPr/>
        </p:nvSpPr>
        <p:spPr>
          <a:xfrm>
            <a:off x="59436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p:nvPr/>
        </p:nvSpPr>
        <p:spPr>
          <a:xfrm>
            <a:off x="1014984" y="384048"/>
            <a:ext cx="5486400" cy="310896"/>
          </a:xfrm>
          <a:prstGeom prst="rect">
            <a:avLst/>
          </a:prstGeom>
          <a:noFill/>
          <a:ln/>
        </p:spPr>
        <p:txBody>
          <a:bodyPr wrap="square" lIns="0" tIns="0" rIns="0" bIns="0" rtlCol="0" anchor="ctr"/>
          <a:lstStyle/>
          <a:p>
            <a:pPr indent="0" marL="0">
              <a:buNone/>
            </a:pPr>
            <a:r>
              <a:rPr lang="en-US" sz="1050" b="1" spc="160" kern="0" dirty="0">
                <a:solidFill>
                  <a:srgbClr val="5A6B78"/>
                </a:solidFill>
                <a:latin typeface="Calibri" pitchFamily="34" charset="0"/>
                <a:ea typeface="Calibri" pitchFamily="34" charset="-122"/>
                <a:cs typeface="Calibri" pitchFamily="34" charset="-120"/>
              </a:rPr>
              <a:t>LITERATURE REVIEW</a:t>
            </a:r>
            <a:endParaRPr lang="en-US" sz="1050" dirty="0"/>
          </a:p>
        </p:txBody>
      </p:sp>
      <p:sp>
        <p:nvSpPr>
          <p:cNvPr id="5" name="Text 3"/>
          <p:cNvSpPr/>
          <p:nvPr/>
        </p:nvSpPr>
        <p:spPr>
          <a:xfrm>
            <a:off x="594360" y="841248"/>
            <a:ext cx="10972800" cy="658368"/>
          </a:xfrm>
          <a:prstGeom prst="rect">
            <a:avLst/>
          </a:prstGeom>
          <a:noFill/>
          <a:ln/>
        </p:spPr>
        <p:txBody>
          <a:bodyPr wrap="square" lIns="0" tIns="0" rIns="0" bIns="0" rtlCol="0" anchor="ctr"/>
          <a:lstStyle/>
          <a:p>
            <a:pPr indent="0" marL="0">
              <a:buNone/>
            </a:pPr>
            <a:r>
              <a:rPr lang="en-US" sz="3000" b="1" dirty="0">
                <a:solidFill>
                  <a:srgbClr val="1B2A33"/>
                </a:solidFill>
                <a:latin typeface="Cambria" pitchFamily="34" charset="0"/>
                <a:ea typeface="Cambria" pitchFamily="34" charset="-122"/>
                <a:cs typeface="Cambria" pitchFamily="34" charset="-120"/>
              </a:rPr>
              <a:t>Four gaps we found, and what we did about each</a:t>
            </a:r>
            <a:endParaRPr lang="en-US" sz="3000" dirty="0"/>
          </a:p>
        </p:txBody>
      </p:sp>
      <p:sp>
        <p:nvSpPr>
          <p:cNvPr id="6" name="Shape 4"/>
          <p:cNvSpPr/>
          <p:nvPr/>
        </p:nvSpPr>
        <p:spPr>
          <a:xfrm>
            <a:off x="594360" y="1645920"/>
            <a:ext cx="5349240" cy="1874520"/>
          </a:xfrm>
          <a:prstGeom prst="roundRect">
            <a:avLst>
              <a:gd name="adj" fmla="val 2927"/>
            </a:avLst>
          </a:prstGeom>
          <a:solidFill>
            <a:srgbClr val="FFFFFF"/>
          </a:solidFill>
          <a:ln w="12700">
            <a:solidFill>
              <a:srgbClr val="E2EAEE"/>
            </a:solidFill>
            <a:prstDash val="solid"/>
          </a:ln>
        </p:spPr>
      </p:sp>
      <p:sp>
        <p:nvSpPr>
          <p:cNvPr id="7" name="Shape 5"/>
          <p:cNvSpPr/>
          <p:nvPr/>
        </p:nvSpPr>
        <p:spPr>
          <a:xfrm>
            <a:off x="868680" y="1901952"/>
            <a:ext cx="457200" cy="274320"/>
          </a:xfrm>
          <a:prstGeom prst="rect">
            <a:avLst/>
          </a:prstGeom>
          <a:solidFill>
            <a:srgbClr val="D64545"/>
          </a:solidFill>
          <a:ln/>
        </p:spPr>
      </p:sp>
      <p:sp>
        <p:nvSpPr>
          <p:cNvPr id="8" name="Text 6"/>
          <p:cNvSpPr/>
          <p:nvPr/>
        </p:nvSpPr>
        <p:spPr>
          <a:xfrm>
            <a:off x="868680" y="1901952"/>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G1</a:t>
            </a:r>
            <a:endParaRPr lang="en-US" sz="1100" dirty="0"/>
          </a:p>
        </p:txBody>
      </p:sp>
      <p:sp>
        <p:nvSpPr>
          <p:cNvPr id="9" name="Text 7"/>
          <p:cNvSpPr/>
          <p:nvPr/>
        </p:nvSpPr>
        <p:spPr>
          <a:xfrm>
            <a:off x="1435608" y="1847088"/>
            <a:ext cx="4297680" cy="411480"/>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Detection and prioritisation are studied separately</a:t>
            </a:r>
            <a:endParaRPr lang="en-US" sz="1250" dirty="0"/>
          </a:p>
        </p:txBody>
      </p:sp>
      <p:sp>
        <p:nvSpPr>
          <p:cNvPr id="10" name="Text 8"/>
          <p:cNvSpPr/>
          <p:nvPr/>
        </p:nvSpPr>
        <p:spPr>
          <a:xfrm>
            <a:off x="868680" y="2331720"/>
            <a:ext cx="4800600" cy="54864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No paper we read does both. A developer needs both on the same project.</a:t>
            </a:r>
            <a:endParaRPr lang="en-US" sz="1050" dirty="0"/>
          </a:p>
        </p:txBody>
      </p:sp>
      <p:sp>
        <p:nvSpPr>
          <p:cNvPr id="11" name="Text 9"/>
          <p:cNvSpPr/>
          <p:nvPr/>
        </p:nvSpPr>
        <p:spPr>
          <a:xfrm>
            <a:off x="868680" y="2880360"/>
            <a:ext cx="4800600" cy="502920"/>
          </a:xfrm>
          <a:prstGeom prst="rect">
            <a:avLst/>
          </a:prstGeom>
          <a:noFill/>
          <a:ln/>
        </p:spPr>
        <p:txBody>
          <a:bodyPr wrap="square" lIns="0" tIns="0" rIns="0" bIns="0" rtlCol="0" anchor="ctr"/>
          <a:lstStyle/>
          <a:p>
            <a:pPr indent="0" marL="0">
              <a:buNone/>
            </a:pPr>
            <a:r>
              <a:rPr lang="en-US" sz="1050" b="1" dirty="0">
                <a:solidFill>
                  <a:srgbClr val="0B7A5A"/>
                </a:solidFill>
                <a:latin typeface="Calibri" pitchFamily="34" charset="0"/>
                <a:ea typeface="Calibri" pitchFamily="34" charset="-122"/>
                <a:cs typeface="Calibri" pitchFamily="34" charset="-120"/>
              </a:rPr>
              <a:t>Our answer:  One pipeline runs both over the same dependency tree.</a:t>
            </a:r>
            <a:endParaRPr lang="en-US" sz="1050" dirty="0"/>
          </a:p>
        </p:txBody>
      </p:sp>
      <p:sp>
        <p:nvSpPr>
          <p:cNvPr id="12" name="Shape 10"/>
          <p:cNvSpPr/>
          <p:nvPr/>
        </p:nvSpPr>
        <p:spPr>
          <a:xfrm>
            <a:off x="6217920" y="1645920"/>
            <a:ext cx="5349240" cy="1874520"/>
          </a:xfrm>
          <a:prstGeom prst="roundRect">
            <a:avLst>
              <a:gd name="adj" fmla="val 2927"/>
            </a:avLst>
          </a:prstGeom>
          <a:solidFill>
            <a:srgbClr val="FFFFFF"/>
          </a:solidFill>
          <a:ln w="12700">
            <a:solidFill>
              <a:srgbClr val="E2EAEE"/>
            </a:solidFill>
            <a:prstDash val="solid"/>
          </a:ln>
        </p:spPr>
      </p:sp>
      <p:sp>
        <p:nvSpPr>
          <p:cNvPr id="13" name="Shape 11"/>
          <p:cNvSpPr/>
          <p:nvPr/>
        </p:nvSpPr>
        <p:spPr>
          <a:xfrm>
            <a:off x="6492240" y="1901952"/>
            <a:ext cx="457200" cy="274320"/>
          </a:xfrm>
          <a:prstGeom prst="rect">
            <a:avLst/>
          </a:prstGeom>
          <a:solidFill>
            <a:srgbClr val="D64545"/>
          </a:solidFill>
          <a:ln/>
        </p:spPr>
      </p:sp>
      <p:sp>
        <p:nvSpPr>
          <p:cNvPr id="14" name="Text 12"/>
          <p:cNvSpPr/>
          <p:nvPr/>
        </p:nvSpPr>
        <p:spPr>
          <a:xfrm>
            <a:off x="6492240" y="1901952"/>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G2</a:t>
            </a:r>
            <a:endParaRPr lang="en-US" sz="1100" dirty="0"/>
          </a:p>
        </p:txBody>
      </p:sp>
      <p:sp>
        <p:nvSpPr>
          <p:cNvPr id="15" name="Text 13"/>
          <p:cNvSpPr/>
          <p:nvPr/>
        </p:nvSpPr>
        <p:spPr>
          <a:xfrm>
            <a:off x="7059168" y="1847088"/>
            <a:ext cx="4297680" cy="411480"/>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Reachability is recommended but rarely built for npm and PyPI</a:t>
            </a:r>
            <a:endParaRPr lang="en-US" sz="1250" dirty="0"/>
          </a:p>
        </p:txBody>
      </p:sp>
      <p:sp>
        <p:nvSpPr>
          <p:cNvPr id="16" name="Text 14"/>
          <p:cNvSpPr/>
          <p:nvPr/>
        </p:nvSpPr>
        <p:spPr>
          <a:xfrm>
            <a:off x="6492240" y="2331720"/>
            <a:ext cx="4800600" cy="54864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Advisories for these ecosystems almost never say which function is vulnerable.</a:t>
            </a:r>
            <a:endParaRPr lang="en-US" sz="1050" dirty="0"/>
          </a:p>
        </p:txBody>
      </p:sp>
      <p:sp>
        <p:nvSpPr>
          <p:cNvPr id="17" name="Text 15"/>
          <p:cNvSpPr/>
          <p:nvPr/>
        </p:nvSpPr>
        <p:spPr>
          <a:xfrm>
            <a:off x="6492240" y="2880360"/>
            <a:ext cx="4800600" cy="502920"/>
          </a:xfrm>
          <a:prstGeom prst="rect">
            <a:avLst/>
          </a:prstGeom>
          <a:noFill/>
          <a:ln/>
        </p:spPr>
        <p:txBody>
          <a:bodyPr wrap="square" lIns="0" tIns="0" rIns="0" bIns="0" rtlCol="0" anchor="ctr"/>
          <a:lstStyle/>
          <a:p>
            <a:pPr indent="0" marL="0">
              <a:buNone/>
            </a:pPr>
            <a:r>
              <a:rPr lang="en-US" sz="1050" b="1" dirty="0">
                <a:solidFill>
                  <a:srgbClr val="0B7A5A"/>
                </a:solidFill>
                <a:latin typeface="Calibri" pitchFamily="34" charset="0"/>
                <a:ea typeface="Calibri" pitchFamily="34" charset="-122"/>
                <a:cs typeface="Calibri" pitchFamily="34" charset="-120"/>
              </a:rPr>
              <a:t>Our answer:  We pull symbols from three sources and report which one was used.</a:t>
            </a:r>
            <a:endParaRPr lang="en-US" sz="1050" dirty="0"/>
          </a:p>
        </p:txBody>
      </p:sp>
      <p:sp>
        <p:nvSpPr>
          <p:cNvPr id="18" name="Shape 16"/>
          <p:cNvSpPr/>
          <p:nvPr/>
        </p:nvSpPr>
        <p:spPr>
          <a:xfrm>
            <a:off x="594360" y="3749040"/>
            <a:ext cx="5349240" cy="1874520"/>
          </a:xfrm>
          <a:prstGeom prst="roundRect">
            <a:avLst>
              <a:gd name="adj" fmla="val 2927"/>
            </a:avLst>
          </a:prstGeom>
          <a:solidFill>
            <a:srgbClr val="FFFFFF"/>
          </a:solidFill>
          <a:ln w="12700">
            <a:solidFill>
              <a:srgbClr val="E2EAEE"/>
            </a:solidFill>
            <a:prstDash val="solid"/>
          </a:ln>
        </p:spPr>
      </p:sp>
      <p:sp>
        <p:nvSpPr>
          <p:cNvPr id="19" name="Shape 17"/>
          <p:cNvSpPr/>
          <p:nvPr/>
        </p:nvSpPr>
        <p:spPr>
          <a:xfrm>
            <a:off x="868680" y="4005072"/>
            <a:ext cx="457200" cy="274320"/>
          </a:xfrm>
          <a:prstGeom prst="rect">
            <a:avLst/>
          </a:prstGeom>
          <a:solidFill>
            <a:srgbClr val="D64545"/>
          </a:solidFill>
          <a:ln/>
        </p:spPr>
      </p:sp>
      <p:sp>
        <p:nvSpPr>
          <p:cNvPr id="20" name="Text 18"/>
          <p:cNvSpPr/>
          <p:nvPr/>
        </p:nvSpPr>
        <p:spPr>
          <a:xfrm>
            <a:off x="868680" y="4005072"/>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G3</a:t>
            </a:r>
            <a:endParaRPr lang="en-US" sz="1100" dirty="0"/>
          </a:p>
        </p:txBody>
      </p:sp>
      <p:sp>
        <p:nvSpPr>
          <p:cNvPr id="21" name="Text 19"/>
          <p:cNvSpPr/>
          <p:nvPr/>
        </p:nvSpPr>
        <p:spPr>
          <a:xfrm>
            <a:off x="1435608" y="3950208"/>
            <a:ext cx="4297680" cy="411480"/>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Evaluation details are usually missing</a:t>
            </a:r>
            <a:endParaRPr lang="en-US" sz="1250" dirty="0"/>
          </a:p>
        </p:txBody>
      </p:sp>
      <p:sp>
        <p:nvSpPr>
          <p:cNvPr id="22" name="Text 20"/>
          <p:cNvSpPr/>
          <p:nvPr/>
        </p:nvSpPr>
        <p:spPr>
          <a:xfrm>
            <a:off x="868680" y="4434840"/>
            <a:ext cx="4800600" cy="54864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Grouping, leakage and baselines are rarely discussed, so results are hard to trust.</a:t>
            </a:r>
            <a:endParaRPr lang="en-US" sz="1050" dirty="0"/>
          </a:p>
        </p:txBody>
      </p:sp>
      <p:sp>
        <p:nvSpPr>
          <p:cNvPr id="23" name="Text 21"/>
          <p:cNvSpPr/>
          <p:nvPr/>
        </p:nvSpPr>
        <p:spPr>
          <a:xfrm>
            <a:off x="868680" y="4983480"/>
            <a:ext cx="4800600" cy="502920"/>
          </a:xfrm>
          <a:prstGeom prst="rect">
            <a:avLst/>
          </a:prstGeom>
          <a:noFill/>
          <a:ln/>
        </p:spPr>
        <p:txBody>
          <a:bodyPr wrap="square" lIns="0" tIns="0" rIns="0" bIns="0" rtlCol="0" anchor="ctr"/>
          <a:lstStyle/>
          <a:p>
            <a:pPr indent="0" marL="0">
              <a:buNone/>
            </a:pPr>
            <a:r>
              <a:rPr lang="en-US" sz="1050" b="1" dirty="0">
                <a:solidFill>
                  <a:srgbClr val="0B7A5A"/>
                </a:solidFill>
                <a:latin typeface="Calibri" pitchFamily="34" charset="0"/>
                <a:ea typeface="Calibri" pitchFamily="34" charset="-122"/>
                <a:cs typeface="Calibri" pitchFamily="34" charset="-120"/>
              </a:rPr>
              <a:t>Our answer:  Grouped splits, a rules baseline, and leakage removed by design.</a:t>
            </a:r>
            <a:endParaRPr lang="en-US" sz="1050" dirty="0"/>
          </a:p>
        </p:txBody>
      </p:sp>
      <p:sp>
        <p:nvSpPr>
          <p:cNvPr id="24" name="Shape 22"/>
          <p:cNvSpPr/>
          <p:nvPr/>
        </p:nvSpPr>
        <p:spPr>
          <a:xfrm>
            <a:off x="6217920" y="3749040"/>
            <a:ext cx="5349240" cy="1874520"/>
          </a:xfrm>
          <a:prstGeom prst="roundRect">
            <a:avLst>
              <a:gd name="adj" fmla="val 2927"/>
            </a:avLst>
          </a:prstGeom>
          <a:solidFill>
            <a:srgbClr val="FFFFFF"/>
          </a:solidFill>
          <a:ln w="12700">
            <a:solidFill>
              <a:srgbClr val="E2EAEE"/>
            </a:solidFill>
            <a:prstDash val="solid"/>
          </a:ln>
        </p:spPr>
      </p:sp>
      <p:sp>
        <p:nvSpPr>
          <p:cNvPr id="25" name="Shape 23"/>
          <p:cNvSpPr/>
          <p:nvPr/>
        </p:nvSpPr>
        <p:spPr>
          <a:xfrm>
            <a:off x="6492240" y="4005072"/>
            <a:ext cx="457200" cy="274320"/>
          </a:xfrm>
          <a:prstGeom prst="rect">
            <a:avLst/>
          </a:prstGeom>
          <a:solidFill>
            <a:srgbClr val="D64545"/>
          </a:solidFill>
          <a:ln/>
        </p:spPr>
      </p:sp>
      <p:sp>
        <p:nvSpPr>
          <p:cNvPr id="26" name="Text 24"/>
          <p:cNvSpPr/>
          <p:nvPr/>
        </p:nvSpPr>
        <p:spPr>
          <a:xfrm>
            <a:off x="6492240" y="4005072"/>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G4</a:t>
            </a:r>
            <a:endParaRPr lang="en-US" sz="1100" dirty="0"/>
          </a:p>
        </p:txBody>
      </p:sp>
      <p:sp>
        <p:nvSpPr>
          <p:cNvPr id="27" name="Text 25"/>
          <p:cNvSpPr/>
          <p:nvPr/>
        </p:nvSpPr>
        <p:spPr>
          <a:xfrm>
            <a:off x="7059168" y="3950208"/>
            <a:ext cx="4297680" cy="411480"/>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Explainability is claimed more than delivered</a:t>
            </a:r>
            <a:endParaRPr lang="en-US" sz="1250" dirty="0"/>
          </a:p>
        </p:txBody>
      </p:sp>
      <p:sp>
        <p:nvSpPr>
          <p:cNvPr id="28" name="Text 26"/>
          <p:cNvSpPr/>
          <p:nvPr/>
        </p:nvSpPr>
        <p:spPr>
          <a:xfrm>
            <a:off x="6492240" y="4434840"/>
            <a:ext cx="4800600" cy="54864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Most detectors give a score and nothing else.</a:t>
            </a:r>
            <a:endParaRPr lang="en-US" sz="1050" dirty="0"/>
          </a:p>
        </p:txBody>
      </p:sp>
      <p:sp>
        <p:nvSpPr>
          <p:cNvPr id="29" name="Text 27"/>
          <p:cNvSpPr/>
          <p:nvPr/>
        </p:nvSpPr>
        <p:spPr>
          <a:xfrm>
            <a:off x="6492240" y="4983480"/>
            <a:ext cx="4800600" cy="502920"/>
          </a:xfrm>
          <a:prstGeom prst="rect">
            <a:avLst/>
          </a:prstGeom>
          <a:noFill/>
          <a:ln/>
        </p:spPr>
        <p:txBody>
          <a:bodyPr wrap="square" lIns="0" tIns="0" rIns="0" bIns="0" rtlCol="0" anchor="ctr"/>
          <a:lstStyle/>
          <a:p>
            <a:pPr indent="0" marL="0">
              <a:buNone/>
            </a:pPr>
            <a:r>
              <a:rPr lang="en-US" sz="1050" b="1" dirty="0">
                <a:solidFill>
                  <a:srgbClr val="0B7A5A"/>
                </a:solidFill>
                <a:latin typeface="Calibri" pitchFamily="34" charset="0"/>
                <a:ea typeface="Calibri" pitchFamily="34" charset="-122"/>
                <a:cs typeface="Calibri" pitchFamily="34" charset="-120"/>
              </a:rPr>
              <a:t>Our answer:  Every verdict carries the file, the line and the code that triggered it.</a:t>
            </a:r>
            <a:endParaRPr lang="en-US" sz="1050" dirty="0"/>
          </a:p>
        </p:txBody>
      </p:sp>
      <p:sp>
        <p:nvSpPr>
          <p:cNvPr id="30" name="Text 28"/>
          <p:cNvSpPr/>
          <p:nvPr/>
        </p:nvSpPr>
        <p:spPr>
          <a:xfrm>
            <a:off x="11109960" y="6355080"/>
            <a:ext cx="457200" cy="274320"/>
          </a:xfrm>
          <a:prstGeom prst="rect">
            <a:avLst/>
          </a:prstGeom>
          <a:noFill/>
          <a:ln/>
        </p:spPr>
        <p:txBody>
          <a:bodyPr wrap="square" lIns="0" tIns="0" rIns="0" bIns="0"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a:ln/>
        </p:spPr>
      </p:sp>
      <p:sp>
        <p:nvSpPr>
          <p:cNvPr id="3" name="Text 1"/>
          <p:cNvSpPr/>
          <p:nvPr/>
        </p:nvSpPr>
        <p:spPr>
          <a:xfrm>
            <a:off x="59436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p:nvPr/>
        </p:nvSpPr>
        <p:spPr>
          <a:xfrm>
            <a:off x="1014984" y="384048"/>
            <a:ext cx="5486400" cy="310896"/>
          </a:xfrm>
          <a:prstGeom prst="rect">
            <a:avLst/>
          </a:prstGeom>
          <a:noFill/>
          <a:ln/>
        </p:spPr>
        <p:txBody>
          <a:bodyPr wrap="square" lIns="0" tIns="0" rIns="0" bIns="0" rtlCol="0" anchor="ctr"/>
          <a:lstStyle/>
          <a:p>
            <a:pPr indent="0" marL="0">
              <a:buNone/>
            </a:pPr>
            <a:r>
              <a:rPr lang="en-US" sz="1050" b="1" spc="160" kern="0" dirty="0">
                <a:solidFill>
                  <a:srgbClr val="5A6B78"/>
                </a:solidFill>
                <a:latin typeface="Calibri" pitchFamily="34" charset="0"/>
                <a:ea typeface="Calibri" pitchFamily="34" charset="-122"/>
                <a:cs typeface="Calibri" pitchFamily="34" charset="-120"/>
              </a:rPr>
              <a:t>DESIGN OF PROPOSED METHODOLOGY</a:t>
            </a:r>
            <a:endParaRPr lang="en-US" sz="1050" dirty="0"/>
          </a:p>
        </p:txBody>
      </p:sp>
      <p:sp>
        <p:nvSpPr>
          <p:cNvPr id="5" name="Text 3"/>
          <p:cNvSpPr/>
          <p:nvPr/>
        </p:nvSpPr>
        <p:spPr>
          <a:xfrm>
            <a:off x="594360" y="841248"/>
            <a:ext cx="10972800" cy="658368"/>
          </a:xfrm>
          <a:prstGeom prst="rect">
            <a:avLst/>
          </a:prstGeom>
          <a:noFill/>
          <a:ln/>
        </p:spPr>
        <p:txBody>
          <a:bodyPr wrap="square" lIns="0" tIns="0" rIns="0" bIns="0" rtlCol="0" anchor="ctr"/>
          <a:lstStyle/>
          <a:p>
            <a:pPr indent="0" marL="0">
              <a:buNone/>
            </a:pPr>
            <a:r>
              <a:rPr lang="en-US" sz="3000" b="1" dirty="0">
                <a:solidFill>
                  <a:srgbClr val="1B2A33"/>
                </a:solidFill>
                <a:latin typeface="Cambria" pitchFamily="34" charset="0"/>
                <a:ea typeface="Cambria" pitchFamily="34" charset="-122"/>
                <a:cs typeface="Cambria" pitchFamily="34" charset="-120"/>
              </a:rPr>
              <a:t>How a scan actually runs</a:t>
            </a:r>
            <a:endParaRPr lang="en-US" sz="3000" dirty="0"/>
          </a:p>
        </p:txBody>
      </p:sp>
      <p:sp>
        <p:nvSpPr>
          <p:cNvPr id="6" name="Shape 4"/>
          <p:cNvSpPr/>
          <p:nvPr/>
        </p:nvSpPr>
        <p:spPr>
          <a:xfrm>
            <a:off x="594360" y="1828800"/>
            <a:ext cx="2011680" cy="1965960"/>
          </a:xfrm>
          <a:prstGeom prst="roundRect">
            <a:avLst>
              <a:gd name="adj" fmla="val 2791"/>
            </a:avLst>
          </a:prstGeom>
          <a:solidFill>
            <a:srgbClr val="EEF3F5"/>
          </a:solidFill>
          <a:ln w="12700">
            <a:solidFill>
              <a:srgbClr val="E2EAEE"/>
            </a:solidFill>
            <a:prstDash val="solid"/>
          </a:ln>
        </p:spPr>
      </p:sp>
      <p:sp>
        <p:nvSpPr>
          <p:cNvPr id="7" name="Shape 5"/>
          <p:cNvSpPr/>
          <p:nvPr/>
        </p:nvSpPr>
        <p:spPr>
          <a:xfrm>
            <a:off x="850392" y="2048256"/>
            <a:ext cx="384048" cy="384048"/>
          </a:xfrm>
          <a:prstGeom prst="ellipse">
            <a:avLst/>
          </a:prstGeom>
          <a:solidFill>
            <a:srgbClr val="5A6B78"/>
          </a:solidFill>
          <a:ln/>
        </p:spPr>
      </p:sp>
      <p:sp>
        <p:nvSpPr>
          <p:cNvPr id="8" name="Text 6"/>
          <p:cNvSpPr/>
          <p:nvPr/>
        </p:nvSpPr>
        <p:spPr>
          <a:xfrm>
            <a:off x="850392" y="2048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850392" y="2560320"/>
            <a:ext cx="1554480" cy="320040"/>
          </a:xfrm>
          <a:prstGeom prst="rect">
            <a:avLst/>
          </a:prstGeom>
          <a:noFill/>
          <a:ln/>
        </p:spPr>
        <p:txBody>
          <a:bodyPr wrap="square" lIns="0" tIns="0" rIns="0" bIns="0" rtlCol="0" anchor="ctr"/>
          <a:lstStyle/>
          <a:p>
            <a:pPr indent="0" marL="0">
              <a:buNone/>
            </a:pPr>
            <a:r>
              <a:rPr lang="en-US" sz="1500" b="1" dirty="0">
                <a:solidFill>
                  <a:srgbClr val="1B2A33"/>
                </a:solidFill>
                <a:latin typeface="Cambria" pitchFamily="34" charset="0"/>
                <a:ea typeface="Cambria" pitchFamily="34" charset="-122"/>
                <a:cs typeface="Cambria" pitchFamily="34" charset="-120"/>
              </a:rPr>
              <a:t>Parse</a:t>
            </a:r>
            <a:endParaRPr lang="en-US" sz="1500" dirty="0"/>
          </a:p>
        </p:txBody>
      </p:sp>
      <p:sp>
        <p:nvSpPr>
          <p:cNvPr id="10" name="Text 8"/>
          <p:cNvSpPr/>
          <p:nvPr/>
        </p:nvSpPr>
        <p:spPr>
          <a:xfrm>
            <a:off x="850392" y="2889504"/>
            <a:ext cx="1600200" cy="777240"/>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Read package.json or</a:t>
            </a:r>
            <a:endParaRPr lang="en-US" sz="1000" dirty="0"/>
          </a:p>
          <a:p>
            <a:pPr indent="0" marL="0">
              <a:buNone/>
            </a:pPr>
            <a:r>
              <a:rPr lang="en-US" sz="1000" dirty="0">
                <a:solidFill>
                  <a:srgbClr val="5A6B78"/>
                </a:solidFill>
                <a:latin typeface="Calibri" pitchFamily="34" charset="0"/>
                <a:ea typeface="Calibri" pitchFamily="34" charset="-122"/>
                <a:cs typeface="Calibri" pitchFamily="34" charset="-120"/>
              </a:rPr>
              <a:t>requirements.txt</a:t>
            </a:r>
            <a:endParaRPr lang="en-US" sz="1000" dirty="0"/>
          </a:p>
        </p:txBody>
      </p:sp>
      <p:sp>
        <p:nvSpPr>
          <p:cNvPr id="11" name="Shape 9"/>
          <p:cNvSpPr/>
          <p:nvPr/>
        </p:nvSpPr>
        <p:spPr>
          <a:xfrm>
            <a:off x="2642616" y="2697480"/>
            <a:ext cx="182880" cy="201168"/>
          </a:xfrm>
          <a:prstGeom prst="rightArrow">
            <a:avLst/>
          </a:prstGeom>
          <a:solidFill>
            <a:srgbClr val="12B886"/>
          </a:solidFill>
          <a:ln/>
        </p:spPr>
      </p:sp>
      <p:sp>
        <p:nvSpPr>
          <p:cNvPr id="12" name="Shape 10"/>
          <p:cNvSpPr/>
          <p:nvPr/>
        </p:nvSpPr>
        <p:spPr>
          <a:xfrm>
            <a:off x="2843784" y="1828800"/>
            <a:ext cx="2011680" cy="1965960"/>
          </a:xfrm>
          <a:prstGeom prst="roundRect">
            <a:avLst>
              <a:gd name="adj" fmla="val 2791"/>
            </a:avLst>
          </a:prstGeom>
          <a:solidFill>
            <a:srgbClr val="EEF3F5"/>
          </a:solidFill>
          <a:ln w="12700">
            <a:solidFill>
              <a:srgbClr val="E2EAEE"/>
            </a:solidFill>
            <a:prstDash val="solid"/>
          </a:ln>
        </p:spPr>
      </p:sp>
      <p:sp>
        <p:nvSpPr>
          <p:cNvPr id="13" name="Shape 11"/>
          <p:cNvSpPr/>
          <p:nvPr/>
        </p:nvSpPr>
        <p:spPr>
          <a:xfrm>
            <a:off x="3099816" y="2048256"/>
            <a:ext cx="384048" cy="384048"/>
          </a:xfrm>
          <a:prstGeom prst="ellipse">
            <a:avLst/>
          </a:prstGeom>
          <a:solidFill>
            <a:srgbClr val="5A6B78"/>
          </a:solidFill>
          <a:ln/>
        </p:spPr>
      </p:sp>
      <p:sp>
        <p:nvSpPr>
          <p:cNvPr id="14" name="Text 12"/>
          <p:cNvSpPr/>
          <p:nvPr/>
        </p:nvSpPr>
        <p:spPr>
          <a:xfrm>
            <a:off x="3099816" y="2048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3099816" y="2560320"/>
            <a:ext cx="1554480" cy="320040"/>
          </a:xfrm>
          <a:prstGeom prst="rect">
            <a:avLst/>
          </a:prstGeom>
          <a:noFill/>
          <a:ln/>
        </p:spPr>
        <p:txBody>
          <a:bodyPr wrap="square" lIns="0" tIns="0" rIns="0" bIns="0" rtlCol="0" anchor="ctr"/>
          <a:lstStyle/>
          <a:p>
            <a:pPr indent="0" marL="0">
              <a:buNone/>
            </a:pPr>
            <a:r>
              <a:rPr lang="en-US" sz="1500" b="1" dirty="0">
                <a:solidFill>
                  <a:srgbClr val="1B2A33"/>
                </a:solidFill>
                <a:latin typeface="Cambria" pitchFamily="34" charset="0"/>
                <a:ea typeface="Cambria" pitchFamily="34" charset="-122"/>
                <a:cs typeface="Cambria" pitchFamily="34" charset="-120"/>
              </a:rPr>
              <a:t>Resolve</a:t>
            </a:r>
            <a:endParaRPr lang="en-US" sz="1500" dirty="0"/>
          </a:p>
        </p:txBody>
      </p:sp>
      <p:sp>
        <p:nvSpPr>
          <p:cNvPr id="16" name="Text 14"/>
          <p:cNvSpPr/>
          <p:nvPr/>
        </p:nvSpPr>
        <p:spPr>
          <a:xfrm>
            <a:off x="3099816" y="2889504"/>
            <a:ext cx="1600200" cy="777240"/>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Walk the full tree of</a:t>
            </a:r>
            <a:endParaRPr lang="en-US" sz="1000" dirty="0"/>
          </a:p>
          <a:p>
            <a:pPr indent="0" marL="0">
              <a:buNone/>
            </a:pPr>
            <a:r>
              <a:rPr lang="en-US" sz="1000" dirty="0">
                <a:solidFill>
                  <a:srgbClr val="5A6B78"/>
                </a:solidFill>
                <a:latin typeface="Calibri" pitchFamily="34" charset="0"/>
                <a:ea typeface="Calibri" pitchFamily="34" charset="-122"/>
                <a:cs typeface="Calibri" pitchFamily="34" charset="-120"/>
              </a:rPr>
              <a:t>dependencies</a:t>
            </a:r>
            <a:endParaRPr lang="en-US" sz="1000" dirty="0"/>
          </a:p>
        </p:txBody>
      </p:sp>
      <p:sp>
        <p:nvSpPr>
          <p:cNvPr id="17" name="Shape 15"/>
          <p:cNvSpPr/>
          <p:nvPr/>
        </p:nvSpPr>
        <p:spPr>
          <a:xfrm>
            <a:off x="4892040" y="2697480"/>
            <a:ext cx="182880" cy="201168"/>
          </a:xfrm>
          <a:prstGeom prst="rightArrow">
            <a:avLst/>
          </a:prstGeom>
          <a:solidFill>
            <a:srgbClr val="12B886"/>
          </a:solidFill>
          <a:ln/>
        </p:spPr>
      </p:sp>
      <p:sp>
        <p:nvSpPr>
          <p:cNvPr id="18" name="Shape 16"/>
          <p:cNvSpPr/>
          <p:nvPr/>
        </p:nvSpPr>
        <p:spPr>
          <a:xfrm>
            <a:off x="5093208" y="1828800"/>
            <a:ext cx="2011680" cy="1965960"/>
          </a:xfrm>
          <a:prstGeom prst="roundRect">
            <a:avLst>
              <a:gd name="adj" fmla="val 2791"/>
            </a:avLst>
          </a:prstGeom>
          <a:solidFill>
            <a:srgbClr val="FFFFFF"/>
          </a:solidFill>
          <a:ln w="12700">
            <a:solidFill>
              <a:srgbClr val="E2EAEE"/>
            </a:solidFill>
            <a:prstDash val="solid"/>
          </a:ln>
        </p:spPr>
      </p:sp>
      <p:sp>
        <p:nvSpPr>
          <p:cNvPr id="19" name="Shape 17"/>
          <p:cNvSpPr/>
          <p:nvPr/>
        </p:nvSpPr>
        <p:spPr>
          <a:xfrm>
            <a:off x="5349240" y="2048256"/>
            <a:ext cx="384048" cy="384048"/>
          </a:xfrm>
          <a:prstGeom prst="ellipse">
            <a:avLst/>
          </a:prstGeom>
          <a:solidFill>
            <a:srgbClr val="12B886"/>
          </a:solidFill>
          <a:ln/>
        </p:spPr>
      </p:sp>
      <p:sp>
        <p:nvSpPr>
          <p:cNvPr id="20" name="Text 18"/>
          <p:cNvSpPr/>
          <p:nvPr/>
        </p:nvSpPr>
        <p:spPr>
          <a:xfrm>
            <a:off x="5349240" y="2048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5349240" y="2560320"/>
            <a:ext cx="1554480" cy="320040"/>
          </a:xfrm>
          <a:prstGeom prst="rect">
            <a:avLst/>
          </a:prstGeom>
          <a:noFill/>
          <a:ln/>
        </p:spPr>
        <p:txBody>
          <a:bodyPr wrap="square" lIns="0" tIns="0" rIns="0" bIns="0" rtlCol="0" anchor="ctr"/>
          <a:lstStyle/>
          <a:p>
            <a:pPr indent="0" marL="0">
              <a:buNone/>
            </a:pPr>
            <a:r>
              <a:rPr lang="en-US" sz="1500" b="1" dirty="0">
                <a:solidFill>
                  <a:srgbClr val="1B2A33"/>
                </a:solidFill>
                <a:latin typeface="Cambria" pitchFamily="34" charset="0"/>
                <a:ea typeface="Cambria" pitchFamily="34" charset="-122"/>
                <a:cs typeface="Cambria" pitchFamily="34" charset="-120"/>
              </a:rPr>
              <a:t>Detect</a:t>
            </a:r>
            <a:endParaRPr lang="en-US" sz="1500" dirty="0"/>
          </a:p>
        </p:txBody>
      </p:sp>
      <p:sp>
        <p:nvSpPr>
          <p:cNvPr id="22" name="Text 20"/>
          <p:cNvSpPr/>
          <p:nvPr/>
        </p:nvSpPr>
        <p:spPr>
          <a:xfrm>
            <a:off x="5349240" y="2889504"/>
            <a:ext cx="1600200" cy="777240"/>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Download, read the code,</a:t>
            </a:r>
            <a:endParaRPr lang="en-US" sz="1000" dirty="0"/>
          </a:p>
          <a:p>
            <a:pPr indent="0" marL="0">
              <a:buNone/>
            </a:pPr>
            <a:r>
              <a:rPr lang="en-US" sz="1000" dirty="0">
                <a:solidFill>
                  <a:srgbClr val="5A6B78"/>
                </a:solidFill>
                <a:latin typeface="Calibri" pitchFamily="34" charset="0"/>
                <a:ea typeface="Calibri" pitchFamily="34" charset="-122"/>
                <a:cs typeface="Calibri" pitchFamily="34" charset="-120"/>
              </a:rPr>
              <a:t>score each package</a:t>
            </a:r>
            <a:endParaRPr lang="en-US" sz="1000" dirty="0"/>
          </a:p>
        </p:txBody>
      </p:sp>
      <p:sp>
        <p:nvSpPr>
          <p:cNvPr id="23" name="Shape 21"/>
          <p:cNvSpPr/>
          <p:nvPr/>
        </p:nvSpPr>
        <p:spPr>
          <a:xfrm>
            <a:off x="7141464" y="2697480"/>
            <a:ext cx="182880" cy="201168"/>
          </a:xfrm>
          <a:prstGeom prst="rightArrow">
            <a:avLst/>
          </a:prstGeom>
          <a:solidFill>
            <a:srgbClr val="12B886"/>
          </a:solidFill>
          <a:ln/>
        </p:spPr>
      </p:sp>
      <p:sp>
        <p:nvSpPr>
          <p:cNvPr id="24" name="Shape 22"/>
          <p:cNvSpPr/>
          <p:nvPr/>
        </p:nvSpPr>
        <p:spPr>
          <a:xfrm>
            <a:off x="7342632" y="1828800"/>
            <a:ext cx="2011680" cy="1965960"/>
          </a:xfrm>
          <a:prstGeom prst="roundRect">
            <a:avLst>
              <a:gd name="adj" fmla="val 2791"/>
            </a:avLst>
          </a:prstGeom>
          <a:solidFill>
            <a:srgbClr val="FFFFFF"/>
          </a:solidFill>
          <a:ln w="12700">
            <a:solidFill>
              <a:srgbClr val="E2EAEE"/>
            </a:solidFill>
            <a:prstDash val="solid"/>
          </a:ln>
        </p:spPr>
      </p:sp>
      <p:sp>
        <p:nvSpPr>
          <p:cNvPr id="25" name="Shape 23"/>
          <p:cNvSpPr/>
          <p:nvPr/>
        </p:nvSpPr>
        <p:spPr>
          <a:xfrm>
            <a:off x="7598664" y="2048256"/>
            <a:ext cx="384048" cy="384048"/>
          </a:xfrm>
          <a:prstGeom prst="ellipse">
            <a:avLst/>
          </a:prstGeom>
          <a:solidFill>
            <a:srgbClr val="12B886"/>
          </a:solidFill>
          <a:ln/>
        </p:spPr>
      </p:sp>
      <p:sp>
        <p:nvSpPr>
          <p:cNvPr id="26" name="Text 24"/>
          <p:cNvSpPr/>
          <p:nvPr/>
        </p:nvSpPr>
        <p:spPr>
          <a:xfrm>
            <a:off x="7598664" y="2048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p:nvPr/>
        </p:nvSpPr>
        <p:spPr>
          <a:xfrm>
            <a:off x="7598664" y="2560320"/>
            <a:ext cx="1554480" cy="320040"/>
          </a:xfrm>
          <a:prstGeom prst="rect">
            <a:avLst/>
          </a:prstGeom>
          <a:noFill/>
          <a:ln/>
        </p:spPr>
        <p:txBody>
          <a:bodyPr wrap="square" lIns="0" tIns="0" rIns="0" bIns="0" rtlCol="0" anchor="ctr"/>
          <a:lstStyle/>
          <a:p>
            <a:pPr indent="0" marL="0">
              <a:buNone/>
            </a:pPr>
            <a:r>
              <a:rPr lang="en-US" sz="1500" b="1" dirty="0">
                <a:solidFill>
                  <a:srgbClr val="1B2A33"/>
                </a:solidFill>
                <a:latin typeface="Cambria" pitchFamily="34" charset="0"/>
                <a:ea typeface="Cambria" pitchFamily="34" charset="-122"/>
                <a:cs typeface="Cambria" pitchFamily="34" charset="-120"/>
              </a:rPr>
              <a:t>Advise</a:t>
            </a:r>
            <a:endParaRPr lang="en-US" sz="1500" dirty="0"/>
          </a:p>
        </p:txBody>
      </p:sp>
      <p:sp>
        <p:nvSpPr>
          <p:cNvPr id="28" name="Text 26"/>
          <p:cNvSpPr/>
          <p:nvPr/>
        </p:nvSpPr>
        <p:spPr>
          <a:xfrm>
            <a:off x="7598664" y="2889504"/>
            <a:ext cx="1600200" cy="777240"/>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Ask OSV.dev which</a:t>
            </a:r>
            <a:endParaRPr lang="en-US" sz="1000" dirty="0"/>
          </a:p>
          <a:p>
            <a:pPr indent="0" marL="0">
              <a:buNone/>
            </a:pPr>
            <a:r>
              <a:rPr lang="en-US" sz="1000" dirty="0">
                <a:solidFill>
                  <a:srgbClr val="5A6B78"/>
                </a:solidFill>
                <a:latin typeface="Calibri" pitchFamily="34" charset="0"/>
                <a:ea typeface="Calibri" pitchFamily="34" charset="-122"/>
                <a:cs typeface="Calibri" pitchFamily="34" charset="-120"/>
              </a:rPr>
              <a:t>versions have CVEs</a:t>
            </a:r>
            <a:endParaRPr lang="en-US" sz="1000" dirty="0"/>
          </a:p>
        </p:txBody>
      </p:sp>
      <p:sp>
        <p:nvSpPr>
          <p:cNvPr id="29" name="Shape 27"/>
          <p:cNvSpPr/>
          <p:nvPr/>
        </p:nvSpPr>
        <p:spPr>
          <a:xfrm>
            <a:off x="9390888" y="2697480"/>
            <a:ext cx="182880" cy="201168"/>
          </a:xfrm>
          <a:prstGeom prst="rightArrow">
            <a:avLst/>
          </a:prstGeom>
          <a:solidFill>
            <a:srgbClr val="12B886"/>
          </a:solidFill>
          <a:ln/>
        </p:spPr>
      </p:sp>
      <p:sp>
        <p:nvSpPr>
          <p:cNvPr id="30" name="Shape 28"/>
          <p:cNvSpPr/>
          <p:nvPr/>
        </p:nvSpPr>
        <p:spPr>
          <a:xfrm>
            <a:off x="9592056" y="1828800"/>
            <a:ext cx="2011680" cy="1965960"/>
          </a:xfrm>
          <a:prstGeom prst="roundRect">
            <a:avLst>
              <a:gd name="adj" fmla="val 2791"/>
            </a:avLst>
          </a:prstGeom>
          <a:solidFill>
            <a:srgbClr val="FFFFFF"/>
          </a:solidFill>
          <a:ln w="12700">
            <a:solidFill>
              <a:srgbClr val="E2EAEE"/>
            </a:solidFill>
            <a:prstDash val="solid"/>
          </a:ln>
        </p:spPr>
      </p:sp>
      <p:sp>
        <p:nvSpPr>
          <p:cNvPr id="31" name="Shape 29"/>
          <p:cNvSpPr/>
          <p:nvPr/>
        </p:nvSpPr>
        <p:spPr>
          <a:xfrm>
            <a:off x="9848088" y="2048256"/>
            <a:ext cx="384048" cy="384048"/>
          </a:xfrm>
          <a:prstGeom prst="ellipse">
            <a:avLst/>
          </a:prstGeom>
          <a:solidFill>
            <a:srgbClr val="12B886"/>
          </a:solidFill>
          <a:ln/>
        </p:spPr>
      </p:sp>
      <p:sp>
        <p:nvSpPr>
          <p:cNvPr id="32" name="Text 30"/>
          <p:cNvSpPr/>
          <p:nvPr/>
        </p:nvSpPr>
        <p:spPr>
          <a:xfrm>
            <a:off x="9848088" y="2048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31"/>
          <p:cNvSpPr/>
          <p:nvPr/>
        </p:nvSpPr>
        <p:spPr>
          <a:xfrm>
            <a:off x="9848088" y="2560320"/>
            <a:ext cx="1554480" cy="320040"/>
          </a:xfrm>
          <a:prstGeom prst="rect">
            <a:avLst/>
          </a:prstGeom>
          <a:noFill/>
          <a:ln/>
        </p:spPr>
        <p:txBody>
          <a:bodyPr wrap="square" lIns="0" tIns="0" rIns="0" bIns="0" rtlCol="0" anchor="ctr"/>
          <a:lstStyle/>
          <a:p>
            <a:pPr indent="0" marL="0">
              <a:buNone/>
            </a:pPr>
            <a:r>
              <a:rPr lang="en-US" sz="1500" b="1" dirty="0">
                <a:solidFill>
                  <a:srgbClr val="1B2A33"/>
                </a:solidFill>
                <a:latin typeface="Cambria" pitchFamily="34" charset="0"/>
                <a:ea typeface="Cambria" pitchFamily="34" charset="-122"/>
                <a:cs typeface="Cambria" pitchFamily="34" charset="-120"/>
              </a:rPr>
              <a:t>Reach</a:t>
            </a:r>
            <a:endParaRPr lang="en-US" sz="1500" dirty="0"/>
          </a:p>
        </p:txBody>
      </p:sp>
      <p:sp>
        <p:nvSpPr>
          <p:cNvPr id="34" name="Text 32"/>
          <p:cNvSpPr/>
          <p:nvPr/>
        </p:nvSpPr>
        <p:spPr>
          <a:xfrm>
            <a:off x="9848088" y="2889504"/>
            <a:ext cx="1600200" cy="777240"/>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Build a call graph and</a:t>
            </a:r>
            <a:endParaRPr lang="en-US" sz="1000" dirty="0"/>
          </a:p>
          <a:p>
            <a:pPr indent="0" marL="0">
              <a:buNone/>
            </a:pPr>
            <a:r>
              <a:rPr lang="en-US" sz="1000" dirty="0">
                <a:solidFill>
                  <a:srgbClr val="5A6B78"/>
                </a:solidFill>
                <a:latin typeface="Calibri" pitchFamily="34" charset="0"/>
                <a:ea typeface="Calibri" pitchFamily="34" charset="-122"/>
                <a:cs typeface="Calibri" pitchFamily="34" charset="-120"/>
              </a:rPr>
              <a:t>test what is reachable</a:t>
            </a:r>
            <a:endParaRPr lang="en-US" sz="1000" dirty="0"/>
          </a:p>
        </p:txBody>
      </p:sp>
      <p:sp>
        <p:nvSpPr>
          <p:cNvPr id="35" name="Text 33"/>
          <p:cNvSpPr/>
          <p:nvPr/>
        </p:nvSpPr>
        <p:spPr>
          <a:xfrm>
            <a:off x="594360" y="3977640"/>
            <a:ext cx="10515600" cy="320040"/>
          </a:xfrm>
          <a:prstGeom prst="rect">
            <a:avLst/>
          </a:prstGeom>
          <a:noFill/>
          <a:ln/>
        </p:spPr>
        <p:txBody>
          <a:bodyPr wrap="square" lIns="0" tIns="0" rIns="0" bIns="0" rtlCol="0" anchor="ctr"/>
          <a:lstStyle/>
          <a:p>
            <a:pPr indent="0" marL="0">
              <a:buNone/>
            </a:pPr>
            <a:r>
              <a:rPr lang="en-US" sz="1150" i="1" dirty="0">
                <a:solidFill>
                  <a:srgbClr val="5A6B78"/>
                </a:solidFill>
                <a:latin typeface="Calibri" pitchFamily="34" charset="0"/>
                <a:ea typeface="Calibri" pitchFamily="34" charset="-122"/>
                <a:cs typeface="Calibri" pitchFamily="34" charset="-120"/>
              </a:rPr>
              <a:t>Steps 3 and 5 are independent. If one fails, the other still returns a result.</a:t>
            </a:r>
            <a:endParaRPr lang="en-US" sz="1150" dirty="0"/>
          </a:p>
        </p:txBody>
      </p:sp>
      <p:sp>
        <p:nvSpPr>
          <p:cNvPr id="36" name="Shape 34"/>
          <p:cNvSpPr/>
          <p:nvPr/>
        </p:nvSpPr>
        <p:spPr>
          <a:xfrm>
            <a:off x="594360" y="4480560"/>
            <a:ext cx="5349240" cy="1417320"/>
          </a:xfrm>
          <a:prstGeom prst="roundRect">
            <a:avLst>
              <a:gd name="adj" fmla="val 3871"/>
            </a:avLst>
          </a:prstGeom>
          <a:solidFill>
            <a:srgbClr val="EEF3F5"/>
          </a:solidFill>
          <a:ln w="12700">
            <a:solidFill>
              <a:srgbClr val="E2EAEE"/>
            </a:solidFill>
            <a:prstDash val="solid"/>
          </a:ln>
        </p:spPr>
      </p:sp>
      <p:sp>
        <p:nvSpPr>
          <p:cNvPr id="37" name="Text 35"/>
          <p:cNvSpPr/>
          <p:nvPr/>
        </p:nvSpPr>
        <p:spPr>
          <a:xfrm>
            <a:off x="868680" y="4617720"/>
            <a:ext cx="4754880" cy="274320"/>
          </a:xfrm>
          <a:prstGeom prst="rect">
            <a:avLst/>
          </a:prstGeom>
          <a:noFill/>
          <a:ln/>
        </p:spPr>
        <p:txBody>
          <a:bodyPr wrap="square" lIns="0" tIns="0" rIns="0" bIns="0" rtlCol="0" anchor="ctr"/>
          <a:lstStyle/>
          <a:p>
            <a:pPr indent="0" marL="0">
              <a:buNone/>
            </a:pPr>
            <a:r>
              <a:rPr lang="en-US" sz="1200" b="1" dirty="0">
                <a:solidFill>
                  <a:srgbClr val="1B2A33"/>
                </a:solidFill>
                <a:latin typeface="Calibri" pitchFamily="34" charset="0"/>
                <a:ea typeface="Calibri" pitchFamily="34" charset="-122"/>
                <a:cs typeface="Calibri" pitchFamily="34" charset="-120"/>
              </a:rPr>
              <a:t>Malicious package detection</a:t>
            </a:r>
            <a:endParaRPr lang="en-US" sz="1200" dirty="0"/>
          </a:p>
        </p:txBody>
      </p:sp>
      <p:sp>
        <p:nvSpPr>
          <p:cNvPr id="38" name="Text 36"/>
          <p:cNvSpPr/>
          <p:nvPr/>
        </p:nvSpPr>
        <p:spPr>
          <a:xfrm>
            <a:off x="868680" y="4919472"/>
            <a:ext cx="4800600" cy="822960"/>
          </a:xfrm>
          <a:prstGeom prst="rect">
            <a:avLst/>
          </a:prstGeom>
          <a:noFill/>
          <a:ln/>
        </p:spPr>
        <p:txBody>
          <a:bodyPr wrap="square" lIns="0" tIns="0" rIns="0" bIns="0" rtlCol="0" anchor="ctr"/>
          <a:lstStyle/>
          <a:p>
            <a:pPr indent="0" marL="0">
              <a:buNone/>
            </a:pPr>
            <a:r>
              <a:rPr lang="en-US" sz="1100" dirty="0">
                <a:solidFill>
                  <a:srgbClr val="5A6B78"/>
                </a:solidFill>
                <a:latin typeface="Calibri" pitchFamily="34" charset="0"/>
                <a:ea typeface="Calibri" pitchFamily="34" charset="-122"/>
                <a:cs typeface="Calibri" pitchFamily="34" charset="-120"/>
              </a:rPr>
              <a:t>Reads the code without running it, turns behaviour into 58 numbers, and a trained model scores it.</a:t>
            </a:r>
            <a:endParaRPr lang="en-US" sz="1100" dirty="0"/>
          </a:p>
        </p:txBody>
      </p:sp>
      <p:sp>
        <p:nvSpPr>
          <p:cNvPr id="39" name="Shape 37"/>
          <p:cNvSpPr/>
          <p:nvPr/>
        </p:nvSpPr>
        <p:spPr>
          <a:xfrm>
            <a:off x="6400800" y="4480560"/>
            <a:ext cx="5166360" cy="1417320"/>
          </a:xfrm>
          <a:prstGeom prst="roundRect">
            <a:avLst>
              <a:gd name="adj" fmla="val 3871"/>
            </a:avLst>
          </a:prstGeom>
          <a:solidFill>
            <a:srgbClr val="EEF3F5"/>
          </a:solidFill>
          <a:ln w="12700">
            <a:solidFill>
              <a:srgbClr val="E2EAEE"/>
            </a:solidFill>
            <a:prstDash val="solid"/>
          </a:ln>
        </p:spPr>
      </p:sp>
      <p:sp>
        <p:nvSpPr>
          <p:cNvPr id="40" name="Text 38"/>
          <p:cNvSpPr/>
          <p:nvPr/>
        </p:nvSpPr>
        <p:spPr>
          <a:xfrm>
            <a:off x="6675120" y="4617720"/>
            <a:ext cx="4572000" cy="274320"/>
          </a:xfrm>
          <a:prstGeom prst="rect">
            <a:avLst/>
          </a:prstGeom>
          <a:noFill/>
          <a:ln/>
        </p:spPr>
        <p:txBody>
          <a:bodyPr wrap="square" lIns="0" tIns="0" rIns="0" bIns="0" rtlCol="0" anchor="ctr"/>
          <a:lstStyle/>
          <a:p>
            <a:pPr indent="0" marL="0">
              <a:buNone/>
            </a:pPr>
            <a:r>
              <a:rPr lang="en-US" sz="1200" b="1" dirty="0">
                <a:solidFill>
                  <a:srgbClr val="1B2A33"/>
                </a:solidFill>
                <a:latin typeface="Calibri" pitchFamily="34" charset="0"/>
                <a:ea typeface="Calibri" pitchFamily="34" charset="-122"/>
                <a:cs typeface="Calibri" pitchFamily="34" charset="-120"/>
              </a:rPr>
              <a:t>Vulnerability reachability</a:t>
            </a:r>
            <a:endParaRPr lang="en-US" sz="1200" dirty="0"/>
          </a:p>
        </p:txBody>
      </p:sp>
      <p:sp>
        <p:nvSpPr>
          <p:cNvPr id="41" name="Text 39"/>
          <p:cNvSpPr/>
          <p:nvPr/>
        </p:nvSpPr>
        <p:spPr>
          <a:xfrm>
            <a:off x="6675120" y="4919472"/>
            <a:ext cx="4617720" cy="822960"/>
          </a:xfrm>
          <a:prstGeom prst="rect">
            <a:avLst/>
          </a:prstGeom>
          <a:noFill/>
          <a:ln/>
        </p:spPr>
        <p:txBody>
          <a:bodyPr wrap="square" lIns="0" tIns="0" rIns="0" bIns="0" rtlCol="0" anchor="ctr"/>
          <a:lstStyle/>
          <a:p>
            <a:pPr indent="0" marL="0">
              <a:buNone/>
            </a:pPr>
            <a:r>
              <a:rPr lang="en-US" sz="1100" dirty="0">
                <a:solidFill>
                  <a:srgbClr val="5A6B78"/>
                </a:solidFill>
                <a:latin typeface="Calibri" pitchFamily="34" charset="0"/>
                <a:ea typeface="Calibri" pitchFamily="34" charset="-122"/>
                <a:cs typeface="Calibri" pitchFamily="34" charset="-120"/>
              </a:rPr>
              <a:t>Builds a call graph of your own code and checks whether the vulnerable function is ever called.</a:t>
            </a:r>
            <a:endParaRPr lang="en-US" sz="1100" dirty="0"/>
          </a:p>
        </p:txBody>
      </p:sp>
      <p:sp>
        <p:nvSpPr>
          <p:cNvPr id="42" name="Text 40"/>
          <p:cNvSpPr/>
          <p:nvPr/>
        </p:nvSpPr>
        <p:spPr>
          <a:xfrm>
            <a:off x="11109960" y="6355080"/>
            <a:ext cx="457200" cy="274320"/>
          </a:xfrm>
          <a:prstGeom prst="rect">
            <a:avLst/>
          </a:prstGeom>
          <a:noFill/>
          <a:ln/>
        </p:spPr>
        <p:txBody>
          <a:bodyPr wrap="square" lIns="0" tIns="0" rIns="0" bIns="0"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a:ln/>
        </p:spPr>
      </p:sp>
      <p:sp>
        <p:nvSpPr>
          <p:cNvPr id="3" name="Text 1"/>
          <p:cNvSpPr/>
          <p:nvPr/>
        </p:nvSpPr>
        <p:spPr>
          <a:xfrm>
            <a:off x="59436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p:nvPr/>
        </p:nvSpPr>
        <p:spPr>
          <a:xfrm>
            <a:off x="1014984" y="384048"/>
            <a:ext cx="5486400" cy="310896"/>
          </a:xfrm>
          <a:prstGeom prst="rect">
            <a:avLst/>
          </a:prstGeom>
          <a:noFill/>
          <a:ln/>
        </p:spPr>
        <p:txBody>
          <a:bodyPr wrap="square" lIns="0" tIns="0" rIns="0" bIns="0" rtlCol="0" anchor="ctr"/>
          <a:lstStyle/>
          <a:p>
            <a:pPr indent="0" marL="0">
              <a:buNone/>
            </a:pPr>
            <a:r>
              <a:rPr lang="en-US" sz="1050" b="1" spc="160" kern="0" dirty="0">
                <a:solidFill>
                  <a:srgbClr val="5A6B78"/>
                </a:solidFill>
                <a:latin typeface="Calibri" pitchFamily="34" charset="0"/>
                <a:ea typeface="Calibri" pitchFamily="34" charset="-122"/>
                <a:cs typeface="Calibri" pitchFamily="34" charset="-120"/>
              </a:rPr>
              <a:t>DESIGN OF PROPOSED METHODOLOGY</a:t>
            </a:r>
            <a:endParaRPr lang="en-US" sz="1050" dirty="0"/>
          </a:p>
        </p:txBody>
      </p:sp>
      <p:sp>
        <p:nvSpPr>
          <p:cNvPr id="5" name="Text 3"/>
          <p:cNvSpPr/>
          <p:nvPr/>
        </p:nvSpPr>
        <p:spPr>
          <a:xfrm>
            <a:off x="594360" y="841248"/>
            <a:ext cx="10972800" cy="658368"/>
          </a:xfrm>
          <a:prstGeom prst="rect">
            <a:avLst/>
          </a:prstGeom>
          <a:noFill/>
          <a:ln/>
        </p:spPr>
        <p:txBody>
          <a:bodyPr wrap="square" lIns="0" tIns="0" rIns="0" bIns="0" rtlCol="0" anchor="ctr"/>
          <a:lstStyle/>
          <a:p>
            <a:pPr indent="0" marL="0">
              <a:buNone/>
            </a:pPr>
            <a:r>
              <a:rPr lang="en-US" sz="3000" b="1" dirty="0">
                <a:solidFill>
                  <a:srgbClr val="1B2A33"/>
                </a:solidFill>
                <a:latin typeface="Cambria" pitchFamily="34" charset="0"/>
                <a:ea typeface="Cambria" pitchFamily="34" charset="-122"/>
                <a:cs typeface="Cambria" pitchFamily="34" charset="-120"/>
              </a:rPr>
              <a:t>Finding malicious packages without running them</a:t>
            </a:r>
            <a:endParaRPr lang="en-US" sz="3000" dirty="0"/>
          </a:p>
        </p:txBody>
      </p:sp>
      <p:sp>
        <p:nvSpPr>
          <p:cNvPr id="6" name="Text 4"/>
          <p:cNvSpPr/>
          <p:nvPr/>
        </p:nvSpPr>
        <p:spPr>
          <a:xfrm>
            <a:off x="594360" y="1645920"/>
            <a:ext cx="5486400" cy="292608"/>
          </a:xfrm>
          <a:prstGeom prst="rect">
            <a:avLst/>
          </a:prstGeom>
          <a:noFill/>
          <a:ln/>
        </p:spPr>
        <p:txBody>
          <a:bodyPr wrap="square" lIns="0" tIns="0" rIns="0" bIns="0" rtlCol="0" anchor="ctr"/>
          <a:lstStyle/>
          <a:p>
            <a:pPr indent="0" marL="0">
              <a:buNone/>
            </a:pPr>
            <a:r>
              <a:rPr lang="en-US" sz="1300" b="1" dirty="0">
                <a:solidFill>
                  <a:srgbClr val="1B2A33"/>
                </a:solidFill>
                <a:latin typeface="Calibri" pitchFamily="34" charset="0"/>
                <a:ea typeface="Calibri" pitchFamily="34" charset="-122"/>
                <a:cs typeface="Calibri" pitchFamily="34" charset="-120"/>
              </a:rPr>
              <a:t>We read the code, not the file</a:t>
            </a:r>
            <a:endParaRPr lang="en-US" sz="1300" dirty="0"/>
          </a:p>
        </p:txBody>
      </p:sp>
      <p:sp>
        <p:nvSpPr>
          <p:cNvPr id="7" name="Text 5"/>
          <p:cNvSpPr/>
          <p:nvPr/>
        </p:nvSpPr>
        <p:spPr>
          <a:xfrm>
            <a:off x="594360" y="1993392"/>
            <a:ext cx="5486400" cy="150876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1B2A33"/>
                </a:solidFill>
                <a:latin typeface="Calibri" pitchFamily="34" charset="0"/>
                <a:ea typeface="Calibri" pitchFamily="34" charset="-122"/>
                <a:cs typeface="Calibri" pitchFamily="34" charset="-120"/>
              </a:rPr>
              <a:t>Searching for the text "eval(" also matches a comment or a variable called evaluate. So we parse the file into a syntax tree instead.</a:t>
            </a:r>
            <a:endParaRPr lang="en-US" sz="1150" dirty="0"/>
          </a:p>
          <a:p>
            <a:pPr marL="342900" indent="-342900">
              <a:spcAft>
                <a:spcPts val="700"/>
              </a:spcAft>
              <a:buSzPct val="100000"/>
              <a:buChar char="•"/>
            </a:pPr>
            <a:r>
              <a:rPr lang="en-US" sz="1150" dirty="0">
                <a:solidFill>
                  <a:srgbClr val="1B2A33"/>
                </a:solidFill>
                <a:latin typeface="Calibri" pitchFamily="34" charset="0"/>
                <a:ea typeface="Calibri" pitchFamily="34" charset="-122"/>
                <a:cs typeface="Calibri" pitchFamily="34" charset="-120"/>
              </a:rPr>
              <a:t>Parsing also follows renames. "import subprocess as sp" then "sp.run(...)" is invisible to a text search but obvious in a tree.</a:t>
            </a:r>
            <a:endParaRPr lang="en-US" sz="1150" dirty="0"/>
          </a:p>
          <a:p>
            <a:pPr marL="342900" indent="-342900">
              <a:spcAft>
                <a:spcPts val="700"/>
              </a:spcAft>
              <a:buSzPct val="100000"/>
              <a:buChar char="•"/>
            </a:pPr>
            <a:r>
              <a:rPr lang="en-US" sz="1150" dirty="0">
                <a:solidFill>
                  <a:srgbClr val="1B2A33"/>
                </a:solidFill>
                <a:latin typeface="Calibri" pitchFamily="34" charset="0"/>
                <a:ea typeface="Calibri" pitchFamily="34" charset="-122"/>
                <a:cs typeface="Calibri" pitchFamily="34" charset="-120"/>
              </a:rPr>
              <a:t>Parsing is also what makes this safe. Building a tree never executes the file.</a:t>
            </a:r>
            <a:endParaRPr lang="en-US" sz="1150" dirty="0"/>
          </a:p>
        </p:txBody>
      </p:sp>
      <p:sp>
        <p:nvSpPr>
          <p:cNvPr id="8" name="Shape 6"/>
          <p:cNvSpPr/>
          <p:nvPr/>
        </p:nvSpPr>
        <p:spPr>
          <a:xfrm>
            <a:off x="594360" y="3611880"/>
            <a:ext cx="5486400" cy="1051560"/>
          </a:xfrm>
          <a:prstGeom prst="roundRect">
            <a:avLst>
              <a:gd name="adj" fmla="val 5217"/>
            </a:avLst>
          </a:prstGeom>
          <a:solidFill>
            <a:srgbClr val="EEF3F5"/>
          </a:solidFill>
          <a:ln w="12700">
            <a:solidFill>
              <a:srgbClr val="E2EAEE"/>
            </a:solidFill>
            <a:prstDash val="solid"/>
          </a:ln>
        </p:spPr>
      </p:sp>
      <p:sp>
        <p:nvSpPr>
          <p:cNvPr id="9" name="Text 7"/>
          <p:cNvSpPr/>
          <p:nvPr/>
        </p:nvSpPr>
        <p:spPr>
          <a:xfrm>
            <a:off x="868680" y="3611880"/>
            <a:ext cx="4937760" cy="1051560"/>
          </a:xfrm>
          <a:prstGeom prst="rect">
            <a:avLst/>
          </a:prstGeom>
          <a:noFill/>
          <a:ln/>
        </p:spPr>
        <p:txBody>
          <a:bodyPr wrap="square" lIns="0" tIns="0" rIns="0" bIns="0" rtlCol="0" anchor="ctr"/>
          <a:lstStyle/>
          <a:p>
            <a:pPr indent="0" marL="0">
              <a:buNone/>
            </a:pPr>
            <a:r>
              <a:rPr lang="en-US" sz="1250" b="1" dirty="0">
                <a:solidFill>
                  <a:srgbClr val="0B7A5A"/>
                </a:solidFill>
                <a:latin typeface="Calibri" pitchFamily="34" charset="0"/>
                <a:ea typeface="Calibri" pitchFamily="34" charset="-122"/>
                <a:cs typeface="Calibri" pitchFamily="34" charset="-120"/>
              </a:rPr>
              <a:t>No package is ever installed or executed. Not once, anywhere in the system.</a:t>
            </a:r>
            <a:endParaRPr lang="en-US" sz="1250" dirty="0"/>
          </a:p>
        </p:txBody>
      </p:sp>
      <p:sp>
        <p:nvSpPr>
          <p:cNvPr id="10" name="Text 8"/>
          <p:cNvSpPr/>
          <p:nvPr/>
        </p:nvSpPr>
        <p:spPr>
          <a:xfrm>
            <a:off x="6492240" y="1645920"/>
            <a:ext cx="5074920" cy="292608"/>
          </a:xfrm>
          <a:prstGeom prst="rect">
            <a:avLst/>
          </a:prstGeom>
          <a:noFill/>
          <a:ln/>
        </p:spPr>
        <p:txBody>
          <a:bodyPr wrap="square" lIns="0" tIns="0" rIns="0" bIns="0" rtlCol="0" anchor="ctr"/>
          <a:lstStyle/>
          <a:p>
            <a:pPr indent="0" marL="0">
              <a:buNone/>
            </a:pPr>
            <a:r>
              <a:rPr lang="en-US" sz="1300" b="1" dirty="0">
                <a:solidFill>
                  <a:srgbClr val="1B2A33"/>
                </a:solidFill>
                <a:latin typeface="Calibri" pitchFamily="34" charset="0"/>
                <a:ea typeface="Calibri" pitchFamily="34" charset="-122"/>
                <a:cs typeface="Calibri" pitchFamily="34" charset="-120"/>
              </a:rPr>
              <a:t>The idea that makes it accurate</a:t>
            </a:r>
            <a:endParaRPr lang="en-US" sz="1300" dirty="0"/>
          </a:p>
        </p:txBody>
      </p:sp>
      <p:sp>
        <p:nvSpPr>
          <p:cNvPr id="11" name="Text 9"/>
          <p:cNvSpPr/>
          <p:nvPr/>
        </p:nvSpPr>
        <p:spPr>
          <a:xfrm>
            <a:off x="6492240" y="1993392"/>
            <a:ext cx="5074920" cy="685800"/>
          </a:xfrm>
          <a:prstGeom prst="rect">
            <a:avLst/>
          </a:prstGeom>
          <a:noFill/>
          <a:ln/>
        </p:spPr>
        <p:txBody>
          <a:bodyPr wrap="square" lIns="0" tIns="0" rIns="0" bIns="0" rtlCol="0" anchor="ctr"/>
          <a:lstStyle/>
          <a:p>
            <a:pPr indent="0" marL="0">
              <a:buNone/>
            </a:pPr>
            <a:r>
              <a:rPr lang="en-US" sz="1150" dirty="0">
                <a:solidFill>
                  <a:srgbClr val="1B2A33"/>
                </a:solidFill>
                <a:latin typeface="Calibri" pitchFamily="34" charset="0"/>
                <a:ea typeface="Calibri" pitchFamily="34" charset="-122"/>
                <a:cs typeface="Calibri" pitchFamily="34" charset="-120"/>
              </a:rPr>
              <a:t>Reading an environment variable is normal. Making a web request is normal. Doing both in the same file is how credential theft looks.</a:t>
            </a:r>
            <a:endParaRPr lang="en-US" sz="1150" dirty="0"/>
          </a:p>
        </p:txBody>
      </p:sp>
      <p:sp>
        <p:nvSpPr>
          <p:cNvPr id="12" name="Text 10"/>
          <p:cNvSpPr/>
          <p:nvPr/>
        </p:nvSpPr>
        <p:spPr>
          <a:xfrm>
            <a:off x="6492240" y="2697480"/>
            <a:ext cx="5074920" cy="685800"/>
          </a:xfrm>
          <a:prstGeom prst="rect">
            <a:avLst/>
          </a:prstGeom>
          <a:noFill/>
          <a:ln/>
        </p:spPr>
        <p:txBody>
          <a:bodyPr wrap="square" lIns="0" tIns="0" rIns="0" bIns="0" rtlCol="0" anchor="ctr"/>
          <a:lstStyle/>
          <a:p>
            <a:pPr indent="0" marL="0">
              <a:buNone/>
            </a:pPr>
            <a:r>
              <a:rPr lang="en-US" sz="1150" dirty="0">
                <a:solidFill>
                  <a:srgbClr val="1B2A33"/>
                </a:solidFill>
                <a:latin typeface="Calibri" pitchFamily="34" charset="0"/>
                <a:ea typeface="Calibri" pitchFamily="34" charset="-122"/>
                <a:cs typeface="Calibri" pitchFamily="34" charset="-120"/>
              </a:rPr>
              <a:t>So each file is checked on its own first, then we look for combinations across the whole package. A single detector can never see that.</a:t>
            </a:r>
            <a:endParaRPr lang="en-US" sz="1150" dirty="0"/>
          </a:p>
        </p:txBody>
      </p:sp>
      <p:sp>
        <p:nvSpPr>
          <p:cNvPr id="13" name="Shape 11"/>
          <p:cNvSpPr/>
          <p:nvPr/>
        </p:nvSpPr>
        <p:spPr>
          <a:xfrm>
            <a:off x="6492240" y="3474720"/>
            <a:ext cx="5074920" cy="1188720"/>
          </a:xfrm>
          <a:prstGeom prst="roundRect">
            <a:avLst>
              <a:gd name="adj" fmla="val 4615"/>
            </a:avLst>
          </a:prstGeom>
          <a:solidFill>
            <a:srgbClr val="FFFFFF"/>
          </a:solidFill>
          <a:ln w="12700">
            <a:solidFill>
              <a:srgbClr val="12B886"/>
            </a:solidFill>
            <a:prstDash val="solid"/>
          </a:ln>
        </p:spPr>
      </p:sp>
      <p:sp>
        <p:nvSpPr>
          <p:cNvPr id="14" name="Text 12"/>
          <p:cNvSpPr/>
          <p:nvPr/>
        </p:nvSpPr>
        <p:spPr>
          <a:xfrm>
            <a:off x="6720840" y="3474720"/>
            <a:ext cx="4617720" cy="1188720"/>
          </a:xfrm>
          <a:prstGeom prst="rect">
            <a:avLst/>
          </a:prstGeom>
          <a:noFill/>
          <a:ln/>
        </p:spPr>
        <p:txBody>
          <a:bodyPr wrap="square" lIns="0" tIns="0" rIns="0" bIns="0" rtlCol="0" anchor="ctr"/>
          <a:lstStyle/>
          <a:p>
            <a:pPr indent="0" marL="0">
              <a:buNone/>
            </a:pPr>
            <a:r>
              <a:rPr lang="en-US" sz="1100" dirty="0">
                <a:solidFill>
                  <a:srgbClr val="1B2A33"/>
                </a:solidFill>
                <a:latin typeface="Calibri" pitchFamily="34" charset="0"/>
                <a:ea typeface="Calibri" pitchFamily="34" charset="-122"/>
                <a:cs typeface="Calibri" pitchFamily="34" charset="-120"/>
              </a:rPr>
              <a:t>We tested this on 12 popular real packages including express, axios, webpack, flask and requests. Not one combination signal fired. Both malicious test samples set them off straight away.</a:t>
            </a:r>
            <a:endParaRPr lang="en-US" sz="1100" dirty="0"/>
          </a:p>
        </p:txBody>
      </p:sp>
      <p:sp>
        <p:nvSpPr>
          <p:cNvPr id="15" name="Shape 13"/>
          <p:cNvSpPr/>
          <p:nvPr/>
        </p:nvSpPr>
        <p:spPr>
          <a:xfrm>
            <a:off x="594360" y="5029200"/>
            <a:ext cx="1737360" cy="411480"/>
          </a:xfrm>
          <a:prstGeom prst="roundRect">
            <a:avLst>
              <a:gd name="adj" fmla="val 13333"/>
            </a:avLst>
          </a:prstGeom>
          <a:solidFill>
            <a:srgbClr val="E2EAEE"/>
          </a:solidFill>
          <a:ln w="12700">
            <a:solidFill>
              <a:srgbClr val="E2EAEE"/>
            </a:solidFill>
            <a:prstDash val="solid"/>
          </a:ln>
        </p:spPr>
      </p:sp>
      <p:sp>
        <p:nvSpPr>
          <p:cNvPr id="16" name="Text 14"/>
          <p:cNvSpPr/>
          <p:nvPr/>
        </p:nvSpPr>
        <p:spPr>
          <a:xfrm>
            <a:off x="594360" y="5029200"/>
            <a:ext cx="1737360" cy="411480"/>
          </a:xfrm>
          <a:prstGeom prst="rect">
            <a:avLst/>
          </a:prstGeom>
          <a:noFill/>
          <a:ln/>
        </p:spPr>
        <p:txBody>
          <a:bodyPr wrap="square" lIns="0" tIns="0" rIns="0" bIns="0" rtlCol="0" anchor="ctr"/>
          <a:lstStyle/>
          <a:p>
            <a:pPr algn="ctr" indent="0" marL="0">
              <a:buNone/>
            </a:pPr>
            <a:r>
              <a:rPr lang="en-US" sz="1000" dirty="0">
                <a:solidFill>
                  <a:srgbClr val="1B2A33"/>
                </a:solidFill>
                <a:latin typeface="Calibri" pitchFamily="34" charset="0"/>
                <a:ea typeface="Calibri" pitchFamily="34" charset="-122"/>
                <a:cs typeface="Calibri" pitchFamily="34" charset="-120"/>
              </a:rPr>
              <a:t>Install hooks</a:t>
            </a:r>
            <a:endParaRPr lang="en-US" sz="1000" dirty="0"/>
          </a:p>
        </p:txBody>
      </p:sp>
      <p:sp>
        <p:nvSpPr>
          <p:cNvPr id="17" name="Shape 15"/>
          <p:cNvSpPr/>
          <p:nvPr/>
        </p:nvSpPr>
        <p:spPr>
          <a:xfrm>
            <a:off x="2450592" y="5029200"/>
            <a:ext cx="1737360" cy="411480"/>
          </a:xfrm>
          <a:prstGeom prst="roundRect">
            <a:avLst>
              <a:gd name="adj" fmla="val 13333"/>
            </a:avLst>
          </a:prstGeom>
          <a:solidFill>
            <a:srgbClr val="E2EAEE"/>
          </a:solidFill>
          <a:ln w="12700">
            <a:solidFill>
              <a:srgbClr val="E2EAEE"/>
            </a:solidFill>
            <a:prstDash val="solid"/>
          </a:ln>
        </p:spPr>
      </p:sp>
      <p:sp>
        <p:nvSpPr>
          <p:cNvPr id="18" name="Text 16"/>
          <p:cNvSpPr/>
          <p:nvPr/>
        </p:nvSpPr>
        <p:spPr>
          <a:xfrm>
            <a:off x="2450592" y="5029200"/>
            <a:ext cx="1737360" cy="411480"/>
          </a:xfrm>
          <a:prstGeom prst="rect">
            <a:avLst/>
          </a:prstGeom>
          <a:noFill/>
          <a:ln/>
        </p:spPr>
        <p:txBody>
          <a:bodyPr wrap="square" lIns="0" tIns="0" rIns="0" bIns="0" rtlCol="0" anchor="ctr"/>
          <a:lstStyle/>
          <a:p>
            <a:pPr algn="ctr" indent="0" marL="0">
              <a:buNone/>
            </a:pPr>
            <a:r>
              <a:rPr lang="en-US" sz="1000" dirty="0">
                <a:solidFill>
                  <a:srgbClr val="1B2A33"/>
                </a:solidFill>
                <a:latin typeface="Calibri" pitchFamily="34" charset="0"/>
                <a:ea typeface="Calibri" pitchFamily="34" charset="-122"/>
                <a:cs typeface="Calibri" pitchFamily="34" charset="-120"/>
              </a:rPr>
              <a:t>Hidden code</a:t>
            </a:r>
            <a:endParaRPr lang="en-US" sz="1000" dirty="0"/>
          </a:p>
        </p:txBody>
      </p:sp>
      <p:sp>
        <p:nvSpPr>
          <p:cNvPr id="19" name="Shape 17"/>
          <p:cNvSpPr/>
          <p:nvPr/>
        </p:nvSpPr>
        <p:spPr>
          <a:xfrm>
            <a:off x="4306824" y="5029200"/>
            <a:ext cx="1737360" cy="411480"/>
          </a:xfrm>
          <a:prstGeom prst="roundRect">
            <a:avLst>
              <a:gd name="adj" fmla="val 13333"/>
            </a:avLst>
          </a:prstGeom>
          <a:solidFill>
            <a:srgbClr val="E2EAEE"/>
          </a:solidFill>
          <a:ln w="12700">
            <a:solidFill>
              <a:srgbClr val="E2EAEE"/>
            </a:solidFill>
            <a:prstDash val="solid"/>
          </a:ln>
        </p:spPr>
      </p:sp>
      <p:sp>
        <p:nvSpPr>
          <p:cNvPr id="20" name="Text 18"/>
          <p:cNvSpPr/>
          <p:nvPr/>
        </p:nvSpPr>
        <p:spPr>
          <a:xfrm>
            <a:off x="4306824" y="5029200"/>
            <a:ext cx="1737360" cy="411480"/>
          </a:xfrm>
          <a:prstGeom prst="rect">
            <a:avLst/>
          </a:prstGeom>
          <a:noFill/>
          <a:ln/>
        </p:spPr>
        <p:txBody>
          <a:bodyPr wrap="square" lIns="0" tIns="0" rIns="0" bIns="0" rtlCol="0" anchor="ctr"/>
          <a:lstStyle/>
          <a:p>
            <a:pPr algn="ctr" indent="0" marL="0">
              <a:buNone/>
            </a:pPr>
            <a:r>
              <a:rPr lang="en-US" sz="1000" dirty="0">
                <a:solidFill>
                  <a:srgbClr val="1B2A33"/>
                </a:solidFill>
                <a:latin typeface="Calibri" pitchFamily="34" charset="0"/>
                <a:ea typeface="Calibri" pitchFamily="34" charset="-122"/>
                <a:cs typeface="Calibri" pitchFamily="34" charset="-120"/>
              </a:rPr>
              <a:t>Credential paths</a:t>
            </a:r>
            <a:endParaRPr lang="en-US" sz="1000" dirty="0"/>
          </a:p>
        </p:txBody>
      </p:sp>
      <p:sp>
        <p:nvSpPr>
          <p:cNvPr id="21" name="Shape 19"/>
          <p:cNvSpPr/>
          <p:nvPr/>
        </p:nvSpPr>
        <p:spPr>
          <a:xfrm>
            <a:off x="6163056" y="5029200"/>
            <a:ext cx="1737360" cy="411480"/>
          </a:xfrm>
          <a:prstGeom prst="roundRect">
            <a:avLst>
              <a:gd name="adj" fmla="val 13333"/>
            </a:avLst>
          </a:prstGeom>
          <a:solidFill>
            <a:srgbClr val="E2EAEE"/>
          </a:solidFill>
          <a:ln w="12700">
            <a:solidFill>
              <a:srgbClr val="E2EAEE"/>
            </a:solidFill>
            <a:prstDash val="solid"/>
          </a:ln>
        </p:spPr>
      </p:sp>
      <p:sp>
        <p:nvSpPr>
          <p:cNvPr id="22" name="Text 20"/>
          <p:cNvSpPr/>
          <p:nvPr/>
        </p:nvSpPr>
        <p:spPr>
          <a:xfrm>
            <a:off x="6163056" y="5029200"/>
            <a:ext cx="1737360" cy="411480"/>
          </a:xfrm>
          <a:prstGeom prst="rect">
            <a:avLst/>
          </a:prstGeom>
          <a:noFill/>
          <a:ln/>
        </p:spPr>
        <p:txBody>
          <a:bodyPr wrap="square" lIns="0" tIns="0" rIns="0" bIns="0" rtlCol="0" anchor="ctr"/>
          <a:lstStyle/>
          <a:p>
            <a:pPr algn="ctr" indent="0" marL="0">
              <a:buNone/>
            </a:pPr>
            <a:r>
              <a:rPr lang="en-US" sz="1000" dirty="0">
                <a:solidFill>
                  <a:srgbClr val="1B2A33"/>
                </a:solidFill>
                <a:latin typeface="Calibri" pitchFamily="34" charset="0"/>
                <a:ea typeface="Calibri" pitchFamily="34" charset="-122"/>
                <a:cs typeface="Calibri" pitchFamily="34" charset="-120"/>
              </a:rPr>
              <a:t>Wallet theft</a:t>
            </a:r>
            <a:endParaRPr lang="en-US" sz="1000" dirty="0"/>
          </a:p>
        </p:txBody>
      </p:sp>
      <p:sp>
        <p:nvSpPr>
          <p:cNvPr id="23" name="Shape 21"/>
          <p:cNvSpPr/>
          <p:nvPr/>
        </p:nvSpPr>
        <p:spPr>
          <a:xfrm>
            <a:off x="8019288" y="5029200"/>
            <a:ext cx="1737360" cy="411480"/>
          </a:xfrm>
          <a:prstGeom prst="roundRect">
            <a:avLst>
              <a:gd name="adj" fmla="val 13333"/>
            </a:avLst>
          </a:prstGeom>
          <a:solidFill>
            <a:srgbClr val="E2EAEE"/>
          </a:solidFill>
          <a:ln w="12700">
            <a:solidFill>
              <a:srgbClr val="E2EAEE"/>
            </a:solidFill>
            <a:prstDash val="solid"/>
          </a:ln>
        </p:spPr>
      </p:sp>
      <p:sp>
        <p:nvSpPr>
          <p:cNvPr id="24" name="Text 22"/>
          <p:cNvSpPr/>
          <p:nvPr/>
        </p:nvSpPr>
        <p:spPr>
          <a:xfrm>
            <a:off x="8019288" y="5029200"/>
            <a:ext cx="1737360" cy="411480"/>
          </a:xfrm>
          <a:prstGeom prst="rect">
            <a:avLst/>
          </a:prstGeom>
          <a:noFill/>
          <a:ln/>
        </p:spPr>
        <p:txBody>
          <a:bodyPr wrap="square" lIns="0" tIns="0" rIns="0" bIns="0" rtlCol="0" anchor="ctr"/>
          <a:lstStyle/>
          <a:p>
            <a:pPr algn="ctr" indent="0" marL="0">
              <a:buNone/>
            </a:pPr>
            <a:r>
              <a:rPr lang="en-US" sz="1000" dirty="0">
                <a:solidFill>
                  <a:srgbClr val="1B2A33"/>
                </a:solidFill>
                <a:latin typeface="Calibri" pitchFamily="34" charset="0"/>
                <a:ea typeface="Calibri" pitchFamily="34" charset="-122"/>
                <a:cs typeface="Calibri" pitchFamily="34" charset="-120"/>
              </a:rPr>
              <a:t>Typosquatting</a:t>
            </a:r>
            <a:endParaRPr lang="en-US" sz="1000" dirty="0"/>
          </a:p>
        </p:txBody>
      </p:sp>
      <p:sp>
        <p:nvSpPr>
          <p:cNvPr id="25" name="Shape 23"/>
          <p:cNvSpPr/>
          <p:nvPr/>
        </p:nvSpPr>
        <p:spPr>
          <a:xfrm>
            <a:off x="9875520" y="5029200"/>
            <a:ext cx="1737360" cy="411480"/>
          </a:xfrm>
          <a:prstGeom prst="roundRect">
            <a:avLst>
              <a:gd name="adj" fmla="val 13333"/>
            </a:avLst>
          </a:prstGeom>
          <a:solidFill>
            <a:srgbClr val="E2EAEE"/>
          </a:solidFill>
          <a:ln w="12700">
            <a:solidFill>
              <a:srgbClr val="E2EAEE"/>
            </a:solidFill>
            <a:prstDash val="solid"/>
          </a:ln>
        </p:spPr>
      </p:sp>
      <p:sp>
        <p:nvSpPr>
          <p:cNvPr id="26" name="Text 24"/>
          <p:cNvSpPr/>
          <p:nvPr/>
        </p:nvSpPr>
        <p:spPr>
          <a:xfrm>
            <a:off x="9875520" y="5029200"/>
            <a:ext cx="1737360" cy="411480"/>
          </a:xfrm>
          <a:prstGeom prst="rect">
            <a:avLst/>
          </a:prstGeom>
          <a:noFill/>
          <a:ln/>
        </p:spPr>
        <p:txBody>
          <a:bodyPr wrap="square" lIns="0" tIns="0" rIns="0" bIns="0" rtlCol="0" anchor="ctr"/>
          <a:lstStyle/>
          <a:p>
            <a:pPr algn="ctr" indent="0" marL="0">
              <a:buNone/>
            </a:pPr>
            <a:r>
              <a:rPr lang="en-US" sz="1000" dirty="0">
                <a:solidFill>
                  <a:srgbClr val="1B2A33"/>
                </a:solidFill>
                <a:latin typeface="Calibri" pitchFamily="34" charset="0"/>
                <a:ea typeface="Calibri" pitchFamily="34" charset="-122"/>
                <a:cs typeface="Calibri" pitchFamily="34" charset="-120"/>
              </a:rPr>
              <a:t>Network drops</a:t>
            </a:r>
            <a:endParaRPr lang="en-US" sz="1000" dirty="0"/>
          </a:p>
        </p:txBody>
      </p:sp>
      <p:sp>
        <p:nvSpPr>
          <p:cNvPr id="27" name="Text 25"/>
          <p:cNvSpPr/>
          <p:nvPr/>
        </p:nvSpPr>
        <p:spPr>
          <a:xfrm>
            <a:off x="594360" y="5532120"/>
            <a:ext cx="10515600" cy="274320"/>
          </a:xfrm>
          <a:prstGeom prst="rect">
            <a:avLst/>
          </a:prstGeom>
          <a:noFill/>
          <a:ln/>
        </p:spPr>
        <p:txBody>
          <a:bodyPr wrap="square" lIns="0" tIns="0" rIns="0" bIns="0" rtlCol="0" anchor="ctr"/>
          <a:lstStyle/>
          <a:p>
            <a:pPr indent="0" marL="0">
              <a:buNone/>
            </a:pPr>
            <a:r>
              <a:rPr lang="en-US" sz="1050" i="1" dirty="0">
                <a:solidFill>
                  <a:srgbClr val="5A6B78"/>
                </a:solidFill>
                <a:latin typeface="Calibri" pitchFamily="34" charset="0"/>
                <a:ea typeface="Calibri" pitchFamily="34" charset="-122"/>
                <a:cs typeface="Calibri" pitchFamily="34" charset="-120"/>
              </a:rPr>
              <a:t>38 things we look for, grouped into 10 kinds of behaviour</a:t>
            </a:r>
            <a:endParaRPr lang="en-US" sz="1050" dirty="0"/>
          </a:p>
        </p:txBody>
      </p:sp>
      <p:sp>
        <p:nvSpPr>
          <p:cNvPr id="28" name="Text 26"/>
          <p:cNvSpPr/>
          <p:nvPr/>
        </p:nvSpPr>
        <p:spPr>
          <a:xfrm>
            <a:off x="11109960" y="6355080"/>
            <a:ext cx="457200" cy="274320"/>
          </a:xfrm>
          <a:prstGeom prst="rect">
            <a:avLst/>
          </a:prstGeom>
          <a:noFill/>
          <a:ln/>
        </p:spPr>
        <p:txBody>
          <a:bodyPr wrap="square" lIns="0" tIns="0" rIns="0" bIns="0"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a:ln/>
        </p:spPr>
      </p:sp>
      <p:sp>
        <p:nvSpPr>
          <p:cNvPr id="3" name="Text 1"/>
          <p:cNvSpPr/>
          <p:nvPr/>
        </p:nvSpPr>
        <p:spPr>
          <a:xfrm>
            <a:off x="59436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p:nvPr/>
        </p:nvSpPr>
        <p:spPr>
          <a:xfrm>
            <a:off x="1014984" y="384048"/>
            <a:ext cx="5486400" cy="310896"/>
          </a:xfrm>
          <a:prstGeom prst="rect">
            <a:avLst/>
          </a:prstGeom>
          <a:noFill/>
          <a:ln/>
        </p:spPr>
        <p:txBody>
          <a:bodyPr wrap="square" lIns="0" tIns="0" rIns="0" bIns="0" rtlCol="0" anchor="ctr"/>
          <a:lstStyle/>
          <a:p>
            <a:pPr indent="0" marL="0">
              <a:buNone/>
            </a:pPr>
            <a:r>
              <a:rPr lang="en-US" sz="1050" b="1" spc="160" kern="0" dirty="0">
                <a:solidFill>
                  <a:srgbClr val="5A6B78"/>
                </a:solidFill>
                <a:latin typeface="Calibri" pitchFamily="34" charset="0"/>
                <a:ea typeface="Calibri" pitchFamily="34" charset="-122"/>
                <a:cs typeface="Calibri" pitchFamily="34" charset="-120"/>
              </a:rPr>
              <a:t>DESIGN OF PROPOSED METHODOLOGY</a:t>
            </a:r>
            <a:endParaRPr lang="en-US" sz="1050" dirty="0"/>
          </a:p>
        </p:txBody>
      </p:sp>
      <p:sp>
        <p:nvSpPr>
          <p:cNvPr id="5" name="Text 3"/>
          <p:cNvSpPr/>
          <p:nvPr/>
        </p:nvSpPr>
        <p:spPr>
          <a:xfrm>
            <a:off x="594360" y="841248"/>
            <a:ext cx="10972800" cy="658368"/>
          </a:xfrm>
          <a:prstGeom prst="rect">
            <a:avLst/>
          </a:prstGeom>
          <a:noFill/>
          <a:ln/>
        </p:spPr>
        <p:txBody>
          <a:bodyPr wrap="square" lIns="0" tIns="0" rIns="0" bIns="0" rtlCol="0" anchor="ctr"/>
          <a:lstStyle/>
          <a:p>
            <a:pPr indent="0" marL="0">
              <a:buNone/>
            </a:pPr>
            <a:r>
              <a:rPr lang="en-US" sz="3000" b="1" dirty="0">
                <a:solidFill>
                  <a:srgbClr val="1B2A33"/>
                </a:solidFill>
                <a:latin typeface="Cambria" pitchFamily="34" charset="0"/>
                <a:ea typeface="Cambria" pitchFamily="34" charset="-122"/>
                <a:cs typeface="Cambria" pitchFamily="34" charset="-120"/>
              </a:rPr>
              <a:t>Working out which vulnerabilities actually matter</a:t>
            </a:r>
            <a:endParaRPr lang="en-US" sz="3000" dirty="0"/>
          </a:p>
        </p:txBody>
      </p:sp>
      <p:sp>
        <p:nvSpPr>
          <p:cNvPr id="6" name="Text 4"/>
          <p:cNvSpPr/>
          <p:nvPr/>
        </p:nvSpPr>
        <p:spPr>
          <a:xfrm>
            <a:off x="594360" y="1627632"/>
            <a:ext cx="10881360" cy="365760"/>
          </a:xfrm>
          <a:prstGeom prst="rect">
            <a:avLst/>
          </a:prstGeom>
          <a:noFill/>
          <a:ln/>
        </p:spPr>
        <p:txBody>
          <a:bodyPr wrap="square" lIns="0" tIns="0" rIns="0" bIns="0" rtlCol="0" anchor="ctr"/>
          <a:lstStyle/>
          <a:p>
            <a:pPr indent="0" marL="0">
              <a:buNone/>
            </a:pPr>
            <a:r>
              <a:rPr lang="en-US" sz="1250" dirty="0">
                <a:solidFill>
                  <a:srgbClr val="1B2A33"/>
                </a:solidFill>
                <a:latin typeface="Calibri" pitchFamily="34" charset="0"/>
                <a:ea typeface="Calibri" pitchFamily="34" charset="-122"/>
                <a:cs typeface="Calibri" pitchFamily="34" charset="-120"/>
              </a:rPr>
              <a:t>We build a call graph of your own code, then search from the places execution really starts, looking for a path into the vulnerable function.</a:t>
            </a:r>
            <a:endParaRPr lang="en-US" sz="1250" dirty="0"/>
          </a:p>
        </p:txBody>
      </p:sp>
      <p:sp>
        <p:nvSpPr>
          <p:cNvPr id="7" name="Shape 5"/>
          <p:cNvSpPr/>
          <p:nvPr/>
        </p:nvSpPr>
        <p:spPr>
          <a:xfrm>
            <a:off x="594360" y="2148840"/>
            <a:ext cx="6035040" cy="804672"/>
          </a:xfrm>
          <a:prstGeom prst="roundRect">
            <a:avLst>
              <a:gd name="adj" fmla="val 6818"/>
            </a:avLst>
          </a:prstGeom>
          <a:solidFill>
            <a:srgbClr val="FFFFFF"/>
          </a:solidFill>
          <a:ln w="12700">
            <a:solidFill>
              <a:srgbClr val="E2EAEE"/>
            </a:solidFill>
            <a:prstDash val="solid"/>
          </a:ln>
        </p:spPr>
      </p:sp>
      <p:sp>
        <p:nvSpPr>
          <p:cNvPr id="8" name="Shape 6"/>
          <p:cNvSpPr/>
          <p:nvPr/>
        </p:nvSpPr>
        <p:spPr>
          <a:xfrm>
            <a:off x="850392" y="2432304"/>
            <a:ext cx="219456" cy="219456"/>
          </a:xfrm>
          <a:prstGeom prst="ellipse">
            <a:avLst/>
          </a:prstGeom>
          <a:solidFill>
            <a:srgbClr val="0B7A5A"/>
          </a:solidFill>
          <a:ln/>
        </p:spPr>
      </p:sp>
      <p:sp>
        <p:nvSpPr>
          <p:cNvPr id="9" name="Text 7"/>
          <p:cNvSpPr/>
          <p:nvPr/>
        </p:nvSpPr>
        <p:spPr>
          <a:xfrm>
            <a:off x="1216152" y="2231136"/>
            <a:ext cx="2926080" cy="310896"/>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Not imported</a:t>
            </a:r>
            <a:endParaRPr lang="en-US" sz="1250" dirty="0"/>
          </a:p>
        </p:txBody>
      </p:sp>
      <p:sp>
        <p:nvSpPr>
          <p:cNvPr id="10" name="Text 8"/>
          <p:cNvSpPr/>
          <p:nvPr/>
        </p:nvSpPr>
        <p:spPr>
          <a:xfrm>
            <a:off x="1216152" y="2532888"/>
            <a:ext cx="4114800" cy="36576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The package is installed but your code never imports it.</a:t>
            </a:r>
            <a:endParaRPr lang="en-US" sz="1050" dirty="0"/>
          </a:p>
        </p:txBody>
      </p:sp>
      <p:sp>
        <p:nvSpPr>
          <p:cNvPr id="11" name="Text 9"/>
          <p:cNvSpPr/>
          <p:nvPr/>
        </p:nvSpPr>
        <p:spPr>
          <a:xfrm>
            <a:off x="5303520" y="2231136"/>
            <a:ext cx="1188720" cy="310896"/>
          </a:xfrm>
          <a:prstGeom prst="rect">
            <a:avLst/>
          </a:prstGeom>
          <a:noFill/>
          <a:ln/>
        </p:spPr>
        <p:txBody>
          <a:bodyPr wrap="square" lIns="0" tIns="0" rIns="0" bIns="0" rtlCol="0" anchor="ctr"/>
          <a:lstStyle/>
          <a:p>
            <a:pPr algn="r" indent="0" marL="0">
              <a:buNone/>
            </a:pPr>
            <a:r>
              <a:rPr lang="en-US" sz="950" b="1" dirty="0">
                <a:solidFill>
                  <a:srgbClr val="0B7A5A"/>
                </a:solidFill>
                <a:latin typeface="Calibri" pitchFamily="34" charset="0"/>
                <a:ea typeface="Calibri" pitchFamily="34" charset="-122"/>
                <a:cs typeface="Calibri" pitchFamily="34" charset="-120"/>
              </a:rPr>
              <a:t>High confidence</a:t>
            </a:r>
            <a:endParaRPr lang="en-US" sz="950" dirty="0"/>
          </a:p>
        </p:txBody>
      </p:sp>
      <p:sp>
        <p:nvSpPr>
          <p:cNvPr id="12" name="Shape 10"/>
          <p:cNvSpPr/>
          <p:nvPr/>
        </p:nvSpPr>
        <p:spPr>
          <a:xfrm>
            <a:off x="594360" y="3063240"/>
            <a:ext cx="6035040" cy="804672"/>
          </a:xfrm>
          <a:prstGeom prst="roundRect">
            <a:avLst>
              <a:gd name="adj" fmla="val 6818"/>
            </a:avLst>
          </a:prstGeom>
          <a:solidFill>
            <a:srgbClr val="FFFFFF"/>
          </a:solidFill>
          <a:ln w="12700">
            <a:solidFill>
              <a:srgbClr val="E2EAEE"/>
            </a:solidFill>
            <a:prstDash val="solid"/>
          </a:ln>
        </p:spPr>
      </p:sp>
      <p:sp>
        <p:nvSpPr>
          <p:cNvPr id="13" name="Shape 11"/>
          <p:cNvSpPr/>
          <p:nvPr/>
        </p:nvSpPr>
        <p:spPr>
          <a:xfrm>
            <a:off x="850392" y="3346704"/>
            <a:ext cx="219456" cy="219456"/>
          </a:xfrm>
          <a:prstGeom prst="ellipse">
            <a:avLst/>
          </a:prstGeom>
          <a:solidFill>
            <a:srgbClr val="0B7A5A"/>
          </a:solidFill>
          <a:ln/>
        </p:spPr>
      </p:sp>
      <p:sp>
        <p:nvSpPr>
          <p:cNvPr id="14" name="Text 12"/>
          <p:cNvSpPr/>
          <p:nvPr/>
        </p:nvSpPr>
        <p:spPr>
          <a:xfrm>
            <a:off x="1216152" y="3145536"/>
            <a:ext cx="2926080" cy="310896"/>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Symbol not called</a:t>
            </a:r>
            <a:endParaRPr lang="en-US" sz="1250" dirty="0"/>
          </a:p>
        </p:txBody>
      </p:sp>
      <p:sp>
        <p:nvSpPr>
          <p:cNvPr id="15" name="Text 13"/>
          <p:cNvSpPr/>
          <p:nvPr/>
        </p:nvSpPr>
        <p:spPr>
          <a:xfrm>
            <a:off x="1216152" y="3447288"/>
            <a:ext cx="4114800" cy="36576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You import it, but never touch the vulnerable function.</a:t>
            </a:r>
            <a:endParaRPr lang="en-US" sz="1050" dirty="0"/>
          </a:p>
        </p:txBody>
      </p:sp>
      <p:sp>
        <p:nvSpPr>
          <p:cNvPr id="16" name="Text 14"/>
          <p:cNvSpPr/>
          <p:nvPr/>
        </p:nvSpPr>
        <p:spPr>
          <a:xfrm>
            <a:off x="5303520" y="3145536"/>
            <a:ext cx="1188720" cy="310896"/>
          </a:xfrm>
          <a:prstGeom prst="rect">
            <a:avLst/>
          </a:prstGeom>
          <a:noFill/>
          <a:ln/>
        </p:spPr>
        <p:txBody>
          <a:bodyPr wrap="square" lIns="0" tIns="0" rIns="0" bIns="0" rtlCol="0" anchor="ctr"/>
          <a:lstStyle/>
          <a:p>
            <a:pPr algn="r" indent="0" marL="0">
              <a:buNone/>
            </a:pPr>
            <a:r>
              <a:rPr lang="en-US" sz="950" b="1" dirty="0">
                <a:solidFill>
                  <a:srgbClr val="0B7A5A"/>
                </a:solidFill>
                <a:latin typeface="Calibri" pitchFamily="34" charset="0"/>
                <a:ea typeface="Calibri" pitchFamily="34" charset="-122"/>
                <a:cs typeface="Calibri" pitchFamily="34" charset="-120"/>
              </a:rPr>
              <a:t>Medium confidence</a:t>
            </a:r>
            <a:endParaRPr lang="en-US" sz="950" dirty="0"/>
          </a:p>
        </p:txBody>
      </p:sp>
      <p:sp>
        <p:nvSpPr>
          <p:cNvPr id="17" name="Shape 15"/>
          <p:cNvSpPr/>
          <p:nvPr/>
        </p:nvSpPr>
        <p:spPr>
          <a:xfrm>
            <a:off x="594360" y="3977640"/>
            <a:ext cx="6035040" cy="804672"/>
          </a:xfrm>
          <a:prstGeom prst="roundRect">
            <a:avLst>
              <a:gd name="adj" fmla="val 6818"/>
            </a:avLst>
          </a:prstGeom>
          <a:solidFill>
            <a:srgbClr val="FFFFFF"/>
          </a:solidFill>
          <a:ln w="12700">
            <a:solidFill>
              <a:srgbClr val="E2EAEE"/>
            </a:solidFill>
            <a:prstDash val="solid"/>
          </a:ln>
        </p:spPr>
      </p:sp>
      <p:sp>
        <p:nvSpPr>
          <p:cNvPr id="18" name="Shape 16"/>
          <p:cNvSpPr/>
          <p:nvPr/>
        </p:nvSpPr>
        <p:spPr>
          <a:xfrm>
            <a:off x="850392" y="4261104"/>
            <a:ext cx="219456" cy="219456"/>
          </a:xfrm>
          <a:prstGeom prst="ellipse">
            <a:avLst/>
          </a:prstGeom>
          <a:solidFill>
            <a:srgbClr val="D64545"/>
          </a:solidFill>
          <a:ln/>
        </p:spPr>
      </p:sp>
      <p:sp>
        <p:nvSpPr>
          <p:cNvPr id="19" name="Text 17"/>
          <p:cNvSpPr/>
          <p:nvPr/>
        </p:nvSpPr>
        <p:spPr>
          <a:xfrm>
            <a:off x="1216152" y="4059936"/>
            <a:ext cx="2926080" cy="310896"/>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Reachable</a:t>
            </a:r>
            <a:endParaRPr lang="en-US" sz="1250" dirty="0"/>
          </a:p>
        </p:txBody>
      </p:sp>
      <p:sp>
        <p:nvSpPr>
          <p:cNvPr id="20" name="Text 18"/>
          <p:cNvSpPr/>
          <p:nvPr/>
        </p:nvSpPr>
        <p:spPr>
          <a:xfrm>
            <a:off x="1216152" y="4361688"/>
            <a:ext cx="4114800" cy="36576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There is a real path to it, and here is that path.</a:t>
            </a:r>
            <a:endParaRPr lang="en-US" sz="1050" dirty="0"/>
          </a:p>
        </p:txBody>
      </p:sp>
      <p:sp>
        <p:nvSpPr>
          <p:cNvPr id="21" name="Text 19"/>
          <p:cNvSpPr/>
          <p:nvPr/>
        </p:nvSpPr>
        <p:spPr>
          <a:xfrm>
            <a:off x="5303520" y="4059936"/>
            <a:ext cx="1188720" cy="310896"/>
          </a:xfrm>
          <a:prstGeom prst="rect">
            <a:avLst/>
          </a:prstGeom>
          <a:noFill/>
          <a:ln/>
        </p:spPr>
        <p:txBody>
          <a:bodyPr wrap="square" lIns="0" tIns="0" rIns="0" bIns="0" rtlCol="0" anchor="ctr"/>
          <a:lstStyle/>
          <a:p>
            <a:pPr algn="r" indent="0" marL="0">
              <a:buNone/>
            </a:pPr>
            <a:r>
              <a:rPr lang="en-US" sz="950" b="1" dirty="0">
                <a:solidFill>
                  <a:srgbClr val="D64545"/>
                </a:solidFill>
                <a:latin typeface="Calibri" pitchFamily="34" charset="0"/>
                <a:ea typeface="Calibri" pitchFamily="34" charset="-122"/>
                <a:cs typeface="Calibri" pitchFamily="34" charset="-120"/>
              </a:rPr>
              <a:t>Needs fixing</a:t>
            </a:r>
            <a:endParaRPr lang="en-US" sz="950" dirty="0"/>
          </a:p>
        </p:txBody>
      </p:sp>
      <p:sp>
        <p:nvSpPr>
          <p:cNvPr id="22" name="Shape 20"/>
          <p:cNvSpPr/>
          <p:nvPr/>
        </p:nvSpPr>
        <p:spPr>
          <a:xfrm>
            <a:off x="594360" y="4892040"/>
            <a:ext cx="6035040" cy="804672"/>
          </a:xfrm>
          <a:prstGeom prst="roundRect">
            <a:avLst>
              <a:gd name="adj" fmla="val 6818"/>
            </a:avLst>
          </a:prstGeom>
          <a:solidFill>
            <a:srgbClr val="FFFFFF"/>
          </a:solidFill>
          <a:ln w="12700">
            <a:solidFill>
              <a:srgbClr val="E2EAEE"/>
            </a:solidFill>
            <a:prstDash val="solid"/>
          </a:ln>
        </p:spPr>
      </p:sp>
      <p:sp>
        <p:nvSpPr>
          <p:cNvPr id="23" name="Shape 21"/>
          <p:cNvSpPr/>
          <p:nvPr/>
        </p:nvSpPr>
        <p:spPr>
          <a:xfrm>
            <a:off x="850392" y="5175504"/>
            <a:ext cx="219456" cy="219456"/>
          </a:xfrm>
          <a:prstGeom prst="ellipse">
            <a:avLst/>
          </a:prstGeom>
          <a:solidFill>
            <a:srgbClr val="C88A1E"/>
          </a:solidFill>
          <a:ln/>
        </p:spPr>
      </p:sp>
      <p:sp>
        <p:nvSpPr>
          <p:cNvPr id="24" name="Text 22"/>
          <p:cNvSpPr/>
          <p:nvPr/>
        </p:nvSpPr>
        <p:spPr>
          <a:xfrm>
            <a:off x="1216152" y="4974336"/>
            <a:ext cx="2926080" cy="310896"/>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Assumed reachable</a:t>
            </a:r>
            <a:endParaRPr lang="en-US" sz="1250" dirty="0"/>
          </a:p>
        </p:txBody>
      </p:sp>
      <p:sp>
        <p:nvSpPr>
          <p:cNvPr id="25" name="Text 23"/>
          <p:cNvSpPr/>
          <p:nvPr/>
        </p:nvSpPr>
        <p:spPr>
          <a:xfrm>
            <a:off x="1216152" y="5276088"/>
            <a:ext cx="4114800" cy="36576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The advisory does not say which function is affected, so we cannot rule it out.</a:t>
            </a:r>
            <a:endParaRPr lang="en-US" sz="1050" dirty="0"/>
          </a:p>
        </p:txBody>
      </p:sp>
      <p:sp>
        <p:nvSpPr>
          <p:cNvPr id="26" name="Text 24"/>
          <p:cNvSpPr/>
          <p:nvPr/>
        </p:nvSpPr>
        <p:spPr>
          <a:xfrm>
            <a:off x="5303520" y="4974336"/>
            <a:ext cx="1188720" cy="310896"/>
          </a:xfrm>
          <a:prstGeom prst="rect">
            <a:avLst/>
          </a:prstGeom>
          <a:noFill/>
          <a:ln/>
        </p:spPr>
        <p:txBody>
          <a:bodyPr wrap="square" lIns="0" tIns="0" rIns="0" bIns="0" rtlCol="0" anchor="ctr"/>
          <a:lstStyle/>
          <a:p>
            <a:pPr algn="r" indent="0" marL="0">
              <a:buNone/>
            </a:pPr>
            <a:r>
              <a:rPr lang="en-US" sz="950" b="1" dirty="0">
                <a:solidFill>
                  <a:srgbClr val="C88A1E"/>
                </a:solidFill>
                <a:latin typeface="Calibri" pitchFamily="34" charset="0"/>
                <a:ea typeface="Calibri" pitchFamily="34" charset="-122"/>
                <a:cs typeface="Calibri" pitchFamily="34" charset="-120"/>
              </a:rPr>
              <a:t>Reported anyway</a:t>
            </a:r>
            <a:endParaRPr lang="en-US" sz="950" dirty="0"/>
          </a:p>
        </p:txBody>
      </p:sp>
      <p:sp>
        <p:nvSpPr>
          <p:cNvPr id="27" name="Text 25"/>
          <p:cNvSpPr/>
          <p:nvPr/>
        </p:nvSpPr>
        <p:spPr>
          <a:xfrm>
            <a:off x="6903720" y="2148840"/>
            <a:ext cx="4663440" cy="292608"/>
          </a:xfrm>
          <a:prstGeom prst="rect">
            <a:avLst/>
          </a:prstGeom>
          <a:noFill/>
          <a:ln/>
        </p:spPr>
        <p:txBody>
          <a:bodyPr wrap="square" lIns="0" tIns="0" rIns="0" bIns="0" rtlCol="0" anchor="ctr"/>
          <a:lstStyle/>
          <a:p>
            <a:pPr indent="0" marL="0">
              <a:buNone/>
            </a:pPr>
            <a:r>
              <a:rPr lang="en-US" sz="1300" b="1" dirty="0">
                <a:solidFill>
                  <a:srgbClr val="1B2A33"/>
                </a:solidFill>
                <a:latin typeface="Calibri" pitchFamily="34" charset="0"/>
                <a:ea typeface="Calibri" pitchFamily="34" charset="-122"/>
                <a:cs typeface="Calibri" pitchFamily="34" charset="-120"/>
              </a:rPr>
              <a:t>When it is reachable, we show the proof</a:t>
            </a:r>
            <a:endParaRPr lang="en-US" sz="1300" dirty="0"/>
          </a:p>
        </p:txBody>
      </p:sp>
      <p:sp>
        <p:nvSpPr>
          <p:cNvPr id="28" name="Shape 26"/>
          <p:cNvSpPr/>
          <p:nvPr/>
        </p:nvSpPr>
        <p:spPr>
          <a:xfrm>
            <a:off x="6903720" y="2514600"/>
            <a:ext cx="4663440" cy="1965960"/>
          </a:xfrm>
          <a:prstGeom prst="roundRect">
            <a:avLst>
              <a:gd name="adj" fmla="val 2791"/>
            </a:avLst>
          </a:prstGeom>
          <a:solidFill>
            <a:srgbClr val="0A1E29"/>
          </a:solidFill>
          <a:ln w="12700">
            <a:solidFill>
              <a:srgbClr val="1E3D4D"/>
            </a:solidFill>
            <a:prstDash val="solid"/>
          </a:ln>
        </p:spPr>
      </p:sp>
      <p:sp>
        <p:nvSpPr>
          <p:cNvPr id="29" name="Text 27"/>
          <p:cNvSpPr/>
          <p:nvPr/>
        </p:nvSpPr>
        <p:spPr>
          <a:xfrm>
            <a:off x="7132320" y="2697480"/>
            <a:ext cx="4297680" cy="1600200"/>
          </a:xfrm>
          <a:prstGeom prst="rect">
            <a:avLst/>
          </a:prstGeom>
          <a:noFill/>
          <a:ln/>
        </p:spPr>
        <p:txBody>
          <a:bodyPr wrap="square" lIns="0" tIns="0" rIns="0" bIns="0" rtlCol="0" anchor="ctr"/>
          <a:lstStyle/>
          <a:p>
            <a:pPr indent="0" marL="0">
              <a:lnSpc>
                <a:spcPts val="1600"/>
              </a:lnSpc>
              <a:buNone/>
            </a:pPr>
            <a:r>
              <a:rPr lang="en-US" sz="1050" dirty="0">
                <a:solidFill>
                  <a:srgbClr val="DCE7EC"/>
                </a:solidFill>
                <a:latin typeface="Courier New" pitchFamily="34" charset="0"/>
                <a:ea typeface="Courier New" pitchFamily="34" charset="-122"/>
                <a:cs typeface="Courier New" pitchFamily="34" charset="-120"/>
              </a:rPr>
              <a:t>app.py:31   app</a:t>
            </a:r>
            <a:endParaRPr lang="en-US" sz="1050" dirty="0"/>
          </a:p>
          <a:p>
            <a:pPr indent="0" marL="0">
              <a:lnSpc>
                <a:spcPts val="1600"/>
              </a:lnSpc>
              <a:buNone/>
            </a:pPr>
            <a:r>
              <a:rPr lang="en-US" sz="1050" dirty="0">
                <a:solidFill>
                  <a:srgbClr val="DCE7EC"/>
                </a:solidFill>
                <a:latin typeface="Courier New" pitchFamily="34" charset="0"/>
                <a:ea typeface="Courier New" pitchFamily="34" charset="-122"/>
                <a:cs typeface="Courier New" pitchFamily="34" charset="-120"/>
              </a:rPr>
              <a:t>  → app.main            app.py:26</a:t>
            </a:r>
            <a:endParaRPr lang="en-US" sz="1050" dirty="0"/>
          </a:p>
          <a:p>
            <a:pPr indent="0" marL="0">
              <a:lnSpc>
                <a:spcPts val="1600"/>
              </a:lnSpc>
              <a:buNone/>
            </a:pPr>
            <a:r>
              <a:rPr lang="en-US" sz="1050" dirty="0">
                <a:solidFill>
                  <a:srgbClr val="DCE7EC"/>
                </a:solidFill>
                <a:latin typeface="Courier New" pitchFamily="34" charset="0"/>
                <a:ea typeface="Courier New" pitchFamily="34" charset="-122"/>
                <a:cs typeface="Courier New" pitchFamily="34" charset="-120"/>
              </a:rPr>
              <a:t>     → app.bootstrap     app.py:21</a:t>
            </a:r>
            <a:endParaRPr lang="en-US" sz="1050" dirty="0"/>
          </a:p>
          <a:p>
            <a:pPr indent="0" marL="0">
              <a:lnSpc>
                <a:spcPts val="1600"/>
              </a:lnSpc>
              <a:buNone/>
            </a:pPr>
            <a:r>
              <a:rPr lang="en-US" sz="1050" dirty="0">
                <a:solidFill>
                  <a:srgbClr val="DCE7EC"/>
                </a:solidFill>
                <a:latin typeface="Courier New" pitchFamily="34" charset="0"/>
                <a:ea typeface="Courier New" pitchFamily="34" charset="-122"/>
                <a:cs typeface="Courier New" pitchFamily="34" charset="-120"/>
              </a:rPr>
              <a:t>        → load_settings  config.py:18</a:t>
            </a:r>
            <a:endParaRPr lang="en-US" sz="1050" dirty="0"/>
          </a:p>
          <a:p>
            <a:pPr indent="0" marL="0">
              <a:lnSpc>
                <a:spcPts val="1600"/>
              </a:lnSpc>
              <a:buNone/>
            </a:pPr>
            <a:r>
              <a:rPr lang="en-US" sz="1050" b="1" dirty="0">
                <a:solidFill>
                  <a:srgbClr val="FF8A7A"/>
                </a:solidFill>
                <a:latin typeface="Courier New" pitchFamily="34" charset="0"/>
                <a:ea typeface="Courier New" pitchFamily="34" charset="-122"/>
                <a:cs typeface="Courier New" pitchFamily="34" charset="-120"/>
              </a:rPr>
              <a:t>           → yaml.load</a:t>
            </a:r>
            <a:endParaRPr lang="en-US" sz="1050" dirty="0"/>
          </a:p>
        </p:txBody>
      </p:sp>
      <p:sp>
        <p:nvSpPr>
          <p:cNvPr id="30" name="Text 28"/>
          <p:cNvSpPr/>
          <p:nvPr/>
        </p:nvSpPr>
        <p:spPr>
          <a:xfrm>
            <a:off x="6903720" y="4572000"/>
            <a:ext cx="4663440" cy="54864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CVE-2020-14343 in PyYAML. Four steps from the entry point, across three files. A text search cannot produce that.</a:t>
            </a:r>
            <a:endParaRPr lang="en-US" sz="1050" dirty="0"/>
          </a:p>
        </p:txBody>
      </p:sp>
      <p:sp>
        <p:nvSpPr>
          <p:cNvPr id="31" name="Shape 29"/>
          <p:cNvSpPr/>
          <p:nvPr/>
        </p:nvSpPr>
        <p:spPr>
          <a:xfrm>
            <a:off x="6903720" y="5166360"/>
            <a:ext cx="4663440" cy="731520"/>
          </a:xfrm>
          <a:prstGeom prst="roundRect">
            <a:avLst>
              <a:gd name="adj" fmla="val 7500"/>
            </a:avLst>
          </a:prstGeom>
          <a:solidFill>
            <a:srgbClr val="EEF3F5"/>
          </a:solidFill>
          <a:ln w="12700">
            <a:solidFill>
              <a:srgbClr val="E2EAEE"/>
            </a:solidFill>
            <a:prstDash val="solid"/>
          </a:ln>
        </p:spPr>
      </p:sp>
      <p:sp>
        <p:nvSpPr>
          <p:cNvPr id="32" name="Text 30"/>
          <p:cNvSpPr/>
          <p:nvPr/>
        </p:nvSpPr>
        <p:spPr>
          <a:xfrm>
            <a:off x="7132320" y="5166360"/>
            <a:ext cx="4251960" cy="731520"/>
          </a:xfrm>
          <a:prstGeom prst="rect">
            <a:avLst/>
          </a:prstGeom>
          <a:noFill/>
          <a:ln/>
        </p:spPr>
        <p:txBody>
          <a:bodyPr wrap="square" lIns="0" tIns="0" rIns="0" bIns="0" rtlCol="0" anchor="ctr"/>
          <a:lstStyle/>
          <a:p>
            <a:pPr indent="0" marL="0">
              <a:buNone/>
            </a:pPr>
            <a:r>
              <a:rPr lang="en-US" sz="1050" i="1" dirty="0">
                <a:solidFill>
                  <a:srgbClr val="1B2A33"/>
                </a:solidFill>
                <a:latin typeface="Calibri" pitchFamily="34" charset="0"/>
                <a:ea typeface="Calibri" pitchFamily="34" charset="-122"/>
                <a:cs typeface="Calibri" pitchFamily="34" charset="-120"/>
              </a:rPr>
              <a:t>If we cannot tell, we say reachable. A false alarm costs ten minutes. A miss ships a live vulnerability.</a:t>
            </a:r>
            <a:endParaRPr lang="en-US" sz="1050" dirty="0"/>
          </a:p>
        </p:txBody>
      </p:sp>
      <p:sp>
        <p:nvSpPr>
          <p:cNvPr id="33" name="Text 31"/>
          <p:cNvSpPr/>
          <p:nvPr/>
        </p:nvSpPr>
        <p:spPr>
          <a:xfrm>
            <a:off x="11109960" y="6355080"/>
            <a:ext cx="457200" cy="274320"/>
          </a:xfrm>
          <a:prstGeom prst="rect">
            <a:avLst/>
          </a:prstGeom>
          <a:noFill/>
          <a:ln/>
        </p:spPr>
        <p:txBody>
          <a:bodyPr wrap="square" lIns="0" tIns="0" rIns="0" bIns="0"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a:ln/>
        </p:spPr>
      </p:sp>
      <p:sp>
        <p:nvSpPr>
          <p:cNvPr id="3" name="Text 1"/>
          <p:cNvSpPr/>
          <p:nvPr/>
        </p:nvSpPr>
        <p:spPr>
          <a:xfrm>
            <a:off x="59436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p:nvPr/>
        </p:nvSpPr>
        <p:spPr>
          <a:xfrm>
            <a:off x="1014984" y="384048"/>
            <a:ext cx="5486400" cy="310896"/>
          </a:xfrm>
          <a:prstGeom prst="rect">
            <a:avLst/>
          </a:prstGeom>
          <a:noFill/>
          <a:ln/>
        </p:spPr>
        <p:txBody>
          <a:bodyPr wrap="square" lIns="0" tIns="0" rIns="0" bIns="0" rtlCol="0" anchor="ctr"/>
          <a:lstStyle/>
          <a:p>
            <a:pPr indent="0" marL="0">
              <a:buNone/>
            </a:pPr>
            <a:r>
              <a:rPr lang="en-US" sz="1050" b="1" spc="160" kern="0" dirty="0">
                <a:solidFill>
                  <a:srgbClr val="5A6B78"/>
                </a:solidFill>
                <a:latin typeface="Calibri" pitchFamily="34" charset="0"/>
                <a:ea typeface="Calibri" pitchFamily="34" charset="-122"/>
                <a:cs typeface="Calibri" pitchFamily="34" charset="-120"/>
              </a:rPr>
              <a:t>DESIGN OF PROPOSED METHODOLOGY</a:t>
            </a:r>
            <a:endParaRPr lang="en-US" sz="1050" dirty="0"/>
          </a:p>
        </p:txBody>
      </p:sp>
      <p:sp>
        <p:nvSpPr>
          <p:cNvPr id="5" name="Text 3"/>
          <p:cNvSpPr/>
          <p:nvPr/>
        </p:nvSpPr>
        <p:spPr>
          <a:xfrm>
            <a:off x="594360" y="841248"/>
            <a:ext cx="10972800" cy="658368"/>
          </a:xfrm>
          <a:prstGeom prst="rect">
            <a:avLst/>
          </a:prstGeom>
          <a:noFill/>
          <a:ln/>
        </p:spPr>
        <p:txBody>
          <a:bodyPr wrap="square" lIns="0" tIns="0" rIns="0" bIns="0" rtlCol="0" anchor="ctr"/>
          <a:lstStyle/>
          <a:p>
            <a:pPr indent="0" marL="0">
              <a:buNone/>
            </a:pPr>
            <a:r>
              <a:rPr lang="en-US" sz="3000" b="1" dirty="0">
                <a:solidFill>
                  <a:srgbClr val="1B2A33"/>
                </a:solidFill>
                <a:latin typeface="Cambria" pitchFamily="34" charset="0"/>
                <a:ea typeface="Cambria" pitchFamily="34" charset="-122"/>
                <a:cs typeface="Cambria" pitchFamily="34" charset="-120"/>
              </a:rPr>
              <a:t>How we made sure we were not fooling ourselves</a:t>
            </a:r>
            <a:endParaRPr lang="en-US" sz="3000" dirty="0"/>
          </a:p>
        </p:txBody>
      </p:sp>
      <p:sp>
        <p:nvSpPr>
          <p:cNvPr id="6" name="Shape 4"/>
          <p:cNvSpPr/>
          <p:nvPr/>
        </p:nvSpPr>
        <p:spPr>
          <a:xfrm>
            <a:off x="594360" y="1645920"/>
            <a:ext cx="5806440" cy="2331720"/>
          </a:xfrm>
          <a:prstGeom prst="roundRect">
            <a:avLst>
              <a:gd name="adj" fmla="val 2353"/>
            </a:avLst>
          </a:prstGeom>
          <a:solidFill>
            <a:srgbClr val="FCF0EE"/>
          </a:solidFill>
          <a:ln w="12700">
            <a:solidFill>
              <a:srgbClr val="D64545"/>
            </a:solidFill>
            <a:prstDash val="solid"/>
          </a:ln>
        </p:spPr>
      </p:sp>
      <p:sp>
        <p:nvSpPr>
          <p:cNvPr id="7" name="Text 5"/>
          <p:cNvSpPr/>
          <p:nvPr/>
        </p:nvSpPr>
        <p:spPr>
          <a:xfrm>
            <a:off x="886968" y="1828800"/>
            <a:ext cx="5029200" cy="256032"/>
          </a:xfrm>
          <a:prstGeom prst="rect">
            <a:avLst/>
          </a:prstGeom>
          <a:noFill/>
          <a:ln/>
        </p:spPr>
        <p:txBody>
          <a:bodyPr wrap="square" lIns="0" tIns="0" rIns="0" bIns="0" rtlCol="0" anchor="ctr"/>
          <a:lstStyle/>
          <a:p>
            <a:pPr indent="0" marL="0">
              <a:buNone/>
            </a:pPr>
            <a:r>
              <a:rPr lang="en-US" sz="1050" b="1" spc="150" kern="0" dirty="0">
                <a:solidFill>
                  <a:srgbClr val="D64545"/>
                </a:solidFill>
                <a:latin typeface="Calibri" pitchFamily="34" charset="0"/>
                <a:ea typeface="Calibri" pitchFamily="34" charset="-122"/>
                <a:cs typeface="Calibri" pitchFamily="34" charset="-120"/>
              </a:rPr>
              <a:t>THE MISTAKE WE ALMOST MADE</a:t>
            </a:r>
            <a:endParaRPr lang="en-US" sz="1050" dirty="0"/>
          </a:p>
        </p:txBody>
      </p:sp>
      <p:sp>
        <p:nvSpPr>
          <p:cNvPr id="8" name="Text 6"/>
          <p:cNvSpPr/>
          <p:nvPr/>
        </p:nvSpPr>
        <p:spPr>
          <a:xfrm>
            <a:off x="886968" y="2148840"/>
            <a:ext cx="5212080" cy="658368"/>
          </a:xfrm>
          <a:prstGeom prst="rect">
            <a:avLst/>
          </a:prstGeom>
          <a:noFill/>
          <a:ln/>
        </p:spPr>
        <p:txBody>
          <a:bodyPr wrap="square" lIns="0" tIns="0" rIns="0" bIns="0" rtlCol="0" anchor="ctr"/>
          <a:lstStyle/>
          <a:p>
            <a:pPr indent="0" marL="0">
              <a:buNone/>
            </a:pPr>
            <a:r>
              <a:rPr lang="en-US" sz="1150" dirty="0">
                <a:solidFill>
                  <a:srgbClr val="1B2A33"/>
                </a:solidFill>
                <a:latin typeface="Calibri" pitchFamily="34" charset="0"/>
                <a:ea typeface="Calibri" pitchFamily="34" charset="-122"/>
                <a:cs typeface="Calibri" pitchFamily="34" charset="-120"/>
              </a:rPr>
              <a:t>Our malicious samples come from an archive, so they have no live registry data. Our clean samples were downloaded today, so they have all of it.</a:t>
            </a:r>
            <a:endParaRPr lang="en-US" sz="1150" dirty="0"/>
          </a:p>
        </p:txBody>
      </p:sp>
      <p:sp>
        <p:nvSpPr>
          <p:cNvPr id="9" name="Text 7"/>
          <p:cNvSpPr/>
          <p:nvPr/>
        </p:nvSpPr>
        <p:spPr>
          <a:xfrm>
            <a:off x="886968" y="2788920"/>
            <a:ext cx="5212080" cy="1005840"/>
          </a:xfrm>
          <a:prstGeom prst="rect">
            <a:avLst/>
          </a:prstGeom>
          <a:noFill/>
          <a:ln/>
        </p:spPr>
        <p:txBody>
          <a:bodyPr wrap="square" lIns="0" tIns="0" rIns="0" bIns="0" rtlCol="0" anchor="ctr"/>
          <a:lstStyle/>
          <a:p>
            <a:pPr indent="0" marL="0">
              <a:buNone/>
            </a:pPr>
            <a:r>
              <a:rPr lang="en-US" sz="1150" dirty="0">
                <a:solidFill>
                  <a:srgbClr val="1B2A33"/>
                </a:solidFill>
                <a:latin typeface="Calibri" pitchFamily="34" charset="0"/>
                <a:ea typeface="Calibri" pitchFamily="34" charset="-122"/>
                <a:cs typeface="Calibri" pitchFamily="34" charset="-120"/>
              </a:rPr>
              <a:t>If we had fed that data to the model, "version count above zero" would have split the two groups perfectly. The model would score almost 100% by learning which folder a sample came from, and it would be useless on anything real.</a:t>
            </a:r>
            <a:endParaRPr lang="en-US" sz="1150" dirty="0"/>
          </a:p>
        </p:txBody>
      </p:sp>
      <p:sp>
        <p:nvSpPr>
          <p:cNvPr id="10" name="Shape 8"/>
          <p:cNvSpPr/>
          <p:nvPr/>
        </p:nvSpPr>
        <p:spPr>
          <a:xfrm>
            <a:off x="594360" y="4160520"/>
            <a:ext cx="5806440" cy="960120"/>
          </a:xfrm>
          <a:prstGeom prst="roundRect">
            <a:avLst>
              <a:gd name="adj" fmla="val 5714"/>
            </a:avLst>
          </a:prstGeom>
          <a:solidFill>
            <a:srgbClr val="EEF3F5"/>
          </a:solidFill>
          <a:ln w="12700">
            <a:solidFill>
              <a:srgbClr val="E2EAEE"/>
            </a:solidFill>
            <a:prstDash val="solid"/>
          </a:ln>
        </p:spPr>
      </p:sp>
      <p:sp>
        <p:nvSpPr>
          <p:cNvPr id="11" name="Text 9"/>
          <p:cNvSpPr/>
          <p:nvPr/>
        </p:nvSpPr>
        <p:spPr>
          <a:xfrm>
            <a:off x="886968" y="4160520"/>
            <a:ext cx="5212080" cy="960120"/>
          </a:xfrm>
          <a:prstGeom prst="rect">
            <a:avLst/>
          </a:prstGeom>
          <a:noFill/>
          <a:ln/>
        </p:spPr>
        <p:txBody>
          <a:bodyPr wrap="square" lIns="0" tIns="0" rIns="0" bIns="0" rtlCol="0" anchor="ctr"/>
          <a:lstStyle/>
          <a:p>
            <a:pPr indent="0" marL="0">
              <a:buNone/>
            </a:pPr>
            <a:r>
              <a:rPr lang="en-US" sz="1150" b="1" dirty="0">
                <a:solidFill>
                  <a:srgbClr val="0B7A5A"/>
                </a:solidFill>
                <a:latin typeface="Calibri" pitchFamily="34" charset="0"/>
                <a:ea typeface="Calibri" pitchFamily="34" charset="-122"/>
                <a:cs typeface="Calibri" pitchFamily="34" charset="-120"/>
              </a:rPr>
              <a:t>So we strip those five fields out of every training sample, in the code that builds the dataset, where nothing can skip it.</a:t>
            </a:r>
            <a:endParaRPr lang="en-US" sz="1150" dirty="0"/>
          </a:p>
        </p:txBody>
      </p:sp>
      <p:sp>
        <p:nvSpPr>
          <p:cNvPr id="12" name="Text 10"/>
          <p:cNvSpPr/>
          <p:nvPr/>
        </p:nvSpPr>
        <p:spPr>
          <a:xfrm>
            <a:off x="6720840" y="1691640"/>
            <a:ext cx="4846320" cy="292608"/>
          </a:xfrm>
          <a:prstGeom prst="rect">
            <a:avLst/>
          </a:prstGeom>
          <a:noFill/>
          <a:ln/>
        </p:spPr>
        <p:txBody>
          <a:bodyPr wrap="square" lIns="0" tIns="0" rIns="0" bIns="0" rtlCol="0" anchor="ctr"/>
          <a:lstStyle/>
          <a:p>
            <a:pPr indent="0" marL="0">
              <a:buNone/>
            </a:pPr>
            <a:r>
              <a:rPr lang="en-US" sz="1300" b="1" dirty="0">
                <a:solidFill>
                  <a:srgbClr val="1B2A33"/>
                </a:solidFill>
                <a:latin typeface="Calibri" pitchFamily="34" charset="0"/>
                <a:ea typeface="Calibri" pitchFamily="34" charset="-122"/>
                <a:cs typeface="Calibri" pitchFamily="34" charset="-120"/>
              </a:rPr>
              <a:t>The rest of the setup</a:t>
            </a:r>
            <a:endParaRPr lang="en-US" sz="1300" dirty="0"/>
          </a:p>
        </p:txBody>
      </p:sp>
      <p:sp>
        <p:nvSpPr>
          <p:cNvPr id="13" name="Text 11"/>
          <p:cNvSpPr/>
          <p:nvPr/>
        </p:nvSpPr>
        <p:spPr>
          <a:xfrm>
            <a:off x="6720840" y="2084832"/>
            <a:ext cx="4846320" cy="274320"/>
          </a:xfrm>
          <a:prstGeom prst="rect">
            <a:avLst/>
          </a:prstGeom>
          <a:noFill/>
          <a:ln/>
        </p:spPr>
        <p:txBody>
          <a:bodyPr wrap="square" lIns="0" tIns="0" rIns="0" bIns="0" rtlCol="0" anchor="ctr"/>
          <a:lstStyle/>
          <a:p>
            <a:pPr indent="0" marL="0">
              <a:buNone/>
            </a:pPr>
            <a:r>
              <a:rPr lang="en-US" sz="1150" b="1" dirty="0">
                <a:solidFill>
                  <a:srgbClr val="1B2A33"/>
                </a:solidFill>
                <a:latin typeface="Calibri" pitchFamily="34" charset="0"/>
                <a:ea typeface="Calibri" pitchFamily="34" charset="-122"/>
                <a:cs typeface="Calibri" pitchFamily="34" charset="-120"/>
              </a:rPr>
              <a:t>Split by package, not by file</a:t>
            </a:r>
            <a:endParaRPr lang="en-US" sz="1150" dirty="0"/>
          </a:p>
        </p:txBody>
      </p:sp>
      <p:sp>
        <p:nvSpPr>
          <p:cNvPr id="14" name="Text 12"/>
          <p:cNvSpPr/>
          <p:nvPr/>
        </p:nvSpPr>
        <p:spPr>
          <a:xfrm>
            <a:off x="6720840" y="2350008"/>
            <a:ext cx="4846320" cy="68580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Two versions of the same package can never sit on both sides of the split. Otherwise the model just recognises what it has already seen.</a:t>
            </a:r>
            <a:endParaRPr lang="en-US" sz="1050" dirty="0"/>
          </a:p>
        </p:txBody>
      </p:sp>
      <p:sp>
        <p:nvSpPr>
          <p:cNvPr id="15" name="Text 13"/>
          <p:cNvSpPr/>
          <p:nvPr/>
        </p:nvSpPr>
        <p:spPr>
          <a:xfrm>
            <a:off x="6720840" y="3072384"/>
            <a:ext cx="4846320" cy="274320"/>
          </a:xfrm>
          <a:prstGeom prst="rect">
            <a:avLst/>
          </a:prstGeom>
          <a:noFill/>
          <a:ln/>
        </p:spPr>
        <p:txBody>
          <a:bodyPr wrap="square" lIns="0" tIns="0" rIns="0" bIns="0" rtlCol="0" anchor="ctr"/>
          <a:lstStyle/>
          <a:p>
            <a:pPr indent="0" marL="0">
              <a:buNone/>
            </a:pPr>
            <a:r>
              <a:rPr lang="en-US" sz="1150" b="1" dirty="0">
                <a:solidFill>
                  <a:srgbClr val="1B2A33"/>
                </a:solidFill>
                <a:latin typeface="Calibri" pitchFamily="34" charset="0"/>
                <a:ea typeface="Calibri" pitchFamily="34" charset="-122"/>
                <a:cs typeface="Calibri" pitchFamily="34" charset="-120"/>
              </a:rPr>
              <a:t>Every number is out of fold</a:t>
            </a:r>
            <a:endParaRPr lang="en-US" sz="1150" dirty="0"/>
          </a:p>
        </p:txBody>
      </p:sp>
      <p:sp>
        <p:nvSpPr>
          <p:cNvPr id="16" name="Text 14"/>
          <p:cNvSpPr/>
          <p:nvPr/>
        </p:nvSpPr>
        <p:spPr>
          <a:xfrm>
            <a:off x="6720840" y="3337560"/>
            <a:ext cx="4846320" cy="68580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No sample is ever scored by a model that was trained on it.</a:t>
            </a:r>
            <a:endParaRPr lang="en-US" sz="1050" dirty="0"/>
          </a:p>
        </p:txBody>
      </p:sp>
      <p:sp>
        <p:nvSpPr>
          <p:cNvPr id="17" name="Text 15"/>
          <p:cNvSpPr/>
          <p:nvPr/>
        </p:nvSpPr>
        <p:spPr>
          <a:xfrm>
            <a:off x="6720840" y="4059936"/>
            <a:ext cx="4846320" cy="274320"/>
          </a:xfrm>
          <a:prstGeom prst="rect">
            <a:avLst/>
          </a:prstGeom>
          <a:noFill/>
          <a:ln/>
        </p:spPr>
        <p:txBody>
          <a:bodyPr wrap="square" lIns="0" tIns="0" rIns="0" bIns="0" rtlCol="0" anchor="ctr"/>
          <a:lstStyle/>
          <a:p>
            <a:pPr indent="0" marL="0">
              <a:buNone/>
            </a:pPr>
            <a:r>
              <a:rPr lang="en-US" sz="1150" b="1" dirty="0">
                <a:solidFill>
                  <a:srgbClr val="1B2A33"/>
                </a:solidFill>
                <a:latin typeface="Calibri" pitchFamily="34" charset="0"/>
                <a:ea typeface="Calibri" pitchFamily="34" charset="-122"/>
                <a:cs typeface="Calibri" pitchFamily="34" charset="-120"/>
              </a:rPr>
              <a:t>We compare against a rules engine</a:t>
            </a:r>
            <a:endParaRPr lang="en-US" sz="1150" dirty="0"/>
          </a:p>
        </p:txBody>
      </p:sp>
      <p:sp>
        <p:nvSpPr>
          <p:cNvPr id="18" name="Text 16"/>
          <p:cNvSpPr/>
          <p:nvPr/>
        </p:nvSpPr>
        <p:spPr>
          <a:xfrm>
            <a:off x="6720840" y="4325112"/>
            <a:ext cx="4846320" cy="68580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Same signals, no learning. Without that comparison, saying we used machine learning proves nothing.</a:t>
            </a:r>
            <a:endParaRPr lang="en-US" sz="1050" dirty="0"/>
          </a:p>
        </p:txBody>
      </p:sp>
      <p:sp>
        <p:nvSpPr>
          <p:cNvPr id="19" name="Text 17"/>
          <p:cNvSpPr/>
          <p:nvPr/>
        </p:nvSpPr>
        <p:spPr>
          <a:xfrm>
            <a:off x="6720840" y="5047488"/>
            <a:ext cx="4846320" cy="274320"/>
          </a:xfrm>
          <a:prstGeom prst="rect">
            <a:avLst/>
          </a:prstGeom>
          <a:noFill/>
          <a:ln/>
        </p:spPr>
        <p:txBody>
          <a:bodyPr wrap="square" lIns="0" tIns="0" rIns="0" bIns="0" rtlCol="0" anchor="ctr"/>
          <a:lstStyle/>
          <a:p>
            <a:pPr indent="0" marL="0">
              <a:buNone/>
            </a:pPr>
            <a:r>
              <a:rPr lang="en-US" sz="1150" b="1" dirty="0">
                <a:solidFill>
                  <a:srgbClr val="1B2A33"/>
                </a:solidFill>
                <a:latin typeface="Calibri" pitchFamily="34" charset="0"/>
                <a:ea typeface="Calibri" pitchFamily="34" charset="-122"/>
                <a:cs typeface="Calibri" pitchFamily="34" charset="-120"/>
              </a:rPr>
              <a:t>We remove each group of features and retrain</a:t>
            </a:r>
            <a:endParaRPr lang="en-US" sz="1150" dirty="0"/>
          </a:p>
        </p:txBody>
      </p:sp>
      <p:sp>
        <p:nvSpPr>
          <p:cNvPr id="20" name="Text 18"/>
          <p:cNvSpPr/>
          <p:nvPr/>
        </p:nvSpPr>
        <p:spPr>
          <a:xfrm>
            <a:off x="6720840" y="5312664"/>
            <a:ext cx="4846320" cy="68580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That shows what each kind of signal is really contributing.</a:t>
            </a:r>
            <a:endParaRPr lang="en-US" sz="1050" dirty="0"/>
          </a:p>
        </p:txBody>
      </p:sp>
      <p:sp>
        <p:nvSpPr>
          <p:cNvPr id="21" name="Text 19"/>
          <p:cNvSpPr/>
          <p:nvPr/>
        </p:nvSpPr>
        <p:spPr>
          <a:xfrm>
            <a:off x="11109960" y="6355080"/>
            <a:ext cx="457200" cy="274320"/>
          </a:xfrm>
          <a:prstGeom prst="rect">
            <a:avLst/>
          </a:prstGeom>
          <a:noFill/>
          <a:ln/>
        </p:spPr>
        <p:txBody>
          <a:bodyPr wrap="square" lIns="0" tIns="0" rIns="0" bIns="0"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a:ln/>
        </p:spPr>
      </p:sp>
      <p:sp>
        <p:nvSpPr>
          <p:cNvPr id="3" name="Text 1"/>
          <p:cNvSpPr/>
          <p:nvPr/>
        </p:nvSpPr>
        <p:spPr>
          <a:xfrm>
            <a:off x="59436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p:nvPr/>
        </p:nvSpPr>
        <p:spPr>
          <a:xfrm>
            <a:off x="1014984" y="384048"/>
            <a:ext cx="5486400" cy="310896"/>
          </a:xfrm>
          <a:prstGeom prst="rect">
            <a:avLst/>
          </a:prstGeom>
          <a:noFill/>
          <a:ln/>
        </p:spPr>
        <p:txBody>
          <a:bodyPr wrap="square" lIns="0" tIns="0" rIns="0" bIns="0" rtlCol="0" anchor="ctr"/>
          <a:lstStyle/>
          <a:p>
            <a:pPr indent="0" marL="0">
              <a:buNone/>
            </a:pPr>
            <a:r>
              <a:rPr lang="en-US" sz="1050" b="1" spc="160" kern="0" dirty="0">
                <a:solidFill>
                  <a:srgbClr val="5A6B78"/>
                </a:solidFill>
                <a:latin typeface="Calibri" pitchFamily="34" charset="0"/>
                <a:ea typeface="Calibri" pitchFamily="34" charset="-122"/>
                <a:cs typeface="Calibri" pitchFamily="34" charset="-120"/>
              </a:rPr>
              <a:t>MODULE DESCRIPTION AND SYSTEM DESIGN</a:t>
            </a:r>
            <a:endParaRPr lang="en-US" sz="1050" dirty="0"/>
          </a:p>
        </p:txBody>
      </p:sp>
      <p:sp>
        <p:nvSpPr>
          <p:cNvPr id="5" name="Text 3"/>
          <p:cNvSpPr/>
          <p:nvPr/>
        </p:nvSpPr>
        <p:spPr>
          <a:xfrm>
            <a:off x="594360" y="841248"/>
            <a:ext cx="10972800" cy="658368"/>
          </a:xfrm>
          <a:prstGeom prst="rect">
            <a:avLst/>
          </a:prstGeom>
          <a:noFill/>
          <a:ln/>
        </p:spPr>
        <p:txBody>
          <a:bodyPr wrap="square" lIns="0" tIns="0" rIns="0" bIns="0" rtlCol="0" anchor="ctr"/>
          <a:lstStyle/>
          <a:p>
            <a:pPr indent="0" marL="0">
              <a:buNone/>
            </a:pPr>
            <a:r>
              <a:rPr lang="en-US" sz="3000" b="1" dirty="0">
                <a:solidFill>
                  <a:srgbClr val="1B2A33"/>
                </a:solidFill>
                <a:latin typeface="Cambria" pitchFamily="34" charset="0"/>
                <a:ea typeface="Cambria" pitchFamily="34" charset="-122"/>
                <a:cs typeface="Cambria" pitchFamily="34" charset="-120"/>
              </a:rPr>
              <a:t>How the system is put together</a:t>
            </a:r>
            <a:endParaRPr lang="en-US" sz="3000" dirty="0"/>
          </a:p>
        </p:txBody>
      </p:sp>
      <p:sp>
        <p:nvSpPr>
          <p:cNvPr id="6" name="Shape 4"/>
          <p:cNvSpPr/>
          <p:nvPr/>
        </p:nvSpPr>
        <p:spPr>
          <a:xfrm>
            <a:off x="594360" y="1691640"/>
            <a:ext cx="7863840" cy="749808"/>
          </a:xfrm>
          <a:prstGeom prst="roundRect">
            <a:avLst>
              <a:gd name="adj" fmla="val 7317"/>
            </a:avLst>
          </a:prstGeom>
          <a:solidFill>
            <a:srgbClr val="FFFFFF"/>
          </a:solidFill>
          <a:ln w="12700">
            <a:solidFill>
              <a:srgbClr val="E2EAEE"/>
            </a:solidFill>
            <a:prstDash val="solid"/>
          </a:ln>
        </p:spPr>
      </p:sp>
      <p:sp>
        <p:nvSpPr>
          <p:cNvPr id="7" name="Shape 5"/>
          <p:cNvSpPr/>
          <p:nvPr/>
        </p:nvSpPr>
        <p:spPr>
          <a:xfrm>
            <a:off x="822960" y="1929384"/>
            <a:ext cx="274320" cy="274320"/>
          </a:xfrm>
          <a:prstGeom prst="rect">
            <a:avLst/>
          </a:prstGeom>
          <a:solidFill>
            <a:srgbClr val="12B886"/>
          </a:solidFill>
          <a:ln/>
        </p:spPr>
      </p:sp>
      <p:sp>
        <p:nvSpPr>
          <p:cNvPr id="8" name="Text 6"/>
          <p:cNvSpPr/>
          <p:nvPr/>
        </p:nvSpPr>
        <p:spPr>
          <a:xfrm>
            <a:off x="1252728" y="1746504"/>
            <a:ext cx="2743200" cy="320040"/>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What the user sees</a:t>
            </a:r>
            <a:endParaRPr lang="en-US" sz="1250" dirty="0"/>
          </a:p>
        </p:txBody>
      </p:sp>
      <p:sp>
        <p:nvSpPr>
          <p:cNvPr id="9" name="Text 7"/>
          <p:cNvSpPr/>
          <p:nvPr/>
        </p:nvSpPr>
        <p:spPr>
          <a:xfrm>
            <a:off x="1252728" y="2057400"/>
            <a:ext cx="6949440" cy="329184"/>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React dashboard    Command line tool    HTML report you can print</a:t>
            </a:r>
            <a:endParaRPr lang="en-US" sz="1000" dirty="0"/>
          </a:p>
        </p:txBody>
      </p:sp>
      <p:sp>
        <p:nvSpPr>
          <p:cNvPr id="10" name="Shape 8"/>
          <p:cNvSpPr/>
          <p:nvPr/>
        </p:nvSpPr>
        <p:spPr>
          <a:xfrm>
            <a:off x="594360" y="2560320"/>
            <a:ext cx="7863840" cy="749808"/>
          </a:xfrm>
          <a:prstGeom prst="roundRect">
            <a:avLst>
              <a:gd name="adj" fmla="val 7317"/>
            </a:avLst>
          </a:prstGeom>
          <a:solidFill>
            <a:srgbClr val="FFFFFF"/>
          </a:solidFill>
          <a:ln w="12700">
            <a:solidFill>
              <a:srgbClr val="E2EAEE"/>
            </a:solidFill>
            <a:prstDash val="solid"/>
          </a:ln>
        </p:spPr>
      </p:sp>
      <p:sp>
        <p:nvSpPr>
          <p:cNvPr id="11" name="Shape 9"/>
          <p:cNvSpPr/>
          <p:nvPr/>
        </p:nvSpPr>
        <p:spPr>
          <a:xfrm>
            <a:off x="822960" y="2798064"/>
            <a:ext cx="274320" cy="274320"/>
          </a:xfrm>
          <a:prstGeom prst="rect">
            <a:avLst/>
          </a:prstGeom>
          <a:solidFill>
            <a:srgbClr val="0B7A5A"/>
          </a:solidFill>
          <a:ln/>
        </p:spPr>
      </p:sp>
      <p:sp>
        <p:nvSpPr>
          <p:cNvPr id="12" name="Text 10"/>
          <p:cNvSpPr/>
          <p:nvPr/>
        </p:nvSpPr>
        <p:spPr>
          <a:xfrm>
            <a:off x="1252728" y="2615184"/>
            <a:ext cx="2743200" cy="320040"/>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Handling a scan</a:t>
            </a:r>
            <a:endParaRPr lang="en-US" sz="1250" dirty="0"/>
          </a:p>
        </p:txBody>
      </p:sp>
      <p:sp>
        <p:nvSpPr>
          <p:cNvPr id="13" name="Text 11"/>
          <p:cNvSpPr/>
          <p:nvPr/>
        </p:nvSpPr>
        <p:spPr>
          <a:xfrm>
            <a:off x="1252728" y="2926080"/>
            <a:ext cx="6949440" cy="329184"/>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FastAPI service    Background jobs with progress    Scan orchestrator</a:t>
            </a:r>
            <a:endParaRPr lang="en-US" sz="1000" dirty="0"/>
          </a:p>
        </p:txBody>
      </p:sp>
      <p:sp>
        <p:nvSpPr>
          <p:cNvPr id="14" name="Shape 12"/>
          <p:cNvSpPr/>
          <p:nvPr/>
        </p:nvSpPr>
        <p:spPr>
          <a:xfrm>
            <a:off x="594360" y="3429000"/>
            <a:ext cx="7863840" cy="749808"/>
          </a:xfrm>
          <a:prstGeom prst="roundRect">
            <a:avLst>
              <a:gd name="adj" fmla="val 7317"/>
            </a:avLst>
          </a:prstGeom>
          <a:solidFill>
            <a:srgbClr val="FFFFFF"/>
          </a:solidFill>
          <a:ln w="12700">
            <a:solidFill>
              <a:srgbClr val="E2EAEE"/>
            </a:solidFill>
            <a:prstDash val="solid"/>
          </a:ln>
        </p:spPr>
      </p:sp>
      <p:sp>
        <p:nvSpPr>
          <p:cNvPr id="15" name="Shape 13"/>
          <p:cNvSpPr/>
          <p:nvPr/>
        </p:nvSpPr>
        <p:spPr>
          <a:xfrm>
            <a:off x="822960" y="3666744"/>
            <a:ext cx="274320" cy="274320"/>
          </a:xfrm>
          <a:prstGeom prst="rect">
            <a:avLst/>
          </a:prstGeom>
          <a:solidFill>
            <a:srgbClr val="0B7A5A"/>
          </a:solidFill>
          <a:ln/>
        </p:spPr>
      </p:sp>
      <p:sp>
        <p:nvSpPr>
          <p:cNvPr id="16" name="Text 14"/>
          <p:cNvSpPr/>
          <p:nvPr/>
        </p:nvSpPr>
        <p:spPr>
          <a:xfrm>
            <a:off x="1252728" y="3483864"/>
            <a:ext cx="2743200" cy="320040"/>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Doing the analysis</a:t>
            </a:r>
            <a:endParaRPr lang="en-US" sz="1250" dirty="0"/>
          </a:p>
        </p:txBody>
      </p:sp>
      <p:sp>
        <p:nvSpPr>
          <p:cNvPr id="17" name="Text 15"/>
          <p:cNvSpPr/>
          <p:nvPr/>
        </p:nvSpPr>
        <p:spPr>
          <a:xfrm>
            <a:off x="1252728" y="3794760"/>
            <a:ext cx="6949440" cy="329184"/>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Python and JavaScript parsers    58 features    Trained model    Call graph engine</a:t>
            </a:r>
            <a:endParaRPr lang="en-US" sz="1000" dirty="0"/>
          </a:p>
        </p:txBody>
      </p:sp>
      <p:sp>
        <p:nvSpPr>
          <p:cNvPr id="18" name="Shape 16"/>
          <p:cNvSpPr/>
          <p:nvPr/>
        </p:nvSpPr>
        <p:spPr>
          <a:xfrm>
            <a:off x="594360" y="4297680"/>
            <a:ext cx="7863840" cy="749808"/>
          </a:xfrm>
          <a:prstGeom prst="roundRect">
            <a:avLst>
              <a:gd name="adj" fmla="val 7317"/>
            </a:avLst>
          </a:prstGeom>
          <a:solidFill>
            <a:srgbClr val="FFFFFF"/>
          </a:solidFill>
          <a:ln w="12700">
            <a:solidFill>
              <a:srgbClr val="E2EAEE"/>
            </a:solidFill>
            <a:prstDash val="solid"/>
          </a:ln>
        </p:spPr>
      </p:sp>
      <p:sp>
        <p:nvSpPr>
          <p:cNvPr id="19" name="Shape 17"/>
          <p:cNvSpPr/>
          <p:nvPr/>
        </p:nvSpPr>
        <p:spPr>
          <a:xfrm>
            <a:off x="822960" y="4535424"/>
            <a:ext cx="274320" cy="274320"/>
          </a:xfrm>
          <a:prstGeom prst="rect">
            <a:avLst/>
          </a:prstGeom>
          <a:solidFill>
            <a:srgbClr val="5A6B78"/>
          </a:solidFill>
          <a:ln/>
        </p:spPr>
      </p:sp>
      <p:sp>
        <p:nvSpPr>
          <p:cNvPr id="20" name="Text 18"/>
          <p:cNvSpPr/>
          <p:nvPr/>
        </p:nvSpPr>
        <p:spPr>
          <a:xfrm>
            <a:off x="1252728" y="4352544"/>
            <a:ext cx="2743200" cy="320040"/>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Getting the packages</a:t>
            </a:r>
            <a:endParaRPr lang="en-US" sz="1250" dirty="0"/>
          </a:p>
        </p:txBody>
      </p:sp>
      <p:sp>
        <p:nvSpPr>
          <p:cNvPr id="21" name="Text 19"/>
          <p:cNvSpPr/>
          <p:nvPr/>
        </p:nvSpPr>
        <p:spPr>
          <a:xfrm>
            <a:off x="1252728" y="4663440"/>
            <a:ext cx="6949440" cy="329184"/>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npm client    PyPI client    Safe archive unpacking    Dependency resolver    OSV.dev</a:t>
            </a:r>
            <a:endParaRPr lang="en-US" sz="1000" dirty="0"/>
          </a:p>
        </p:txBody>
      </p:sp>
      <p:sp>
        <p:nvSpPr>
          <p:cNvPr id="22" name="Shape 20"/>
          <p:cNvSpPr/>
          <p:nvPr/>
        </p:nvSpPr>
        <p:spPr>
          <a:xfrm>
            <a:off x="594360" y="5166360"/>
            <a:ext cx="7863840" cy="749808"/>
          </a:xfrm>
          <a:prstGeom prst="roundRect">
            <a:avLst>
              <a:gd name="adj" fmla="val 7317"/>
            </a:avLst>
          </a:prstGeom>
          <a:solidFill>
            <a:srgbClr val="FFFFFF"/>
          </a:solidFill>
          <a:ln w="12700">
            <a:solidFill>
              <a:srgbClr val="E2EAEE"/>
            </a:solidFill>
            <a:prstDash val="solid"/>
          </a:ln>
        </p:spPr>
      </p:sp>
      <p:sp>
        <p:nvSpPr>
          <p:cNvPr id="23" name="Shape 21"/>
          <p:cNvSpPr/>
          <p:nvPr/>
        </p:nvSpPr>
        <p:spPr>
          <a:xfrm>
            <a:off x="822960" y="5404104"/>
            <a:ext cx="274320" cy="274320"/>
          </a:xfrm>
          <a:prstGeom prst="rect">
            <a:avLst/>
          </a:prstGeom>
          <a:solidFill>
            <a:srgbClr val="5A6B78"/>
          </a:solidFill>
          <a:ln/>
        </p:spPr>
      </p:sp>
      <p:sp>
        <p:nvSpPr>
          <p:cNvPr id="24" name="Text 22"/>
          <p:cNvSpPr/>
          <p:nvPr/>
        </p:nvSpPr>
        <p:spPr>
          <a:xfrm>
            <a:off x="1252728" y="5221224"/>
            <a:ext cx="2743200" cy="320040"/>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Storage</a:t>
            </a:r>
            <a:endParaRPr lang="en-US" sz="1250" dirty="0"/>
          </a:p>
        </p:txBody>
      </p:sp>
      <p:sp>
        <p:nvSpPr>
          <p:cNvPr id="25" name="Text 23"/>
          <p:cNvSpPr/>
          <p:nvPr/>
        </p:nvSpPr>
        <p:spPr>
          <a:xfrm>
            <a:off x="1252728" y="5532120"/>
            <a:ext cx="6949440" cy="329184"/>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SQLite scan history    Encoded sample store    Download cache    Saved model</a:t>
            </a:r>
            <a:endParaRPr lang="en-US" sz="1000" dirty="0"/>
          </a:p>
        </p:txBody>
      </p:sp>
      <p:sp>
        <p:nvSpPr>
          <p:cNvPr id="26" name="Text 24"/>
          <p:cNvSpPr/>
          <p:nvPr/>
        </p:nvSpPr>
        <p:spPr>
          <a:xfrm>
            <a:off x="8732520" y="1737360"/>
            <a:ext cx="2834640" cy="292608"/>
          </a:xfrm>
          <a:prstGeom prst="rect">
            <a:avLst/>
          </a:prstGeom>
          <a:noFill/>
          <a:ln/>
        </p:spPr>
        <p:txBody>
          <a:bodyPr wrap="square" lIns="0" tIns="0" rIns="0" bIns="0" rtlCol="0" anchor="ctr"/>
          <a:lstStyle/>
          <a:p>
            <a:pPr indent="0" marL="0">
              <a:buNone/>
            </a:pPr>
            <a:r>
              <a:rPr lang="en-US" sz="1250" b="1" dirty="0">
                <a:solidFill>
                  <a:srgbClr val="1B2A33"/>
                </a:solidFill>
                <a:latin typeface="Calibri" pitchFamily="34" charset="0"/>
                <a:ea typeface="Calibri" pitchFamily="34" charset="-122"/>
                <a:cs typeface="Calibri" pitchFamily="34" charset="-120"/>
              </a:rPr>
              <a:t>Built to survive bad input</a:t>
            </a:r>
            <a:endParaRPr lang="en-US" sz="1250" dirty="0"/>
          </a:p>
        </p:txBody>
      </p:sp>
      <p:sp>
        <p:nvSpPr>
          <p:cNvPr id="27" name="Text 25"/>
          <p:cNvSpPr/>
          <p:nvPr/>
        </p:nvSpPr>
        <p:spPr>
          <a:xfrm>
            <a:off x="8732520" y="2057400"/>
            <a:ext cx="2834640" cy="50292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The scanner reads hostile files on purpose, so it is a target itself.</a:t>
            </a:r>
            <a:endParaRPr lang="en-US" sz="1050" dirty="0"/>
          </a:p>
        </p:txBody>
      </p:sp>
      <p:sp>
        <p:nvSpPr>
          <p:cNvPr id="28" name="Shape 26"/>
          <p:cNvSpPr/>
          <p:nvPr/>
        </p:nvSpPr>
        <p:spPr>
          <a:xfrm>
            <a:off x="8732520" y="2706624"/>
            <a:ext cx="164592" cy="164592"/>
          </a:xfrm>
          <a:prstGeom prst="ellipse">
            <a:avLst/>
          </a:prstGeom>
          <a:solidFill>
            <a:srgbClr val="12B886"/>
          </a:solidFill>
          <a:ln/>
        </p:spPr>
      </p:sp>
      <p:sp>
        <p:nvSpPr>
          <p:cNvPr id="29" name="Text 27"/>
          <p:cNvSpPr/>
          <p:nvPr/>
        </p:nvSpPr>
        <p:spPr>
          <a:xfrm>
            <a:off x="9006840" y="2651760"/>
            <a:ext cx="2560320" cy="457200"/>
          </a:xfrm>
          <a:prstGeom prst="rect">
            <a:avLst/>
          </a:prstGeom>
          <a:noFill/>
          <a:ln/>
        </p:spPr>
        <p:txBody>
          <a:bodyPr wrap="square" lIns="0" tIns="0" rIns="0" bIns="0" rtlCol="0" anchor="ctr"/>
          <a:lstStyle/>
          <a:p>
            <a:pPr indent="0" marL="0">
              <a:buNone/>
            </a:pPr>
            <a:r>
              <a:rPr lang="en-US" sz="1050" dirty="0">
                <a:solidFill>
                  <a:srgbClr val="1B2A33"/>
                </a:solidFill>
                <a:latin typeface="Calibri" pitchFamily="34" charset="0"/>
                <a:ea typeface="Calibri" pitchFamily="34" charset="-122"/>
                <a:cs typeface="Calibri" pitchFamily="34" charset="-120"/>
              </a:rPr>
              <a:t>Nothing is ever run</a:t>
            </a:r>
            <a:endParaRPr lang="en-US" sz="1050" dirty="0"/>
          </a:p>
        </p:txBody>
      </p:sp>
      <p:sp>
        <p:nvSpPr>
          <p:cNvPr id="30" name="Shape 28"/>
          <p:cNvSpPr/>
          <p:nvPr/>
        </p:nvSpPr>
        <p:spPr>
          <a:xfrm>
            <a:off x="8732520" y="3273552"/>
            <a:ext cx="164592" cy="164592"/>
          </a:xfrm>
          <a:prstGeom prst="ellipse">
            <a:avLst/>
          </a:prstGeom>
          <a:solidFill>
            <a:srgbClr val="12B886"/>
          </a:solidFill>
          <a:ln/>
        </p:spPr>
      </p:sp>
      <p:sp>
        <p:nvSpPr>
          <p:cNvPr id="31" name="Text 29"/>
          <p:cNvSpPr/>
          <p:nvPr/>
        </p:nvSpPr>
        <p:spPr>
          <a:xfrm>
            <a:off x="9006840" y="3218688"/>
            <a:ext cx="2560320" cy="457200"/>
          </a:xfrm>
          <a:prstGeom prst="rect">
            <a:avLst/>
          </a:prstGeom>
          <a:noFill/>
          <a:ln/>
        </p:spPr>
        <p:txBody>
          <a:bodyPr wrap="square" lIns="0" tIns="0" rIns="0" bIns="0" rtlCol="0" anchor="ctr"/>
          <a:lstStyle/>
          <a:p>
            <a:pPr indent="0" marL="0">
              <a:buNone/>
            </a:pPr>
            <a:r>
              <a:rPr lang="en-US" sz="1050" dirty="0">
                <a:solidFill>
                  <a:srgbClr val="1B2A33"/>
                </a:solidFill>
                <a:latin typeface="Calibri" pitchFamily="34" charset="0"/>
                <a:ea typeface="Calibri" pitchFamily="34" charset="-122"/>
                <a:cs typeface="Calibri" pitchFamily="34" charset="-120"/>
              </a:rPr>
              <a:t>Zip bombs are capped</a:t>
            </a:r>
            <a:endParaRPr lang="en-US" sz="1050" dirty="0"/>
          </a:p>
        </p:txBody>
      </p:sp>
      <p:sp>
        <p:nvSpPr>
          <p:cNvPr id="32" name="Shape 30"/>
          <p:cNvSpPr/>
          <p:nvPr/>
        </p:nvSpPr>
        <p:spPr>
          <a:xfrm>
            <a:off x="8732520" y="3840480"/>
            <a:ext cx="164592" cy="164592"/>
          </a:xfrm>
          <a:prstGeom prst="ellipse">
            <a:avLst/>
          </a:prstGeom>
          <a:solidFill>
            <a:srgbClr val="12B886"/>
          </a:solidFill>
          <a:ln/>
        </p:spPr>
      </p:sp>
      <p:sp>
        <p:nvSpPr>
          <p:cNvPr id="33" name="Text 31"/>
          <p:cNvSpPr/>
          <p:nvPr/>
        </p:nvSpPr>
        <p:spPr>
          <a:xfrm>
            <a:off x="9006840" y="3785616"/>
            <a:ext cx="2560320" cy="457200"/>
          </a:xfrm>
          <a:prstGeom prst="rect">
            <a:avLst/>
          </a:prstGeom>
          <a:noFill/>
          <a:ln/>
        </p:spPr>
        <p:txBody>
          <a:bodyPr wrap="square" lIns="0" tIns="0" rIns="0" bIns="0" rtlCol="0" anchor="ctr"/>
          <a:lstStyle/>
          <a:p>
            <a:pPr indent="0" marL="0">
              <a:buNone/>
            </a:pPr>
            <a:r>
              <a:rPr lang="en-US" sz="1050" dirty="0">
                <a:solidFill>
                  <a:srgbClr val="1B2A33"/>
                </a:solidFill>
                <a:latin typeface="Calibri" pitchFamily="34" charset="0"/>
                <a:ea typeface="Calibri" pitchFamily="34" charset="-122"/>
                <a:cs typeface="Calibri" pitchFamily="34" charset="-120"/>
              </a:rPr>
              <a:t>Escaping file paths blocked</a:t>
            </a:r>
            <a:endParaRPr lang="en-US" sz="1050" dirty="0"/>
          </a:p>
        </p:txBody>
      </p:sp>
      <p:sp>
        <p:nvSpPr>
          <p:cNvPr id="34" name="Shape 32"/>
          <p:cNvSpPr/>
          <p:nvPr/>
        </p:nvSpPr>
        <p:spPr>
          <a:xfrm>
            <a:off x="8732520" y="4407408"/>
            <a:ext cx="164592" cy="164592"/>
          </a:xfrm>
          <a:prstGeom prst="ellipse">
            <a:avLst/>
          </a:prstGeom>
          <a:solidFill>
            <a:srgbClr val="12B886"/>
          </a:solidFill>
          <a:ln/>
        </p:spPr>
      </p:sp>
      <p:sp>
        <p:nvSpPr>
          <p:cNvPr id="35" name="Text 33"/>
          <p:cNvSpPr/>
          <p:nvPr/>
        </p:nvSpPr>
        <p:spPr>
          <a:xfrm>
            <a:off x="9006840" y="4352544"/>
            <a:ext cx="2560320" cy="457200"/>
          </a:xfrm>
          <a:prstGeom prst="rect">
            <a:avLst/>
          </a:prstGeom>
          <a:noFill/>
          <a:ln/>
        </p:spPr>
        <p:txBody>
          <a:bodyPr wrap="square" lIns="0" tIns="0" rIns="0" bIns="0" rtlCol="0" anchor="ctr"/>
          <a:lstStyle/>
          <a:p>
            <a:pPr indent="0" marL="0">
              <a:buNone/>
            </a:pPr>
            <a:r>
              <a:rPr lang="en-US" sz="1050" dirty="0">
                <a:solidFill>
                  <a:srgbClr val="1B2A33"/>
                </a:solidFill>
                <a:latin typeface="Calibri" pitchFamily="34" charset="0"/>
                <a:ea typeface="Calibri" pitchFamily="34" charset="-122"/>
                <a:cs typeface="Calibri" pitchFamily="34" charset="-120"/>
              </a:rPr>
              <a:t>Parser has a time limit</a:t>
            </a:r>
            <a:endParaRPr lang="en-US" sz="1050" dirty="0"/>
          </a:p>
        </p:txBody>
      </p:sp>
      <p:sp>
        <p:nvSpPr>
          <p:cNvPr id="36" name="Shape 34"/>
          <p:cNvSpPr/>
          <p:nvPr/>
        </p:nvSpPr>
        <p:spPr>
          <a:xfrm>
            <a:off x="8732520" y="4974336"/>
            <a:ext cx="164592" cy="164592"/>
          </a:xfrm>
          <a:prstGeom prst="ellipse">
            <a:avLst/>
          </a:prstGeom>
          <a:solidFill>
            <a:srgbClr val="12B886"/>
          </a:solidFill>
          <a:ln/>
        </p:spPr>
      </p:sp>
      <p:sp>
        <p:nvSpPr>
          <p:cNvPr id="37" name="Text 35"/>
          <p:cNvSpPr/>
          <p:nvPr/>
        </p:nvSpPr>
        <p:spPr>
          <a:xfrm>
            <a:off x="9006840" y="4919472"/>
            <a:ext cx="2560320" cy="457200"/>
          </a:xfrm>
          <a:prstGeom prst="rect">
            <a:avLst/>
          </a:prstGeom>
          <a:noFill/>
          <a:ln/>
        </p:spPr>
        <p:txBody>
          <a:bodyPr wrap="square" lIns="0" tIns="0" rIns="0" bIns="0" rtlCol="0" anchor="ctr"/>
          <a:lstStyle/>
          <a:p>
            <a:pPr indent="0" marL="0">
              <a:buNone/>
            </a:pPr>
            <a:r>
              <a:rPr lang="en-US" sz="1050" dirty="0">
                <a:solidFill>
                  <a:srgbClr val="1B2A33"/>
                </a:solidFill>
                <a:latin typeface="Calibri" pitchFamily="34" charset="0"/>
                <a:ea typeface="Calibri" pitchFamily="34" charset="-122"/>
                <a:cs typeface="Calibri" pitchFamily="34" charset="-120"/>
              </a:rPr>
              <a:t>Package names escaped in reports</a:t>
            </a:r>
            <a:endParaRPr lang="en-US" sz="1050" dirty="0"/>
          </a:p>
        </p:txBody>
      </p:sp>
      <p:sp>
        <p:nvSpPr>
          <p:cNvPr id="38" name="Text 36"/>
          <p:cNvSpPr/>
          <p:nvPr/>
        </p:nvSpPr>
        <p:spPr>
          <a:xfrm>
            <a:off x="11109960" y="6355080"/>
            <a:ext cx="457200" cy="274320"/>
          </a:xfrm>
          <a:prstGeom prst="rect">
            <a:avLst/>
          </a:prstGeom>
          <a:noFill/>
          <a:ln/>
        </p:spPr>
        <p:txBody>
          <a:bodyPr wrap="square" lIns="0" tIns="0" rIns="0" bIns="0"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a:ln/>
        </p:spPr>
      </p:sp>
      <p:sp>
        <p:nvSpPr>
          <p:cNvPr id="3" name="Text 1"/>
          <p:cNvSpPr/>
          <p:nvPr/>
        </p:nvSpPr>
        <p:spPr>
          <a:xfrm>
            <a:off x="59436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p:nvPr/>
        </p:nvSpPr>
        <p:spPr>
          <a:xfrm>
            <a:off x="1014984" y="384048"/>
            <a:ext cx="5486400" cy="310896"/>
          </a:xfrm>
          <a:prstGeom prst="rect">
            <a:avLst/>
          </a:prstGeom>
          <a:noFill/>
          <a:ln/>
        </p:spPr>
        <p:txBody>
          <a:bodyPr wrap="square" lIns="0" tIns="0" rIns="0" bIns="0" rtlCol="0" anchor="ctr"/>
          <a:lstStyle/>
          <a:p>
            <a:pPr indent="0" marL="0">
              <a:buNone/>
            </a:pPr>
            <a:r>
              <a:rPr lang="en-US" sz="1050" b="1" spc="160" kern="0" dirty="0">
                <a:solidFill>
                  <a:srgbClr val="5A6B78"/>
                </a:solidFill>
                <a:latin typeface="Calibri" pitchFamily="34" charset="0"/>
                <a:ea typeface="Calibri" pitchFamily="34" charset="-122"/>
                <a:cs typeface="Calibri" pitchFamily="34" charset="-120"/>
              </a:rPr>
              <a:t>MODULE DESCRIPTION AND SYSTEM DESIGN</a:t>
            </a:r>
            <a:endParaRPr lang="en-US" sz="1050" dirty="0"/>
          </a:p>
        </p:txBody>
      </p:sp>
      <p:sp>
        <p:nvSpPr>
          <p:cNvPr id="5" name="Text 3"/>
          <p:cNvSpPr/>
          <p:nvPr/>
        </p:nvSpPr>
        <p:spPr>
          <a:xfrm>
            <a:off x="594360" y="841248"/>
            <a:ext cx="10972800" cy="658368"/>
          </a:xfrm>
          <a:prstGeom prst="rect">
            <a:avLst/>
          </a:prstGeom>
          <a:noFill/>
          <a:ln/>
        </p:spPr>
        <p:txBody>
          <a:bodyPr wrap="square" lIns="0" tIns="0" rIns="0" bIns="0" rtlCol="0" anchor="ctr"/>
          <a:lstStyle/>
          <a:p>
            <a:pPr indent="0" marL="0">
              <a:buNone/>
            </a:pPr>
            <a:r>
              <a:rPr lang="en-US" sz="3000" b="1" dirty="0">
                <a:solidFill>
                  <a:srgbClr val="1B2A33"/>
                </a:solidFill>
                <a:latin typeface="Cambria" pitchFamily="34" charset="0"/>
                <a:ea typeface="Cambria" pitchFamily="34" charset="-122"/>
                <a:cs typeface="Cambria" pitchFamily="34" charset="-120"/>
              </a:rPr>
              <a:t>The 22 modules, and what each one owns</a:t>
            </a:r>
            <a:endParaRPr lang="en-US" sz="3000" dirty="0"/>
          </a:p>
        </p:txBody>
      </p:sp>
      <p:sp>
        <p:nvSpPr>
          <p:cNvPr id="6" name="Shape 4"/>
          <p:cNvSpPr/>
          <p:nvPr/>
        </p:nvSpPr>
        <p:spPr>
          <a:xfrm>
            <a:off x="594360" y="1691640"/>
            <a:ext cx="2615184" cy="3977640"/>
          </a:xfrm>
          <a:prstGeom prst="roundRect">
            <a:avLst>
              <a:gd name="adj" fmla="val 2098"/>
            </a:avLst>
          </a:prstGeom>
          <a:solidFill>
            <a:srgbClr val="FFFFFF"/>
          </a:solidFill>
          <a:ln w="12700">
            <a:solidFill>
              <a:srgbClr val="E2EAEE"/>
            </a:solidFill>
            <a:prstDash val="solid"/>
          </a:ln>
        </p:spPr>
      </p:sp>
      <p:sp>
        <p:nvSpPr>
          <p:cNvPr id="7" name="Shape 5"/>
          <p:cNvSpPr/>
          <p:nvPr/>
        </p:nvSpPr>
        <p:spPr>
          <a:xfrm>
            <a:off x="822960" y="1901952"/>
            <a:ext cx="256032" cy="256032"/>
          </a:xfrm>
          <a:prstGeom prst="rect">
            <a:avLst/>
          </a:prstGeom>
          <a:solidFill>
            <a:srgbClr val="5A6B78"/>
          </a:solidFill>
          <a:ln/>
        </p:spPr>
      </p:sp>
      <p:sp>
        <p:nvSpPr>
          <p:cNvPr id="8" name="Text 6"/>
          <p:cNvSpPr/>
          <p:nvPr/>
        </p:nvSpPr>
        <p:spPr>
          <a:xfrm>
            <a:off x="822960" y="2240280"/>
            <a:ext cx="2194560" cy="502920"/>
          </a:xfrm>
          <a:prstGeom prst="rect">
            <a:avLst/>
          </a:prstGeom>
          <a:noFill/>
          <a:ln/>
        </p:spPr>
        <p:txBody>
          <a:bodyPr wrap="square" lIns="0" tIns="0" rIns="0" bIns="0" rtlCol="0" anchor="ctr"/>
          <a:lstStyle/>
          <a:p>
            <a:pPr indent="0" marL="0">
              <a:buNone/>
            </a:pPr>
            <a:r>
              <a:rPr lang="en-US" sz="1200" b="1" dirty="0">
                <a:solidFill>
                  <a:srgbClr val="1B2A33"/>
                </a:solidFill>
                <a:latin typeface="Calibri" pitchFamily="34" charset="0"/>
                <a:ea typeface="Calibri" pitchFamily="34" charset="-122"/>
                <a:cs typeface="Calibri" pitchFamily="34" charset="-120"/>
              </a:rPr>
              <a:t>Getting packages</a:t>
            </a:r>
            <a:endParaRPr lang="en-US" sz="1200" dirty="0"/>
          </a:p>
        </p:txBody>
      </p:sp>
      <p:sp>
        <p:nvSpPr>
          <p:cNvPr id="9" name="Text 7"/>
          <p:cNvSpPr/>
          <p:nvPr/>
        </p:nvSpPr>
        <p:spPr>
          <a:xfrm>
            <a:off x="822960" y="2761488"/>
            <a:ext cx="2194560" cy="274320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npm and PyPI clients</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Version range resolver</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Safe archive unpacking</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Manifest and lockfile reader</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Dependency tree builder</a:t>
            </a:r>
            <a:endParaRPr lang="en-US" sz="1000" dirty="0"/>
          </a:p>
        </p:txBody>
      </p:sp>
      <p:sp>
        <p:nvSpPr>
          <p:cNvPr id="10" name="Shape 8"/>
          <p:cNvSpPr/>
          <p:nvPr/>
        </p:nvSpPr>
        <p:spPr>
          <a:xfrm>
            <a:off x="3392424" y="1691640"/>
            <a:ext cx="2615184" cy="3977640"/>
          </a:xfrm>
          <a:prstGeom prst="roundRect">
            <a:avLst>
              <a:gd name="adj" fmla="val 2098"/>
            </a:avLst>
          </a:prstGeom>
          <a:solidFill>
            <a:srgbClr val="FFFFFF"/>
          </a:solidFill>
          <a:ln w="12700">
            <a:solidFill>
              <a:srgbClr val="E2EAEE"/>
            </a:solidFill>
            <a:prstDash val="solid"/>
          </a:ln>
        </p:spPr>
      </p:sp>
      <p:sp>
        <p:nvSpPr>
          <p:cNvPr id="11" name="Shape 9"/>
          <p:cNvSpPr/>
          <p:nvPr/>
        </p:nvSpPr>
        <p:spPr>
          <a:xfrm>
            <a:off x="3621024" y="1901952"/>
            <a:ext cx="256032" cy="256032"/>
          </a:xfrm>
          <a:prstGeom prst="rect">
            <a:avLst/>
          </a:prstGeom>
          <a:solidFill>
            <a:srgbClr val="0B7A5A"/>
          </a:solidFill>
          <a:ln/>
        </p:spPr>
      </p:sp>
      <p:sp>
        <p:nvSpPr>
          <p:cNvPr id="12" name="Text 10"/>
          <p:cNvSpPr/>
          <p:nvPr/>
        </p:nvSpPr>
        <p:spPr>
          <a:xfrm>
            <a:off x="3621024" y="2240280"/>
            <a:ext cx="2194560" cy="502920"/>
          </a:xfrm>
          <a:prstGeom prst="rect">
            <a:avLst/>
          </a:prstGeom>
          <a:noFill/>
          <a:ln/>
        </p:spPr>
        <p:txBody>
          <a:bodyPr wrap="square" lIns="0" tIns="0" rIns="0" bIns="0" rtlCol="0" anchor="ctr"/>
          <a:lstStyle/>
          <a:p>
            <a:pPr indent="0" marL="0">
              <a:buNone/>
            </a:pPr>
            <a:r>
              <a:rPr lang="en-US" sz="1200" b="1" dirty="0">
                <a:solidFill>
                  <a:srgbClr val="1B2A33"/>
                </a:solidFill>
                <a:latin typeface="Calibri" pitchFamily="34" charset="0"/>
                <a:ea typeface="Calibri" pitchFamily="34" charset="-122"/>
                <a:cs typeface="Calibri" pitchFamily="34" charset="-120"/>
              </a:rPr>
              <a:t>Reading the code</a:t>
            </a:r>
            <a:endParaRPr lang="en-US" sz="1200" dirty="0"/>
          </a:p>
        </p:txBody>
      </p:sp>
      <p:sp>
        <p:nvSpPr>
          <p:cNvPr id="13" name="Text 11"/>
          <p:cNvSpPr/>
          <p:nvPr/>
        </p:nvSpPr>
        <p:spPr>
          <a:xfrm>
            <a:off x="3621024" y="2761488"/>
            <a:ext cx="2194560" cy="274320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Python parser</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JavaScript parser</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Install script analyser</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Typosquat checker</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Feature builder</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Analysis coordinator</a:t>
            </a:r>
            <a:endParaRPr lang="en-US" sz="1000" dirty="0"/>
          </a:p>
        </p:txBody>
      </p:sp>
      <p:sp>
        <p:nvSpPr>
          <p:cNvPr id="14" name="Shape 12"/>
          <p:cNvSpPr/>
          <p:nvPr/>
        </p:nvSpPr>
        <p:spPr>
          <a:xfrm>
            <a:off x="6190488" y="1691640"/>
            <a:ext cx="2615184" cy="3977640"/>
          </a:xfrm>
          <a:prstGeom prst="roundRect">
            <a:avLst>
              <a:gd name="adj" fmla="val 2098"/>
            </a:avLst>
          </a:prstGeom>
          <a:solidFill>
            <a:srgbClr val="FFFFFF"/>
          </a:solidFill>
          <a:ln w="12700">
            <a:solidFill>
              <a:srgbClr val="E2EAEE"/>
            </a:solidFill>
            <a:prstDash val="solid"/>
          </a:ln>
        </p:spPr>
      </p:sp>
      <p:sp>
        <p:nvSpPr>
          <p:cNvPr id="15" name="Shape 13"/>
          <p:cNvSpPr/>
          <p:nvPr/>
        </p:nvSpPr>
        <p:spPr>
          <a:xfrm>
            <a:off x="6419088" y="1901952"/>
            <a:ext cx="256032" cy="256032"/>
          </a:xfrm>
          <a:prstGeom prst="rect">
            <a:avLst/>
          </a:prstGeom>
          <a:solidFill>
            <a:srgbClr val="0B7A5A"/>
          </a:solidFill>
          <a:ln/>
        </p:spPr>
      </p:sp>
      <p:sp>
        <p:nvSpPr>
          <p:cNvPr id="16" name="Text 14"/>
          <p:cNvSpPr/>
          <p:nvPr/>
        </p:nvSpPr>
        <p:spPr>
          <a:xfrm>
            <a:off x="6419088" y="2240280"/>
            <a:ext cx="2194560" cy="502920"/>
          </a:xfrm>
          <a:prstGeom prst="rect">
            <a:avLst/>
          </a:prstGeom>
          <a:noFill/>
          <a:ln/>
        </p:spPr>
        <p:txBody>
          <a:bodyPr wrap="square" lIns="0" tIns="0" rIns="0" bIns="0" rtlCol="0" anchor="ctr"/>
          <a:lstStyle/>
          <a:p>
            <a:pPr indent="0" marL="0">
              <a:buNone/>
            </a:pPr>
            <a:r>
              <a:rPr lang="en-US" sz="1200" b="1" dirty="0">
                <a:solidFill>
                  <a:srgbClr val="1B2A33"/>
                </a:solidFill>
                <a:latin typeface="Calibri" pitchFamily="34" charset="0"/>
                <a:ea typeface="Calibri" pitchFamily="34" charset="-122"/>
                <a:cs typeface="Calibri" pitchFamily="34" charset="-120"/>
              </a:rPr>
              <a:t>Learning and deciding</a:t>
            </a:r>
            <a:endParaRPr lang="en-US" sz="1200" dirty="0"/>
          </a:p>
        </p:txBody>
      </p:sp>
      <p:sp>
        <p:nvSpPr>
          <p:cNvPr id="17" name="Text 15"/>
          <p:cNvSpPr/>
          <p:nvPr/>
        </p:nvSpPr>
        <p:spPr>
          <a:xfrm>
            <a:off x="6419088" y="2761488"/>
            <a:ext cx="2194560" cy="274320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Sample store and dataset builder</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Training and evaluation</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Scoring at scan time</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OSV advisory client</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Import name resolver</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Call graph and reachability</a:t>
            </a:r>
            <a:endParaRPr lang="en-US" sz="1000" dirty="0"/>
          </a:p>
        </p:txBody>
      </p:sp>
      <p:sp>
        <p:nvSpPr>
          <p:cNvPr id="18" name="Shape 16"/>
          <p:cNvSpPr/>
          <p:nvPr/>
        </p:nvSpPr>
        <p:spPr>
          <a:xfrm>
            <a:off x="8988552" y="1691640"/>
            <a:ext cx="2615184" cy="3977640"/>
          </a:xfrm>
          <a:prstGeom prst="roundRect">
            <a:avLst>
              <a:gd name="adj" fmla="val 2098"/>
            </a:avLst>
          </a:prstGeom>
          <a:solidFill>
            <a:srgbClr val="FFFFFF"/>
          </a:solidFill>
          <a:ln w="12700">
            <a:solidFill>
              <a:srgbClr val="E2EAEE"/>
            </a:solidFill>
            <a:prstDash val="solid"/>
          </a:ln>
        </p:spPr>
      </p:sp>
      <p:sp>
        <p:nvSpPr>
          <p:cNvPr id="19" name="Shape 17"/>
          <p:cNvSpPr/>
          <p:nvPr/>
        </p:nvSpPr>
        <p:spPr>
          <a:xfrm>
            <a:off x="9217152" y="1901952"/>
            <a:ext cx="256032" cy="256032"/>
          </a:xfrm>
          <a:prstGeom prst="rect">
            <a:avLst/>
          </a:prstGeom>
          <a:solidFill>
            <a:srgbClr val="12B886"/>
          </a:solidFill>
          <a:ln/>
        </p:spPr>
      </p:sp>
      <p:sp>
        <p:nvSpPr>
          <p:cNvPr id="20" name="Text 18"/>
          <p:cNvSpPr/>
          <p:nvPr/>
        </p:nvSpPr>
        <p:spPr>
          <a:xfrm>
            <a:off x="9217152" y="2240280"/>
            <a:ext cx="2194560" cy="502920"/>
          </a:xfrm>
          <a:prstGeom prst="rect">
            <a:avLst/>
          </a:prstGeom>
          <a:noFill/>
          <a:ln/>
        </p:spPr>
        <p:txBody>
          <a:bodyPr wrap="square" lIns="0" tIns="0" rIns="0" bIns="0" rtlCol="0" anchor="ctr"/>
          <a:lstStyle/>
          <a:p>
            <a:pPr indent="0" marL="0">
              <a:buNone/>
            </a:pPr>
            <a:r>
              <a:rPr lang="en-US" sz="1200" b="1" dirty="0">
                <a:solidFill>
                  <a:srgbClr val="1B2A33"/>
                </a:solidFill>
                <a:latin typeface="Calibri" pitchFamily="34" charset="0"/>
                <a:ea typeface="Calibri" pitchFamily="34" charset="-122"/>
                <a:cs typeface="Calibri" pitchFamily="34" charset="-120"/>
              </a:rPr>
              <a:t>Delivering results</a:t>
            </a:r>
            <a:endParaRPr lang="en-US" sz="1200" dirty="0"/>
          </a:p>
        </p:txBody>
      </p:sp>
      <p:sp>
        <p:nvSpPr>
          <p:cNvPr id="21" name="Text 19"/>
          <p:cNvSpPr/>
          <p:nvPr/>
        </p:nvSpPr>
        <p:spPr>
          <a:xfrm>
            <a:off x="9217152" y="2761488"/>
            <a:ext cx="2194560" cy="274320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Scan orchestrator</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Plain English explanations</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HTML report writer</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API and background jobs</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Scan history storage</a:t>
            </a:r>
            <a:endParaRPr lang="en-US" sz="1000" dirty="0"/>
          </a:p>
          <a:p>
            <a:pPr marL="342900" indent="-342900">
              <a:spcAft>
                <a:spcPts val="600"/>
              </a:spcAft>
              <a:buSzPct val="100000"/>
              <a:buChar char="•"/>
            </a:pPr>
            <a:r>
              <a:rPr lang="en-US" sz="1000" dirty="0">
                <a:solidFill>
                  <a:srgbClr val="5A6B78"/>
                </a:solidFill>
                <a:latin typeface="Calibri" pitchFamily="34" charset="0"/>
                <a:ea typeface="Calibri" pitchFamily="34" charset="-122"/>
                <a:cs typeface="Calibri" pitchFamily="34" charset="-120"/>
              </a:rPr>
              <a:t>Dashboard</a:t>
            </a:r>
            <a:endParaRPr lang="en-US" sz="1000" dirty="0"/>
          </a:p>
        </p:txBody>
      </p:sp>
      <p:sp>
        <p:nvSpPr>
          <p:cNvPr id="22" name="Text 20"/>
          <p:cNvSpPr/>
          <p:nvPr/>
        </p:nvSpPr>
        <p:spPr>
          <a:xfrm>
            <a:off x="594360" y="5852160"/>
            <a:ext cx="10881360" cy="320040"/>
          </a:xfrm>
          <a:prstGeom prst="rect">
            <a:avLst/>
          </a:prstGeom>
          <a:noFill/>
          <a:ln/>
        </p:spPr>
        <p:txBody>
          <a:bodyPr wrap="square" lIns="0" tIns="0" rIns="0" bIns="0" rtlCol="0" anchor="ctr"/>
          <a:lstStyle/>
          <a:p>
            <a:pPr indent="0" marL="0">
              <a:buNone/>
            </a:pPr>
            <a:r>
              <a:rPr lang="en-US" sz="1100" i="1" dirty="0">
                <a:solidFill>
                  <a:srgbClr val="5A6B78"/>
                </a:solidFill>
                <a:latin typeface="Calibri" pitchFamily="34" charset="0"/>
                <a:ea typeface="Calibri" pitchFamily="34" charset="-122"/>
                <a:cs typeface="Calibri" pitchFamily="34" charset="-120"/>
              </a:rPr>
              <a:t>Detection and reachability are kept apart on purpose. Either one can fail and the scan still returns something useful.</a:t>
            </a:r>
            <a:endParaRPr lang="en-US" sz="1100" dirty="0"/>
          </a:p>
        </p:txBody>
      </p:sp>
      <p:sp>
        <p:nvSpPr>
          <p:cNvPr id="23" name="Text 21"/>
          <p:cNvSpPr/>
          <p:nvPr/>
        </p:nvSpPr>
        <p:spPr>
          <a:xfrm>
            <a:off x="11109960" y="6355080"/>
            <a:ext cx="457200" cy="274320"/>
          </a:xfrm>
          <a:prstGeom prst="rect">
            <a:avLst/>
          </a:prstGeom>
          <a:noFill/>
          <a:ln/>
        </p:spPr>
        <p:txBody>
          <a:bodyPr wrap="square" lIns="0" tIns="0" rIns="0" bIns="0"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A38"/>
        </a:solidFill>
      </p:bgPr>
    </p:bg>
    <p:spTree>
      <p:nvGrpSpPr>
        <p:cNvPr id="1" name=""/>
        <p:cNvGrpSpPr/>
        <p:nvPr/>
      </p:nvGrpSpPr>
      <p:grpSpPr>
        <a:xfrm>
          <a:off x="0" y="0"/>
          <a:ext cx="0" cy="0"/>
          <a:chOff x="0" y="0"/>
          <a:chExt cx="0" cy="0"/>
        </a:xfrm>
      </p:grpSpPr>
      <p:sp>
        <p:nvSpPr>
          <p:cNvPr id="2" name="Shape 0"/>
          <p:cNvSpPr/>
          <p:nvPr/>
        </p:nvSpPr>
        <p:spPr>
          <a:xfrm>
            <a:off x="594360" y="384048"/>
            <a:ext cx="310896" cy="310896"/>
          </a:xfrm>
          <a:prstGeom prst="rect">
            <a:avLst/>
          </a:prstGeom>
          <a:solidFill>
            <a:srgbClr val="12B886"/>
          </a:solidFill>
          <a:ln/>
        </p:spPr>
      </p:sp>
      <p:sp>
        <p:nvSpPr>
          <p:cNvPr id="3" name="Text 1"/>
          <p:cNvSpPr/>
          <p:nvPr/>
        </p:nvSpPr>
        <p:spPr>
          <a:xfrm>
            <a:off x="594360" y="384048"/>
            <a:ext cx="310896" cy="310896"/>
          </a:xfrm>
          <a:prstGeom prst="rect">
            <a:avLst/>
          </a:prstGeom>
          <a:noFill/>
          <a:ln/>
        </p:spPr>
        <p:txBody>
          <a:bodyPr wrap="square" lIns="0" tIns="0" rIns="0" bIns="0" rtlCol="0" anchor="ctr"/>
          <a:lstStyle/>
          <a:p>
            <a:pPr algn="ctr" indent="0" marL="0">
              <a:buNone/>
            </a:pPr>
            <a:endParaRPr lang="en-US" sz="1300" dirty="0"/>
          </a:p>
        </p:txBody>
      </p:sp>
      <p:sp>
        <p:nvSpPr>
          <p:cNvPr id="4" name="Text 2"/>
          <p:cNvSpPr/>
          <p:nvPr/>
        </p:nvSpPr>
        <p:spPr>
          <a:xfrm>
            <a:off x="1014984" y="384048"/>
            <a:ext cx="5486400" cy="310896"/>
          </a:xfrm>
          <a:prstGeom prst="rect">
            <a:avLst/>
          </a:prstGeom>
          <a:noFill/>
          <a:ln/>
        </p:spPr>
        <p:txBody>
          <a:bodyPr wrap="square" lIns="0" tIns="0" rIns="0" bIns="0" rtlCol="0" anchor="ctr"/>
          <a:lstStyle/>
          <a:p>
            <a:pPr indent="0" marL="0">
              <a:buNone/>
            </a:pPr>
            <a:r>
              <a:rPr lang="en-US" sz="1050" b="1" spc="160" kern="0" dirty="0">
                <a:solidFill>
                  <a:srgbClr val="8FA6B2"/>
                </a:solidFill>
                <a:latin typeface="Calibri" pitchFamily="34" charset="0"/>
                <a:ea typeface="Calibri" pitchFamily="34" charset="-122"/>
                <a:cs typeface="Calibri" pitchFamily="34" charset="-120"/>
              </a:rPr>
              <a:t>WHERE THE PROJECT STANDS TODAY</a:t>
            </a:r>
            <a:endParaRPr lang="en-US" sz="1050" dirty="0"/>
          </a:p>
        </p:txBody>
      </p:sp>
      <p:sp>
        <p:nvSpPr>
          <p:cNvPr id="5" name="Text 3"/>
          <p:cNvSpPr/>
          <p:nvPr/>
        </p:nvSpPr>
        <p:spPr>
          <a:xfrm>
            <a:off x="594360" y="841248"/>
            <a:ext cx="1097280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It is built, trained and working</a:t>
            </a:r>
            <a:endParaRPr lang="en-US" sz="3000" dirty="0"/>
          </a:p>
        </p:txBody>
      </p:sp>
      <p:sp>
        <p:nvSpPr>
          <p:cNvPr id="6" name="Text 4"/>
          <p:cNvSpPr/>
          <p:nvPr/>
        </p:nvSpPr>
        <p:spPr>
          <a:xfrm>
            <a:off x="594360" y="1828800"/>
            <a:ext cx="2606040" cy="777240"/>
          </a:xfrm>
          <a:prstGeom prst="rect">
            <a:avLst/>
          </a:prstGeom>
          <a:noFill/>
          <a:ln/>
        </p:spPr>
        <p:txBody>
          <a:bodyPr wrap="square" lIns="0" tIns="0" rIns="0" bIns="0" rtlCol="0" anchor="ctr"/>
          <a:lstStyle/>
          <a:p>
            <a:pPr indent="0" marL="0">
              <a:buNone/>
            </a:pPr>
            <a:r>
              <a:rPr lang="en-US" sz="4000" b="1" dirty="0">
                <a:solidFill>
                  <a:srgbClr val="12B886"/>
                </a:solidFill>
                <a:latin typeface="Cambria" pitchFamily="34" charset="0"/>
                <a:ea typeface="Cambria" pitchFamily="34" charset="-122"/>
                <a:cs typeface="Cambria" pitchFamily="34" charset="-120"/>
              </a:rPr>
              <a:t>0.950</a:t>
            </a:r>
            <a:endParaRPr lang="en-US" sz="4000" dirty="0"/>
          </a:p>
        </p:txBody>
      </p:sp>
      <p:sp>
        <p:nvSpPr>
          <p:cNvPr id="7" name="Text 5"/>
          <p:cNvSpPr/>
          <p:nvPr/>
        </p:nvSpPr>
        <p:spPr>
          <a:xfrm>
            <a:off x="594360" y="2651760"/>
            <a:ext cx="260604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F1 score</a:t>
            </a:r>
            <a:endParaRPr lang="en-US" sz="1250" dirty="0"/>
          </a:p>
        </p:txBody>
      </p:sp>
      <p:sp>
        <p:nvSpPr>
          <p:cNvPr id="8" name="Text 6"/>
          <p:cNvSpPr/>
          <p:nvPr/>
        </p:nvSpPr>
        <p:spPr>
          <a:xfrm>
            <a:off x="594360" y="2944368"/>
            <a:ext cx="2606040" cy="365760"/>
          </a:xfrm>
          <a:prstGeom prst="rect">
            <a:avLst/>
          </a:prstGeom>
          <a:noFill/>
          <a:ln/>
        </p:spPr>
        <p:txBody>
          <a:bodyPr wrap="square" lIns="0" tIns="0" rIns="0" bIns="0" rtlCol="0" anchor="ctr"/>
          <a:lstStyle/>
          <a:p>
            <a:pPr indent="0" marL="0">
              <a:buNone/>
            </a:pPr>
            <a:r>
              <a:rPr lang="en-US" sz="1050" dirty="0">
                <a:solidFill>
                  <a:srgbClr val="8FA6B2"/>
                </a:solidFill>
                <a:latin typeface="Calibri" pitchFamily="34" charset="0"/>
                <a:ea typeface="Calibri" pitchFamily="34" charset="-122"/>
                <a:cs typeface="Calibri" pitchFamily="34" charset="-120"/>
              </a:rPr>
              <a:t>rules baseline gets 0.565</a:t>
            </a:r>
            <a:endParaRPr lang="en-US" sz="1050" dirty="0"/>
          </a:p>
        </p:txBody>
      </p:sp>
      <p:sp>
        <p:nvSpPr>
          <p:cNvPr id="9" name="Text 7"/>
          <p:cNvSpPr/>
          <p:nvPr/>
        </p:nvSpPr>
        <p:spPr>
          <a:xfrm>
            <a:off x="3383280" y="1828800"/>
            <a:ext cx="2606040" cy="777240"/>
          </a:xfrm>
          <a:prstGeom prst="rect">
            <a:avLst/>
          </a:prstGeom>
          <a:noFill/>
          <a:ln/>
        </p:spPr>
        <p:txBody>
          <a:bodyPr wrap="square" lIns="0" tIns="0" rIns="0" bIns="0" rtlCol="0" anchor="ctr"/>
          <a:lstStyle/>
          <a:p>
            <a:pPr indent="0" marL="0">
              <a:buNone/>
            </a:pPr>
            <a:r>
              <a:rPr lang="en-US" sz="4000" b="1" dirty="0">
                <a:solidFill>
                  <a:srgbClr val="12B886"/>
                </a:solidFill>
                <a:latin typeface="Cambria" pitchFamily="34" charset="0"/>
                <a:ea typeface="Cambria" pitchFamily="34" charset="-122"/>
                <a:cs typeface="Cambria" pitchFamily="34" charset="-120"/>
              </a:rPr>
              <a:t>1,797</a:t>
            </a:r>
            <a:endParaRPr lang="en-US" sz="4000" dirty="0"/>
          </a:p>
        </p:txBody>
      </p:sp>
      <p:sp>
        <p:nvSpPr>
          <p:cNvPr id="10" name="Text 8"/>
          <p:cNvSpPr/>
          <p:nvPr/>
        </p:nvSpPr>
        <p:spPr>
          <a:xfrm>
            <a:off x="3383280" y="2651760"/>
            <a:ext cx="260604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packages trained on</a:t>
            </a:r>
            <a:endParaRPr lang="en-US" sz="1250" dirty="0"/>
          </a:p>
        </p:txBody>
      </p:sp>
      <p:sp>
        <p:nvSpPr>
          <p:cNvPr id="11" name="Text 9"/>
          <p:cNvSpPr/>
          <p:nvPr/>
        </p:nvSpPr>
        <p:spPr>
          <a:xfrm>
            <a:off x="3383280" y="2944368"/>
            <a:ext cx="2606040" cy="365760"/>
          </a:xfrm>
          <a:prstGeom prst="rect">
            <a:avLst/>
          </a:prstGeom>
          <a:noFill/>
          <a:ln/>
        </p:spPr>
        <p:txBody>
          <a:bodyPr wrap="square" lIns="0" tIns="0" rIns="0" bIns="0" rtlCol="0" anchor="ctr"/>
          <a:lstStyle/>
          <a:p>
            <a:pPr indent="0" marL="0">
              <a:buNone/>
            </a:pPr>
            <a:r>
              <a:rPr lang="en-US" sz="1050" dirty="0">
                <a:solidFill>
                  <a:srgbClr val="8FA6B2"/>
                </a:solidFill>
                <a:latin typeface="Calibri" pitchFamily="34" charset="0"/>
                <a:ea typeface="Calibri" pitchFamily="34" charset="-122"/>
                <a:cs typeface="Calibri" pitchFamily="34" charset="-120"/>
              </a:rPr>
              <a:t>898 malicious, 899 clean</a:t>
            </a:r>
            <a:endParaRPr lang="en-US" sz="1050" dirty="0"/>
          </a:p>
        </p:txBody>
      </p:sp>
      <p:sp>
        <p:nvSpPr>
          <p:cNvPr id="12" name="Text 10"/>
          <p:cNvSpPr/>
          <p:nvPr/>
        </p:nvSpPr>
        <p:spPr>
          <a:xfrm>
            <a:off x="6172200" y="1828800"/>
            <a:ext cx="2606040" cy="777240"/>
          </a:xfrm>
          <a:prstGeom prst="rect">
            <a:avLst/>
          </a:prstGeom>
          <a:noFill/>
          <a:ln/>
        </p:spPr>
        <p:txBody>
          <a:bodyPr wrap="square" lIns="0" tIns="0" rIns="0" bIns="0" rtlCol="0" anchor="ctr"/>
          <a:lstStyle/>
          <a:p>
            <a:pPr indent="0" marL="0">
              <a:buNone/>
            </a:pPr>
            <a:r>
              <a:rPr lang="en-US" sz="4000" b="1" dirty="0">
                <a:solidFill>
                  <a:srgbClr val="12B886"/>
                </a:solidFill>
                <a:latin typeface="Cambria" pitchFamily="34" charset="0"/>
                <a:ea typeface="Cambria" pitchFamily="34" charset="-122"/>
                <a:cs typeface="Cambria" pitchFamily="34" charset="-120"/>
              </a:rPr>
              <a:t>97%</a:t>
            </a:r>
            <a:endParaRPr lang="en-US" sz="4000" dirty="0"/>
          </a:p>
        </p:txBody>
      </p:sp>
      <p:sp>
        <p:nvSpPr>
          <p:cNvPr id="13" name="Text 11"/>
          <p:cNvSpPr/>
          <p:nvPr/>
        </p:nvSpPr>
        <p:spPr>
          <a:xfrm>
            <a:off x="6172200" y="2651760"/>
            <a:ext cx="260604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of CVE noise removed</a:t>
            </a:r>
            <a:endParaRPr lang="en-US" sz="1250" dirty="0"/>
          </a:p>
        </p:txBody>
      </p:sp>
      <p:sp>
        <p:nvSpPr>
          <p:cNvPr id="14" name="Text 12"/>
          <p:cNvSpPr/>
          <p:nvPr/>
        </p:nvSpPr>
        <p:spPr>
          <a:xfrm>
            <a:off x="6172200" y="2944368"/>
            <a:ext cx="2606040" cy="365760"/>
          </a:xfrm>
          <a:prstGeom prst="rect">
            <a:avLst/>
          </a:prstGeom>
          <a:noFill/>
          <a:ln/>
        </p:spPr>
        <p:txBody>
          <a:bodyPr wrap="square" lIns="0" tIns="0" rIns="0" bIns="0" rtlCol="0" anchor="ctr"/>
          <a:lstStyle/>
          <a:p>
            <a:pPr indent="0" marL="0">
              <a:buNone/>
            </a:pPr>
            <a:r>
              <a:rPr lang="en-US" sz="1050" dirty="0">
                <a:solidFill>
                  <a:srgbClr val="8FA6B2"/>
                </a:solidFill>
                <a:latin typeface="Calibri" pitchFamily="34" charset="0"/>
                <a:ea typeface="Calibri" pitchFamily="34" charset="-122"/>
                <a:cs typeface="Calibri" pitchFamily="34" charset="-120"/>
              </a:rPr>
              <a:t>92 findings down to 3</a:t>
            </a:r>
            <a:endParaRPr lang="en-US" sz="1050" dirty="0"/>
          </a:p>
        </p:txBody>
      </p:sp>
      <p:sp>
        <p:nvSpPr>
          <p:cNvPr id="15" name="Text 13"/>
          <p:cNvSpPr/>
          <p:nvPr/>
        </p:nvSpPr>
        <p:spPr>
          <a:xfrm>
            <a:off x="8961120" y="1828800"/>
            <a:ext cx="2606040" cy="777240"/>
          </a:xfrm>
          <a:prstGeom prst="rect">
            <a:avLst/>
          </a:prstGeom>
          <a:noFill/>
          <a:ln/>
        </p:spPr>
        <p:txBody>
          <a:bodyPr wrap="square" lIns="0" tIns="0" rIns="0" bIns="0" rtlCol="0" anchor="ctr"/>
          <a:lstStyle/>
          <a:p>
            <a:pPr indent="0" marL="0">
              <a:buNone/>
            </a:pPr>
            <a:r>
              <a:rPr lang="en-US" sz="4000" b="1" dirty="0">
                <a:solidFill>
                  <a:srgbClr val="12B886"/>
                </a:solidFill>
                <a:latin typeface="Cambria" pitchFamily="34" charset="0"/>
                <a:ea typeface="Cambria" pitchFamily="34" charset="-122"/>
                <a:cs typeface="Cambria" pitchFamily="34" charset="-120"/>
              </a:rPr>
              <a:t>110</a:t>
            </a:r>
            <a:endParaRPr lang="en-US" sz="4000" dirty="0"/>
          </a:p>
        </p:txBody>
      </p:sp>
      <p:sp>
        <p:nvSpPr>
          <p:cNvPr id="16" name="Text 14"/>
          <p:cNvSpPr/>
          <p:nvPr/>
        </p:nvSpPr>
        <p:spPr>
          <a:xfrm>
            <a:off x="8961120" y="2651760"/>
            <a:ext cx="260604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tests passing</a:t>
            </a:r>
            <a:endParaRPr lang="en-US" sz="1250" dirty="0"/>
          </a:p>
        </p:txBody>
      </p:sp>
      <p:sp>
        <p:nvSpPr>
          <p:cNvPr id="17" name="Text 15"/>
          <p:cNvSpPr/>
          <p:nvPr/>
        </p:nvSpPr>
        <p:spPr>
          <a:xfrm>
            <a:off x="8961120" y="2944368"/>
            <a:ext cx="2606040" cy="365760"/>
          </a:xfrm>
          <a:prstGeom prst="rect">
            <a:avLst/>
          </a:prstGeom>
          <a:noFill/>
          <a:ln/>
        </p:spPr>
        <p:txBody>
          <a:bodyPr wrap="square" lIns="0" tIns="0" rIns="0" bIns="0" rtlCol="0" anchor="ctr"/>
          <a:lstStyle/>
          <a:p>
            <a:pPr indent="0" marL="0">
              <a:buNone/>
            </a:pPr>
            <a:r>
              <a:rPr lang="en-US" sz="1050" dirty="0">
                <a:solidFill>
                  <a:srgbClr val="8FA6B2"/>
                </a:solidFill>
                <a:latin typeface="Calibri" pitchFamily="34" charset="0"/>
                <a:ea typeface="Calibri" pitchFamily="34" charset="-122"/>
                <a:cs typeface="Calibri" pitchFamily="34" charset="-120"/>
              </a:rPr>
              <a:t>no internet needed</a:t>
            </a:r>
            <a:endParaRPr lang="en-US" sz="1050" dirty="0"/>
          </a:p>
        </p:txBody>
      </p:sp>
      <p:sp>
        <p:nvSpPr>
          <p:cNvPr id="18" name="Shape 16"/>
          <p:cNvSpPr/>
          <p:nvPr/>
        </p:nvSpPr>
        <p:spPr>
          <a:xfrm>
            <a:off x="594360" y="3657600"/>
            <a:ext cx="5623560" cy="1691640"/>
          </a:xfrm>
          <a:prstGeom prst="roundRect">
            <a:avLst>
              <a:gd name="adj" fmla="val 3243"/>
            </a:avLst>
          </a:prstGeom>
          <a:solidFill>
            <a:srgbClr val="0A1E29"/>
          </a:solidFill>
          <a:ln w="12700">
            <a:solidFill>
              <a:srgbClr val="1E3D4D"/>
            </a:solidFill>
            <a:prstDash val="solid"/>
          </a:ln>
        </p:spPr>
      </p:sp>
      <p:sp>
        <p:nvSpPr>
          <p:cNvPr id="19" name="Text 17"/>
          <p:cNvSpPr/>
          <p:nvPr/>
        </p:nvSpPr>
        <p:spPr>
          <a:xfrm>
            <a:off x="886968" y="3840480"/>
            <a:ext cx="5029200" cy="274320"/>
          </a:xfrm>
          <a:prstGeom prst="rect">
            <a:avLst/>
          </a:prstGeom>
          <a:noFill/>
          <a:ln/>
        </p:spPr>
        <p:txBody>
          <a:bodyPr wrap="square" lIns="0" tIns="0" rIns="0" bIns="0" rtlCol="0" anchor="ctr"/>
          <a:lstStyle/>
          <a:p>
            <a:pPr indent="0" marL="0">
              <a:buNone/>
            </a:pPr>
            <a:r>
              <a:rPr lang="en-US" sz="1200" b="1" dirty="0">
                <a:solidFill>
                  <a:srgbClr val="12B886"/>
                </a:solidFill>
                <a:latin typeface="Calibri" pitchFamily="34" charset="0"/>
                <a:ea typeface="Calibri" pitchFamily="34" charset="-122"/>
                <a:cs typeface="Calibri" pitchFamily="34" charset="-120"/>
              </a:rPr>
              <a:t>The clearest test we have</a:t>
            </a:r>
            <a:endParaRPr lang="en-US" sz="1200" dirty="0"/>
          </a:p>
        </p:txBody>
      </p:sp>
      <p:sp>
        <p:nvSpPr>
          <p:cNvPr id="20" name="Text 18"/>
          <p:cNvSpPr/>
          <p:nvPr/>
        </p:nvSpPr>
        <p:spPr>
          <a:xfrm>
            <a:off x="886968" y="4160520"/>
            <a:ext cx="5029200" cy="1051560"/>
          </a:xfrm>
          <a:prstGeom prst="rect">
            <a:avLst/>
          </a:prstGeom>
          <a:noFill/>
          <a:ln/>
        </p:spPr>
        <p:txBody>
          <a:bodyPr wrap="square" lIns="0" tIns="0" rIns="0" bIns="0" rtlCol="0" anchor="ctr"/>
          <a:lstStyle/>
          <a:p>
            <a:pPr indent="0" marL="0">
              <a:buNone/>
            </a:pPr>
            <a:r>
              <a:rPr lang="en-US" sz="1150" dirty="0">
                <a:solidFill>
                  <a:srgbClr val="DCE7EC"/>
                </a:solidFill>
                <a:latin typeface="Calibri" pitchFamily="34" charset="0"/>
                <a:ea typeface="Calibri" pitchFamily="34" charset="-122"/>
                <a:cs typeface="Calibri" pitchFamily="34" charset="-120"/>
              </a:rPr>
              <a:t>On the same demo project, the rules engine flags six packages. The trained model flags one. Big libraries genuinely do call eval and spawn processes, and the model has learned that this is normal at that size.</a:t>
            </a:r>
            <a:endParaRPr lang="en-US" sz="1150" dirty="0"/>
          </a:p>
        </p:txBody>
      </p:sp>
      <p:sp>
        <p:nvSpPr>
          <p:cNvPr id="21" name="Text 19"/>
          <p:cNvSpPr/>
          <p:nvPr/>
        </p:nvSpPr>
        <p:spPr>
          <a:xfrm>
            <a:off x="6720840" y="3703320"/>
            <a:ext cx="48463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we know is still weak</a:t>
            </a:r>
            <a:endParaRPr lang="en-US" sz="1200" dirty="0"/>
          </a:p>
        </p:txBody>
      </p:sp>
      <p:sp>
        <p:nvSpPr>
          <p:cNvPr id="22" name="Text 20"/>
          <p:cNvSpPr/>
          <p:nvPr/>
        </p:nvSpPr>
        <p:spPr>
          <a:xfrm>
            <a:off x="6720840" y="4023360"/>
            <a:ext cx="4846320" cy="137160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DCE7EC"/>
                </a:solidFill>
                <a:latin typeface="Calibri" pitchFamily="34" charset="0"/>
                <a:ea typeface="Calibri" pitchFamily="34" charset="-122"/>
                <a:cs typeface="Calibri" pitchFamily="34" charset="-120"/>
              </a:rPr>
              <a:t>For npm we can only tell whether a package is imported, not whether the vulnerable function is called.</a:t>
            </a:r>
            <a:endParaRPr lang="en-US" sz="1100" dirty="0"/>
          </a:p>
          <a:p>
            <a:pPr marL="342900" indent="-342900">
              <a:spcAft>
                <a:spcPts val="600"/>
              </a:spcAft>
              <a:buSzPct val="100000"/>
              <a:buChar char="•"/>
            </a:pPr>
            <a:r>
              <a:rPr lang="en-US" sz="1100" dirty="0">
                <a:solidFill>
                  <a:srgbClr val="DCE7EC"/>
                </a:solidFill>
                <a:latin typeface="Calibri" pitchFamily="34" charset="0"/>
                <a:ea typeface="Calibri" pitchFamily="34" charset="-122"/>
                <a:cs typeface="Calibri" pitchFamily="34" charset="-120"/>
              </a:rPr>
              <a:t>We miss 55 of the 898 malicious samples.</a:t>
            </a:r>
            <a:endParaRPr lang="en-US" sz="1100" dirty="0"/>
          </a:p>
          <a:p>
            <a:pPr marL="342900" indent="-342900">
              <a:spcAft>
                <a:spcPts val="600"/>
              </a:spcAft>
              <a:buSzPct val="100000"/>
              <a:buChar char="•"/>
            </a:pPr>
            <a:r>
              <a:rPr lang="en-US" sz="1100" dirty="0">
                <a:solidFill>
                  <a:srgbClr val="DCE7EC"/>
                </a:solidFill>
                <a:latin typeface="Calibri" pitchFamily="34" charset="0"/>
                <a:ea typeface="Calibri" pitchFamily="34" charset="-122"/>
                <a:cs typeface="Calibri" pitchFamily="34" charset="-120"/>
              </a:rPr>
              <a:t>Our training malware is malware that got caught, so real world recall will be lower.</a:t>
            </a:r>
            <a:endParaRPr lang="en-US" sz="1100" dirty="0"/>
          </a:p>
        </p:txBody>
      </p:sp>
      <p:sp>
        <p:nvSpPr>
          <p:cNvPr id="23" name="Text 21"/>
          <p:cNvSpPr/>
          <p:nvPr/>
        </p:nvSpPr>
        <p:spPr>
          <a:xfrm>
            <a:off x="594360" y="5715000"/>
            <a:ext cx="10881360" cy="365760"/>
          </a:xfrm>
          <a:prstGeom prst="rect">
            <a:avLst/>
          </a:prstGeom>
          <a:noFill/>
          <a:ln/>
        </p:spPr>
        <p:txBody>
          <a:bodyPr wrap="square" lIns="0" tIns="0" rIns="0" bIns="0" rtlCol="0" anchor="ctr"/>
          <a:lstStyle/>
          <a:p>
            <a:pPr indent="0" marL="0">
              <a:buNone/>
            </a:pPr>
            <a:r>
              <a:rPr lang="en-US" sz="1150" i="1" dirty="0">
                <a:solidFill>
                  <a:srgbClr val="8FA6B2"/>
                </a:solidFill>
                <a:latin typeface="Calibri" pitchFamily="34" charset="0"/>
                <a:ea typeface="Calibri" pitchFamily="34" charset="-122"/>
                <a:cs typeface="Calibri" pitchFamily="34" charset="-120"/>
              </a:rPr>
              <a:t>Next: widen the vulnerable function database, look into the 55 misses, and add a GitHub Action so it runs on every pull request.</a:t>
            </a:r>
            <a:endParaRPr lang="en-US" sz="1150" dirty="0"/>
          </a:p>
        </p:txBody>
      </p:sp>
      <p:sp>
        <p:nvSpPr>
          <p:cNvPr id="24" name="Text 22"/>
          <p:cNvSpPr/>
          <p:nvPr/>
        </p:nvSpPr>
        <p:spPr>
          <a:xfrm>
            <a:off x="11109960" y="6355080"/>
            <a:ext cx="457200" cy="274320"/>
          </a:xfrm>
          <a:prstGeom prst="rect">
            <a:avLst/>
          </a:prstGeom>
          <a:noFill/>
          <a:ln/>
        </p:spPr>
        <p:txBody>
          <a:bodyPr wrap="square" lIns="0" tIns="0" rIns="0" bIns="0" rtlCol="0" anchor="ctr"/>
          <a:lstStyle/>
          <a:p>
            <a:pPr algn="r" indent="0" marL="0">
              <a:buNone/>
            </a:pPr>
            <a:r>
              <a:rPr lang="en-US" sz="900" dirty="0">
                <a:solidFill>
                  <a:srgbClr val="5A6B7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ChainGuard - Review 1</dc:title>
  <dc:subject>PptxGenJS Presentation</dc:subject>
  <dc:creator>ChainGuard</dc:creator>
  <cp:lastModifiedBy>ChainGuard</cp:lastModifiedBy>
  <cp:revision>1</cp:revision>
  <dcterms:created xsi:type="dcterms:W3CDTF">2026-08-18T14:58:15Z</dcterms:created>
  <dcterms:modified xsi:type="dcterms:W3CDTF">2026-08-18T14:58:15Z</dcterms:modified>
</cp:coreProperties>
</file>